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1" r:id="rId5"/>
    <p:sldMasterId id="2147483682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87" r:id="rId39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9" r:id="rId59"/>
    <p:sldId id="288" r:id="rId58"/>
    <p:sldId id="286" r:id="rId38"/>
    <p:sldId id="290" r:id="rId60"/>
    <p:sldId id="291" r:id="rId61"/>
    <p:sldId id="285" r:id="rId37"/>
    <p:sldId id="292" r:id="rId62"/>
    <p:sldId id="293" r:id="rId63"/>
    <p:sldId id="294" r:id="rId64"/>
    <p:sldId id="295" r:id="rId65"/>
  </p:sldIdLst>
  <p:sldSz cy="5143500" cx="9144000"/>
  <p:notesSz cx="6858000" cy="9144000"/>
  <p:embeddedFontLst>
    <p:embeddedFont>
      <p:font typeface="Nunito SemiBold"/>
      <p:regular r:id="rId40"/>
      <p:bold r:id="rId41"/>
      <p:italic r:id="rId42"/>
      <p:boldItalic r:id="rId43"/>
    </p:embeddedFont>
    <p:embeddedFont>
      <p:font typeface="Nunito"/>
      <p:regular r:id="rId44"/>
      <p:bold r:id="rId45"/>
      <p:italic r:id="rId46"/>
      <p:boldItalic r:id="rId47"/>
    </p:embeddedFont>
    <p:embeddedFont>
      <p:font typeface="Montserrat"/>
      <p:regular r:id="rId48"/>
      <p:bold r:id="rId49"/>
      <p:italic r:id="rId50"/>
      <p:boldItalic r:id="rId51"/>
    </p:embeddedFont>
    <p:embeddedFont>
      <p:font typeface="Nunito ExtraBold"/>
      <p:bold r:id="rId52"/>
      <p:boldItalic r:id="rId53"/>
    </p:embeddedFont>
    <p:embeddedFont>
      <p:font typeface="Century Gothic"/>
      <p:regular r:id="rId54"/>
      <p:bold r:id="rId55"/>
      <p:italic r:id="rId56"/>
      <p:boldItalic r:id="rId5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5698273-5225-4557-BD2E-0B8C5CF09AB3}">
  <a:tblStyle styleId="{A5698273-5225-4557-BD2E-0B8C5CF09AB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fill>
          <a:solidFill>
            <a:srgbClr val="5B9BD5">
              <a:alpha val="20000"/>
            </a:srgbClr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5B9BD5">
              <a:alpha val="20000"/>
            </a:srgbClr>
          </a:solidFill>
        </a:fill>
      </a:tcStyle>
    </a:band1V>
    <a:band2V>
      <a:tcTxStyle b="off" i="off"/>
    </a:band2V>
    <a:lastCol>
      <a:tcTxStyle b="on" i="off"/>
    </a:lastCol>
    <a:firstCol>
      <a:tcTxStyle b="on" i="off"/>
    </a:firstCol>
    <a:lastRow>
      <a:tcTxStyle b="on" i="off"/>
      <a:tcStyle>
        <a:tcBdr>
          <a:top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 b="off" i="off"/>
    </a:seCell>
    <a:swCell>
      <a:tcTxStyle b="off" i="off"/>
    </a:swCell>
    <a:firstRow>
      <a:tcTxStyle b="on" i="off"/>
      <a:tcStyle>
        <a:tcBdr>
          <a:bottom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6.xml"/><Relationship Id="rId38" Type="http://schemas.openxmlformats.org/officeDocument/2006/relationships/slide" Target="slides/slide33.xml"/><Relationship Id="rId39" Type="http://schemas.openxmlformats.org/officeDocument/2006/relationships/slide" Target="slides/slide6.xml"/><Relationship Id="rId40" Type="http://schemas.openxmlformats.org/officeDocument/2006/relationships/font" Target="fonts/NunitoSemiBold-regular.fntdata"/><Relationship Id="rId41" Type="http://schemas.openxmlformats.org/officeDocument/2006/relationships/font" Target="fonts/NunitoSemiBold-bold.fntdata"/><Relationship Id="rId42" Type="http://schemas.openxmlformats.org/officeDocument/2006/relationships/font" Target="fonts/NunitoSemiBold-italic.fntdata"/><Relationship Id="rId43" Type="http://schemas.openxmlformats.org/officeDocument/2006/relationships/font" Target="fonts/NunitoSemiBold-boldItalic.fntdata"/><Relationship Id="rId44" Type="http://schemas.openxmlformats.org/officeDocument/2006/relationships/font" Target="fonts/Nunito-regular.fntdata"/><Relationship Id="rId45" Type="http://schemas.openxmlformats.org/officeDocument/2006/relationships/font" Target="fonts/Nunito-bold.fntdata"/><Relationship Id="rId46" Type="http://schemas.openxmlformats.org/officeDocument/2006/relationships/font" Target="fonts/Nunito-italic.fntdata"/><Relationship Id="rId47" Type="http://schemas.openxmlformats.org/officeDocument/2006/relationships/font" Target="fonts/Nunito-boldItalic.fntdata"/><Relationship Id="rId48" Type="http://schemas.openxmlformats.org/officeDocument/2006/relationships/font" Target="fonts/Montserrat-regular.fntdata"/><Relationship Id="rId49" Type="http://schemas.openxmlformats.org/officeDocument/2006/relationships/font" Target="fonts/Montserrat-bold.fntdata"/><Relationship Id="rId50" Type="http://schemas.openxmlformats.org/officeDocument/2006/relationships/font" Target="fonts/Montserrat-italic.fntdata"/><Relationship Id="rId51" Type="http://schemas.openxmlformats.org/officeDocument/2006/relationships/font" Target="fonts/Montserrat-boldItalic.fntdata"/><Relationship Id="rId52" Type="http://schemas.openxmlformats.org/officeDocument/2006/relationships/font" Target="fonts/NunitoExtraBold-bold.fntdata"/><Relationship Id="rId53" Type="http://schemas.openxmlformats.org/officeDocument/2006/relationships/font" Target="fonts/NunitoExtraBold-boldItalic.fntdata"/><Relationship Id="rId54" Type="http://schemas.openxmlformats.org/officeDocument/2006/relationships/font" Target="fonts/CenturyGothic-regular.fntdata"/><Relationship Id="rId55" Type="http://schemas.openxmlformats.org/officeDocument/2006/relationships/font" Target="fonts/CenturyGothic-bold.fntdata"/><Relationship Id="rId56" Type="http://schemas.openxmlformats.org/officeDocument/2006/relationships/font" Target="fonts/CenturyGothic-italic.fntdata"/><Relationship Id="rId57" Type="http://schemas.openxmlformats.org/officeDocument/2006/relationships/font" Target="fonts/CenturyGothic-boldItalic.fntdata"/><Relationship Id="rId58" Type="http://schemas.openxmlformats.org/officeDocument/2006/relationships/slide" Target="slides/slide32.xml"/><Relationship Id="rId59" Type="http://schemas.openxmlformats.org/officeDocument/2006/relationships/slide" Target="slides/slide31.xml"/><Relationship Id="rId60" Type="http://schemas.openxmlformats.org/officeDocument/2006/relationships/slide" Target="slides/slide34.xml"/><Relationship Id="rId61" Type="http://schemas.openxmlformats.org/officeDocument/2006/relationships/slide" Target="slides/slide35.xml"/><Relationship Id="rId62" Type="http://schemas.openxmlformats.org/officeDocument/2006/relationships/slide" Target="slides/slide37.xml"/><Relationship Id="rId63" Type="http://schemas.openxmlformats.org/officeDocument/2006/relationships/slide" Target="slides/slide38.xml"/><Relationship Id="rId64" Type="http://schemas.openxmlformats.org/officeDocument/2006/relationships/slide" Target="slides/slide39.xml"/><Relationship Id="rId65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1" name="Google Shape;17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8" name="Google Shape;188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5" name="Google Shape;195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4" name="Google Shape;20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c275fce4fb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2" name="Google Shape;212;g3c275fce4fb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h1ee84572765e4f1b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0" name="Google Shape;220;h1ee84572765e4f1b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h1ee84572765e4f1b_1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8" name="Google Shape;228;h1ee84572765e4f1b_1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h1ee84572765e4f1b_1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6" name="Google Shape;236;h1ee84572765e4f1b_1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h1ee84572765e4f1b_1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4" name="Google Shape;244;h1ee84572765e4f1b_1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h1ee84572765e4f1b_1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2" name="Google Shape;252;h1ee84572765e4f1b_1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h1ee84572765e4f1b_1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0" name="Google Shape;260;h1ee84572765e4f1b_1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h1ee84572765e4f1b_1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8" name="Google Shape;268;h1ee84572765e4f1b_1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h1ee84572765e4f1b_1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6" name="Google Shape;276;h1ee84572765e4f1b_1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h1ee84572765e4f1b_1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4" name="Google Shape;284;h1ee84572765e4f1b_1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h1ee84572765e4f1b_1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2" name="Google Shape;292;h1ee84572765e4f1b_1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h1ee84572765e4f1b_1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0" name="Google Shape;300;h1ee84572765e4f1b_1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h1ee84572765e4f1b_1_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8" name="Google Shape;308;h1ee84572765e4f1b_1_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h1ee84572765e4f1b_1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6" name="Google Shape;316;h1ee84572765e4f1b_1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h1ee84572765e4f1b_1_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4" name="Google Shape;324;h1ee84572765e4f1b_1_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h1ee84572765e4f1b_1_1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2" name="Google Shape;332;h1ee84572765e4f1b_1_1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h1ee84572765e4f1b_1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h1ee84572765e4f1b_1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h1ee84572765e4f1b_1_1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8" name="Google Shape;348;h1ee84572765e4f1b_1_1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h1ee84572765e4f1b_1_1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h1ee84572765e4f1b_1_1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h1ee84572765e4f1b_1_1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4" name="Google Shape;364;h1ee84572765e4f1b_1_1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h1ee84572765e4f1b_1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2" name="Google Shape;372;h1ee84572765e4f1b_1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h1ee84572765e4f1b_1_1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0" name="Google Shape;380;h1ee84572765e4f1b_1_1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h1ee84572765e4f1b_1_1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8" name="Google Shape;388;h1ee84572765e4f1b_1_1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h1ee84572765e4f1b_1_1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h1ee84572765e4f1b_1_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4" name="Google Shape;404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0" name="Google Shape;410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6" name="Google Shape;16;p2"/>
          <p:cNvSpPr txBox="1"/>
          <p:nvPr>
            <p:ph idx="1" type="body"/>
          </p:nvPr>
        </p:nvSpPr>
        <p:spPr>
          <a:xfrm>
            <a:off x="202550" y="861975"/>
            <a:ext cx="8629800" cy="37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7" name="Google Shape;17;p2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2210208" y="744575"/>
            <a:ext cx="66222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2210202" y="2834125"/>
            <a:ext cx="66222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9pPr>
          </a:lstStyle>
          <a:p/>
        </p:txBody>
      </p:sp>
      <p:sp>
        <p:nvSpPr>
          <p:cNvPr id="23" name="Google Shape;23;p4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able">
  <p:cSld name="CUSTOM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graphicFrame>
        <p:nvGraphicFramePr>
          <p:cNvPr id="26" name="Google Shape;26;p5"/>
          <p:cNvGraphicFramePr/>
          <p:nvPr/>
        </p:nvGraphicFramePr>
        <p:xfrm>
          <a:off x="201942" y="83366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{A5698273-5225-4557-BD2E-0B8C5CF09AB3}</a:tableStyleId>
              </a:tblPr>
              <a:tblGrid>
                <a:gridCol w="883125"/>
                <a:gridCol w="3886050"/>
                <a:gridCol w="3886050"/>
              </a:tblGrid>
              <a:tr h="673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 Profile 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Business Insights for Marketing Team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75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1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High value customers who have many credit cards and prefer to engage online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Engage Online – Set up priority calling in lines – Upsell and Cross sell premium products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2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aseline="30000"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..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3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</a:tbl>
          </a:graphicData>
        </a:graphic>
      </p:graphicFrame>
      <p:sp>
        <p:nvSpPr>
          <p:cNvPr id="27" name="Google Shape;27;p5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30" name="Google Shape;30;p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2" name="Google Shape;32;p6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35" name="Google Shape;35;p7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8" name="Google Shape;38;p8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2" name="Google Shape;42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3" name="Google Shape;43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Char char="○"/>
              <a:defRPr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Char char="○"/>
              <a:defRPr/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Char char="■"/>
              <a:defRPr/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Char char="●"/>
              <a:defRPr/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Char char="○"/>
              <a:defRPr/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Char char="■"/>
              <a:defRPr/>
            </a:lvl9pPr>
          </a:lstStyle>
          <a:p/>
        </p:txBody>
      </p:sp>
      <p:sp>
        <p:nvSpPr>
          <p:cNvPr id="44" name="Google Shape;44;p9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/>
          <p:nvPr/>
        </p:nvSpPr>
        <p:spPr>
          <a:xfrm>
            <a:off x="1" y="-335"/>
            <a:ext cx="9144600" cy="5143800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49" name="Google Shape;49;p11"/>
          <p:cNvPicPr preferRelativeResize="0"/>
          <p:nvPr/>
        </p:nvPicPr>
        <p:blipFill rotWithShape="1">
          <a:blip r:embed="rId2">
            <a:alphaModFix/>
          </a:blip>
          <a:srcRect b="19149" l="42816" r="37294" t="18358"/>
          <a:stretch/>
        </p:blipFill>
        <p:spPr>
          <a:xfrm>
            <a:off x="6052536" y="514443"/>
            <a:ext cx="2095112" cy="3703320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11"/>
          <p:cNvSpPr txBox="1"/>
          <p:nvPr>
            <p:ph type="title"/>
          </p:nvPr>
        </p:nvSpPr>
        <p:spPr>
          <a:xfrm>
            <a:off x="70129" y="6703219"/>
            <a:ext cx="150087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85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1" name="Google Shape;51;p11"/>
          <p:cNvSpPr txBox="1"/>
          <p:nvPr/>
        </p:nvSpPr>
        <p:spPr>
          <a:xfrm>
            <a:off x="334565" y="1676232"/>
            <a:ext cx="43728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0" i="0" lang="en" sz="3300" u="none" cap="none" strike="noStrike">
                <a:solidFill>
                  <a:schemeClr val="lt1"/>
                </a:solidFill>
                <a:latin typeface="Nunito ExtraBold"/>
                <a:ea typeface="Nunito ExtraBold"/>
                <a:cs typeface="Nunito ExtraBold"/>
                <a:sym typeface="Nunito ExtraBold"/>
              </a:rPr>
              <a:t>Happy Learning !</a:t>
            </a:r>
            <a:endParaRPr b="0" i="0" sz="3300" u="none" cap="none" strike="noStrike">
              <a:solidFill>
                <a:schemeClr val="lt1"/>
              </a:solidFill>
              <a:latin typeface="Nunito ExtraBold"/>
              <a:ea typeface="Nunito ExtraBold"/>
              <a:cs typeface="Nunito ExtraBold"/>
              <a:sym typeface="Nunito ExtraBold"/>
            </a:endParaRPr>
          </a:p>
        </p:txBody>
      </p:sp>
      <p:pic>
        <p:nvPicPr>
          <p:cNvPr id="52" name="Google Shape;52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5874" y="683275"/>
            <a:ext cx="3757725" cy="825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/>
          <p:nvPr>
            <p:ph type="title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1" i="0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9pPr>
          </a:lstStyle>
          <a:p/>
        </p:txBody>
      </p:sp>
      <p:sp>
        <p:nvSpPr>
          <p:cNvPr id="55" name="Google Shape;55;p12"/>
          <p:cNvSpPr txBox="1"/>
          <p:nvPr>
            <p:ph idx="1" type="body"/>
          </p:nvPr>
        </p:nvSpPr>
        <p:spPr>
          <a:xfrm>
            <a:off x="457200" y="1021842"/>
            <a:ext cx="8229600" cy="33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indent="-3429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/>
        </p:txBody>
      </p:sp>
      <p:sp>
        <p:nvSpPr>
          <p:cNvPr id="56" name="Google Shape;56;p12"/>
          <p:cNvSpPr txBox="1"/>
          <p:nvPr>
            <p:ph idx="10" type="dt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2"/>
          <p:cNvSpPr txBox="1"/>
          <p:nvPr>
            <p:ph idx="11" type="ftr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8" name="Google Shape;58;p12"/>
          <p:cNvSpPr txBox="1"/>
          <p:nvPr>
            <p:ph idx="12" type="sldNum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3"/>
          <p:cNvSpPr txBox="1"/>
          <p:nvPr>
            <p:ph idx="10" type="dt"/>
          </p:nvPr>
        </p:nvSpPr>
        <p:spPr>
          <a:xfrm>
            <a:off x="457200" y="4857749"/>
            <a:ext cx="2133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3"/>
          <p:cNvSpPr txBox="1"/>
          <p:nvPr>
            <p:ph idx="11" type="ftr"/>
          </p:nvPr>
        </p:nvSpPr>
        <p:spPr>
          <a:xfrm>
            <a:off x="2640596" y="4857749"/>
            <a:ext cx="5507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2" name="Google Shape;62;p13"/>
          <p:cNvSpPr txBox="1"/>
          <p:nvPr>
            <p:ph idx="12" type="sldNum"/>
          </p:nvPr>
        </p:nvSpPr>
        <p:spPr>
          <a:xfrm>
            <a:off x="8204396" y="4857749"/>
            <a:ext cx="73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transition spd="med">
    <p:fade thruBlk="1"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">
  <p:cSld name="Title and Conten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/>
          <p:nvPr>
            <p:ph type="title"/>
          </p:nvPr>
        </p:nvSpPr>
        <p:spPr>
          <a:xfrm>
            <a:off x="569519" y="142741"/>
            <a:ext cx="8004900" cy="9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3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65" name="Google Shape;65;p14"/>
          <p:cNvSpPr txBox="1"/>
          <p:nvPr>
            <p:ph idx="1" type="body"/>
          </p:nvPr>
        </p:nvSpPr>
        <p:spPr>
          <a:xfrm>
            <a:off x="1412081" y="930269"/>
            <a:ext cx="6319800" cy="236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indent="-2286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indent="-2286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indent="-2286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indent="-2286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indent="-2286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indent="-2286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indent="-2286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66" name="Google Shape;66;p14"/>
          <p:cNvSpPr txBox="1"/>
          <p:nvPr>
            <p:ph idx="11" type="ftr"/>
          </p:nvPr>
        </p:nvSpPr>
        <p:spPr>
          <a:xfrm>
            <a:off x="1574006" y="4988871"/>
            <a:ext cx="5565000" cy="1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rgbClr val="7E7E7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7" name="Google Shape;67;p14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8" name="Google Shape;68;p14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 Only_1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 txBox="1"/>
          <p:nvPr>
            <p:ph type="title"/>
          </p:nvPr>
        </p:nvSpPr>
        <p:spPr>
          <a:xfrm>
            <a:off x="3932967" y="348900"/>
            <a:ext cx="1278000" cy="52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3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71" name="Google Shape;71;p15"/>
          <p:cNvSpPr txBox="1"/>
          <p:nvPr>
            <p:ph idx="11" type="ftr"/>
          </p:nvPr>
        </p:nvSpPr>
        <p:spPr>
          <a:xfrm>
            <a:off x="1712499" y="5010073"/>
            <a:ext cx="5564400" cy="1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rgbClr val="7E7E7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2" name="Google Shape;72;p15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3" name="Google Shape;73;p15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2">
  <p:cSld name="Title Only_2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932967" y="348900"/>
            <a:ext cx="1278000" cy="52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3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76" name="Google Shape;76;p16"/>
          <p:cNvSpPr txBox="1"/>
          <p:nvPr>
            <p:ph idx="11" type="ftr"/>
          </p:nvPr>
        </p:nvSpPr>
        <p:spPr>
          <a:xfrm>
            <a:off x="1712499" y="5010073"/>
            <a:ext cx="5564400" cy="1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rgbClr val="7E7E7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7" name="Google Shape;77;p16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16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3">
  <p:cSld name="Title Only_3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 txBox="1"/>
          <p:nvPr>
            <p:ph type="title"/>
          </p:nvPr>
        </p:nvSpPr>
        <p:spPr>
          <a:xfrm>
            <a:off x="390424" y="497078"/>
            <a:ext cx="8363100" cy="45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81" name="Google Shape;81;p17"/>
          <p:cNvSpPr txBox="1"/>
          <p:nvPr>
            <p:ph idx="11" type="ftr"/>
          </p:nvPr>
        </p:nvSpPr>
        <p:spPr>
          <a:xfrm>
            <a:off x="2879178" y="4948409"/>
            <a:ext cx="3503400" cy="11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00" u="none" cap="none" strike="noStrike">
                <a:solidFill>
                  <a:srgbClr val="7D7D7D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7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3" name="Google Shape;83;p17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OBJECT_1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/>
          <p:nvPr>
            <p:ph type="ctrTitle"/>
          </p:nvPr>
        </p:nvSpPr>
        <p:spPr>
          <a:xfrm>
            <a:off x="2938259" y="1851799"/>
            <a:ext cx="3267600" cy="8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5200">
                <a:solidFill>
                  <a:srgbClr val="365F9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86" name="Google Shape;86;p18"/>
          <p:cNvSpPr txBox="1"/>
          <p:nvPr>
            <p:ph idx="1" type="subTitle"/>
          </p:nvPr>
        </p:nvSpPr>
        <p:spPr>
          <a:xfrm>
            <a:off x="1371600" y="2880360"/>
            <a:ext cx="6400800" cy="12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lvl="2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lvl="5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lvl="6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lvl="7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11" type="ftr"/>
          </p:nvPr>
        </p:nvSpPr>
        <p:spPr>
          <a:xfrm>
            <a:off x="2879178" y="4948409"/>
            <a:ext cx="3503400" cy="11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00" u="none" cap="none" strike="noStrike">
                <a:solidFill>
                  <a:srgbClr val="7D7D7D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9" name="Google Shape;89;p18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4">
  <p:cSld name="OBJECT_2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/>
          <p:nvPr>
            <p:ph type="title"/>
          </p:nvPr>
        </p:nvSpPr>
        <p:spPr>
          <a:xfrm>
            <a:off x="3368992" y="2453440"/>
            <a:ext cx="2406000" cy="22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1" i="0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1" type="ftr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3" name="Google Shape;93;p19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4" name="Google Shape;94;p19"/>
          <p:cNvSpPr txBox="1"/>
          <p:nvPr>
            <p:ph idx="12" type="sldNum"/>
          </p:nvPr>
        </p:nvSpPr>
        <p:spPr>
          <a:xfrm>
            <a:off x="50889" y="4980883"/>
            <a:ext cx="216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2">
  <p:cSld name="Blank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/>
          <p:nvPr>
            <p:ph idx="11" type="ftr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7" name="Google Shape;97;p20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0"/>
          <p:cNvSpPr txBox="1"/>
          <p:nvPr>
            <p:ph idx="12" type="sldNum"/>
          </p:nvPr>
        </p:nvSpPr>
        <p:spPr>
          <a:xfrm>
            <a:off x="50889" y="4980883"/>
            <a:ext cx="216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>
  <p:cSld name="Two Conten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>
            <p:ph type="title"/>
          </p:nvPr>
        </p:nvSpPr>
        <p:spPr>
          <a:xfrm>
            <a:off x="3368992" y="2453440"/>
            <a:ext cx="2406000" cy="22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1" i="0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01" name="Google Shape;101;p21"/>
          <p:cNvSpPr txBox="1"/>
          <p:nvPr>
            <p:ph idx="1" type="body"/>
          </p:nvPr>
        </p:nvSpPr>
        <p:spPr>
          <a:xfrm>
            <a:off x="457200" y="1183005"/>
            <a:ext cx="39777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indent="-2286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indent="-2286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indent="-2286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indent="-2286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indent="-2286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indent="-2286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indent="-2286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indent="-2286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4709160" y="1183005"/>
            <a:ext cx="39777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indent="-2286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indent="-2286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indent="-2286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indent="-2286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indent="-2286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indent="-2286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indent="-2286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indent="-2286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103" name="Google Shape;103;p21"/>
          <p:cNvSpPr txBox="1"/>
          <p:nvPr>
            <p:ph idx="11" type="ftr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1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5" name="Google Shape;105;p21"/>
          <p:cNvSpPr txBox="1"/>
          <p:nvPr>
            <p:ph idx="12" type="sldNum"/>
          </p:nvPr>
        </p:nvSpPr>
        <p:spPr>
          <a:xfrm>
            <a:off x="50889" y="4980883"/>
            <a:ext cx="216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 1">
  <p:cSld name="OBJECT_1_1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2936867" y="2199322"/>
            <a:ext cx="3275400" cy="67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1" i="0" sz="430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08" name="Google Shape;108;p22"/>
          <p:cNvSpPr txBox="1"/>
          <p:nvPr>
            <p:ph idx="11" type="ftr"/>
          </p:nvPr>
        </p:nvSpPr>
        <p:spPr>
          <a:xfrm>
            <a:off x="708292" y="4920311"/>
            <a:ext cx="6447300" cy="17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9" name="Google Shape;109;p22"/>
          <p:cNvSpPr txBox="1"/>
          <p:nvPr>
            <p:ph idx="10" type="dt"/>
          </p:nvPr>
        </p:nvSpPr>
        <p:spPr>
          <a:xfrm>
            <a:off x="457452" y="4783454"/>
            <a:ext cx="2104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0" name="Google Shape;110;p22"/>
          <p:cNvSpPr txBox="1"/>
          <p:nvPr>
            <p:ph idx="12" type="sldNum"/>
          </p:nvPr>
        </p:nvSpPr>
        <p:spPr>
          <a:xfrm>
            <a:off x="7529030" y="4838548"/>
            <a:ext cx="1884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 sz="800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 ">
  <p:cSld name="TITLE_AND_BODY_1"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2 1">
  <p:cSld name="Blank 2"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6"/>
          <p:cNvSpPr/>
          <p:nvPr/>
        </p:nvSpPr>
        <p:spPr>
          <a:xfrm>
            <a:off x="1" y="-335"/>
            <a:ext cx="9144600" cy="5143800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125" name="Google Shape;125;p26"/>
          <p:cNvPicPr preferRelativeResize="0"/>
          <p:nvPr/>
        </p:nvPicPr>
        <p:blipFill rotWithShape="1">
          <a:blip r:embed="rId2">
            <a:alphaModFix/>
          </a:blip>
          <a:srcRect b="19147" l="42816" r="37294" t="18360"/>
          <a:stretch/>
        </p:blipFill>
        <p:spPr>
          <a:xfrm>
            <a:off x="6052536" y="514443"/>
            <a:ext cx="2095112" cy="370332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6"/>
          <p:cNvSpPr txBox="1"/>
          <p:nvPr>
            <p:ph type="title"/>
          </p:nvPr>
        </p:nvSpPr>
        <p:spPr>
          <a:xfrm>
            <a:off x="70129" y="6703219"/>
            <a:ext cx="150087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85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7" name="Google Shape;127;p26"/>
          <p:cNvSpPr txBox="1"/>
          <p:nvPr/>
        </p:nvSpPr>
        <p:spPr>
          <a:xfrm>
            <a:off x="334565" y="1676232"/>
            <a:ext cx="43728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0" i="0" lang="en" sz="3300" u="none" cap="none" strike="noStrike">
                <a:solidFill>
                  <a:schemeClr val="lt1"/>
                </a:solidFill>
                <a:latin typeface="Nunito ExtraBold"/>
                <a:ea typeface="Nunito ExtraBold"/>
                <a:cs typeface="Nunito ExtraBold"/>
                <a:sym typeface="Nunito ExtraBold"/>
              </a:rPr>
              <a:t>Power Ahead!</a:t>
            </a:r>
            <a:endParaRPr b="0" i="0" sz="3300" u="none" cap="none" strike="noStrike">
              <a:solidFill>
                <a:schemeClr val="lt1"/>
              </a:solidFill>
              <a:latin typeface="Nunito ExtraBold"/>
              <a:ea typeface="Nunito ExtraBold"/>
              <a:cs typeface="Nunito ExtraBold"/>
              <a:sym typeface="Nunito ExtraBold"/>
            </a:endParaRPr>
          </a:p>
        </p:txBody>
      </p:sp>
      <p:pic>
        <p:nvPicPr>
          <p:cNvPr id="128" name="Google Shape;128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1875" y="769949"/>
            <a:ext cx="3071452" cy="1261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7"/>
          <p:cNvSpPr txBox="1"/>
          <p:nvPr>
            <p:ph type="ctrTitle"/>
          </p:nvPr>
        </p:nvSpPr>
        <p:spPr>
          <a:xfrm>
            <a:off x="1260908" y="717750"/>
            <a:ext cx="66222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31" name="Google Shape;131;p27"/>
          <p:cNvSpPr txBox="1"/>
          <p:nvPr>
            <p:ph idx="1" type="subTitle"/>
          </p:nvPr>
        </p:nvSpPr>
        <p:spPr>
          <a:xfrm>
            <a:off x="1260902" y="2770350"/>
            <a:ext cx="66222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8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9pPr>
          </a:lstStyle>
          <a:p/>
        </p:txBody>
      </p:sp>
      <p:sp>
        <p:nvSpPr>
          <p:cNvPr id="134" name="Google Shape;134;p28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9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37" name="Google Shape;137;p29"/>
          <p:cNvSpPr txBox="1"/>
          <p:nvPr>
            <p:ph idx="1" type="body"/>
          </p:nvPr>
        </p:nvSpPr>
        <p:spPr>
          <a:xfrm>
            <a:off x="202550" y="861975"/>
            <a:ext cx="8629800" cy="37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38" name="Google Shape;138;p29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able">
  <p:cSld name="CUSTOM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30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graphicFrame>
        <p:nvGraphicFramePr>
          <p:cNvPr id="141" name="Google Shape;141;p30"/>
          <p:cNvGraphicFramePr/>
          <p:nvPr/>
        </p:nvGraphicFramePr>
        <p:xfrm>
          <a:off x="201942" y="83366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{A5698273-5225-4557-BD2E-0B8C5CF09AB3}</a:tableStyleId>
              </a:tblPr>
              <a:tblGrid>
                <a:gridCol w="883125"/>
                <a:gridCol w="3886050"/>
                <a:gridCol w="3886050"/>
              </a:tblGrid>
              <a:tr h="673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 Profile 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Business Insights for Marketing Team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75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1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High value customers who have many credit cards and prefer to engage online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Engage Online – Set up priority calling in lines – Upsell and Cross sell premium products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2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aseline="30000"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..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3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</a:tbl>
          </a:graphicData>
        </a:graphic>
      </p:graphicFrame>
      <p:sp>
        <p:nvSpPr>
          <p:cNvPr id="142" name="Google Shape;142;p30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31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45" name="Google Shape;145;p31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46" name="Google Shape;146;p31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47" name="Google Shape;147;p31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2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50" name="Google Shape;150;p32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33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53" name="Google Shape;153;p33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34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57" name="Google Shape;157;p34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58" name="Google Shape;158;p34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Char char="○"/>
              <a:defRPr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Char char="○"/>
              <a:defRPr/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Char char="■"/>
              <a:defRPr/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Char char="●"/>
              <a:defRPr/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Char char="○"/>
              <a:defRPr/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Char char="■"/>
              <a:defRPr/>
            </a:lvl9pPr>
          </a:lstStyle>
          <a:p/>
        </p:txBody>
      </p:sp>
      <p:sp>
        <p:nvSpPr>
          <p:cNvPr id="159" name="Google Shape;159;p34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35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200"/>
              <a:buFont typeface="Nunito"/>
              <a:buNone/>
              <a:defRPr b="1" i="0" sz="22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610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Nunito"/>
              <a:buChar char="●"/>
              <a:defRPr b="0" i="0" sz="15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Nunito"/>
              <a:buChar char="○"/>
              <a:defRPr b="0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Nunito"/>
              <a:buChar char="■"/>
              <a:defRPr b="0" i="0" sz="12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b="0" i="0" sz="11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Nunito"/>
              <a:buChar char="○"/>
              <a:defRPr b="0" i="0" sz="10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Nunito"/>
              <a:buChar char="■"/>
              <a:defRPr b="0" i="0" sz="9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800"/>
              <a:buFont typeface="Nunito"/>
              <a:buChar char="●"/>
              <a:defRPr b="0" i="0" sz="8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700"/>
              <a:buFont typeface="Nunito"/>
              <a:buChar char="○"/>
              <a:defRPr b="0" i="0" sz="7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600"/>
              <a:buFont typeface="Nunito"/>
              <a:buChar char="■"/>
              <a:defRPr b="0" i="0" sz="6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8" name="Google Shape;8;p1"/>
          <p:cNvSpPr txBox="1"/>
          <p:nvPr/>
        </p:nvSpPr>
        <p:spPr>
          <a:xfrm>
            <a:off x="2234400" y="4917657"/>
            <a:ext cx="4675200" cy="27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2700" marR="0" rtl="0" algn="ctr">
              <a:lnSpc>
                <a:spcPct val="1025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rPr>
              <a:t>Proprietary content. © Great Learning. All Rights Reserved. Unauthorized use or distribution prohibited.</a:t>
            </a:r>
            <a:endParaRPr b="1" i="0" sz="700" u="none" cap="none" strike="noStrike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9" name="Google Shape;9;p1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0" name="Google Shape;10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7669500" y="68264"/>
            <a:ext cx="1395476" cy="57270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" name="Google Shape;11;p1"/>
          <p:cNvGrpSpPr/>
          <p:nvPr/>
        </p:nvGrpSpPr>
        <p:grpSpPr>
          <a:xfrm>
            <a:off x="6593" y="10"/>
            <a:ext cx="175500" cy="709221"/>
            <a:chOff x="6593" y="10"/>
            <a:chExt cx="175500" cy="709221"/>
          </a:xfrm>
        </p:grpSpPr>
        <p:sp>
          <p:nvSpPr>
            <p:cNvPr id="12" name="Google Shape;12;p1"/>
            <p:cNvSpPr/>
            <p:nvPr/>
          </p:nvSpPr>
          <p:spPr>
            <a:xfrm>
              <a:off x="6593" y="10"/>
              <a:ext cx="175500" cy="355500"/>
            </a:xfrm>
            <a:prstGeom prst="rect">
              <a:avLst/>
            </a:prstGeom>
            <a:solidFill>
              <a:srgbClr val="0E39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;p1"/>
            <p:cNvSpPr/>
            <p:nvPr/>
          </p:nvSpPr>
          <p:spPr>
            <a:xfrm>
              <a:off x="6593" y="353731"/>
              <a:ext cx="175500" cy="355500"/>
            </a:xfrm>
            <a:prstGeom prst="rect">
              <a:avLst/>
            </a:prstGeom>
            <a:solidFill>
              <a:srgbClr val="1974D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  <p:sldLayoutId id="2147483668" r:id="rId22"/>
    <p:sldLayoutId id="2147483669" r:id="rId23"/>
    <p:sldLayoutId id="2147483670" r:id="rId2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5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200"/>
              <a:buFont typeface="Nunito"/>
              <a:buNone/>
              <a:defRPr b="1" i="0" sz="22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  <p:sp>
        <p:nvSpPr>
          <p:cNvPr id="116" name="Google Shape;116;p25"/>
          <p:cNvSpPr txBox="1"/>
          <p:nvPr>
            <p:ph idx="1" type="body"/>
          </p:nvPr>
        </p:nvSpPr>
        <p:spPr>
          <a:xfrm>
            <a:off x="311700" y="8610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Nunito"/>
              <a:buChar char="●"/>
              <a:defRPr b="0" i="0" sz="15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Nunito"/>
              <a:buChar char="○"/>
              <a:defRPr b="0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Nunito"/>
              <a:buChar char="■"/>
              <a:defRPr b="0" i="0" sz="12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b="0" i="0" sz="11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Nunito"/>
              <a:buChar char="○"/>
              <a:defRPr b="0" i="0" sz="10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Nunito"/>
              <a:buChar char="■"/>
              <a:defRPr b="0" i="0" sz="9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800"/>
              <a:buFont typeface="Nunito"/>
              <a:buChar char="●"/>
              <a:defRPr b="0" i="0" sz="8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700"/>
              <a:buFont typeface="Nunito"/>
              <a:buChar char="○"/>
              <a:defRPr b="0" i="0" sz="7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600"/>
              <a:buFont typeface="Nunito"/>
              <a:buChar char="■"/>
              <a:defRPr b="0" i="0" sz="6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17" name="Google Shape;117;p25"/>
          <p:cNvSpPr txBox="1"/>
          <p:nvPr/>
        </p:nvSpPr>
        <p:spPr>
          <a:xfrm>
            <a:off x="2234400" y="4917657"/>
            <a:ext cx="4675200" cy="27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2700" marR="0" rtl="0" algn="ctr">
              <a:lnSpc>
                <a:spcPct val="1025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rPr>
              <a:t>Proprietary content. © Great Learning. All Rights Reserved. Unauthorized use or distribution prohibited.</a:t>
            </a:r>
            <a:endParaRPr b="1" i="0" sz="700" u="none" cap="none" strike="noStrike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18" name="Google Shape;118;p25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19" name="Google Shape;119;p25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7669500" y="68264"/>
            <a:ext cx="1395475" cy="5727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0" name="Google Shape;120;p25"/>
          <p:cNvGrpSpPr/>
          <p:nvPr/>
        </p:nvGrpSpPr>
        <p:grpSpPr>
          <a:xfrm>
            <a:off x="6593" y="10"/>
            <a:ext cx="175500" cy="709221"/>
            <a:chOff x="6593" y="10"/>
            <a:chExt cx="175500" cy="709221"/>
          </a:xfrm>
        </p:grpSpPr>
        <p:sp>
          <p:nvSpPr>
            <p:cNvPr id="121" name="Google Shape;121;p25"/>
            <p:cNvSpPr/>
            <p:nvPr/>
          </p:nvSpPr>
          <p:spPr>
            <a:xfrm>
              <a:off x="6593" y="10"/>
              <a:ext cx="175500" cy="355500"/>
            </a:xfrm>
            <a:prstGeom prst="rect">
              <a:avLst/>
            </a:prstGeom>
            <a:solidFill>
              <a:srgbClr val="0E39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25"/>
            <p:cNvSpPr/>
            <p:nvPr/>
          </p:nvSpPr>
          <p:spPr>
            <a:xfrm>
              <a:off x="6593" y="353731"/>
              <a:ext cx="175500" cy="355500"/>
            </a:xfrm>
            <a:prstGeom prst="rect">
              <a:avLst/>
            </a:prstGeom>
            <a:solidFill>
              <a:srgbClr val="1974D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6"/>
          <p:cNvSpPr txBox="1"/>
          <p:nvPr/>
        </p:nvSpPr>
        <p:spPr>
          <a:xfrm>
            <a:off x="1627632" y="1227550"/>
            <a:ext cx="4892040" cy="81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4100" b="1">
                <a:solidFill>
                  <a:srgbClr val="0E39A9"/>
                </a:solidFill>
                <a:latin typeface="Nunito"/>
              </a:rPr>
              <a:t>Aurora Stays Q&amp;A</a:t>
            </a:r>
          </a:p>
        </p:txBody>
      </p:sp>
      <p:sp>
        <p:nvSpPr>
          <p:cNvPr id="167" name="Google Shape;167;p36"/>
          <p:cNvSpPr txBox="1"/>
          <p:nvPr/>
        </p:nvSpPr>
        <p:spPr>
          <a:xfrm>
            <a:off x="1627632" y="1940550"/>
            <a:ext cx="4800600" cy="63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2300">
                <a:solidFill>
                  <a:srgbClr val="0E39A9"/>
                </a:solidFill>
                <a:latin typeface="Nunito"/>
              </a:rPr>
              <a:t>Retrieval-Augmented Generation (RAG) POC</a:t>
            </a:r>
          </a:p>
        </p:txBody>
      </p:sp>
      <p:sp>
        <p:nvSpPr>
          <p:cNvPr id="168" name="Google Shape;168;p36"/>
          <p:cNvSpPr txBox="1"/>
          <p:nvPr/>
        </p:nvSpPr>
        <p:spPr>
          <a:xfrm>
            <a:off x="1627632" y="2586175"/>
            <a:ext cx="384048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2200">
                <a:solidFill>
                  <a:srgbClr val="0E39A9"/>
                </a:solidFill>
                <a:latin typeface="Nunito"/>
              </a:rPr>
              <a:t>14 October 2026</a:t>
            </a:r>
          </a:p>
        </p:txBody>
      </p:sp>
      <p:pic>
        <p:nvPicPr>
          <p:cNvPr id="169" name="Picture 168" descr="hotel_lobby.jpg"/>
          <p:cNvPicPr>
            <a:picLocks noChangeAspect="1"/>
          </p:cNvPicPr>
          <p:nvPr/>
        </p:nvPicPr>
        <p:blipFill>
          <a:blip r:embed="rId3"/>
          <a:srcRect l="15573" r="15573"/>
          <a:stretch>
            <a:fillRect/>
          </a:stretch>
        </p:blipFill>
        <p:spPr>
          <a:xfrm>
            <a:off x="6446520" y="475488"/>
            <a:ext cx="2148840" cy="4160520"/>
          </a:xfrm>
          <a:prstGeom prst="rect">
            <a:avLst/>
          </a:prstGeom>
          <a:ln w="15875">
            <a:solidFill>
              <a:srgbClr val="BECBE8"/>
            </a:solidFill>
          </a:ln>
        </p:spPr>
      </p:pic>
      <p:sp>
        <p:nvSpPr>
          <p:cNvPr id="170" name="TextBox 169"/>
          <p:cNvSpPr txBox="1"/>
          <p:nvPr/>
        </p:nvSpPr>
        <p:spPr>
          <a:xfrm>
            <a:off x="5989320" y="4727448"/>
            <a:ext cx="2606040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80" i="1">
                <a:solidFill>
                  <a:srgbClr val="6E6E6E"/>
                </a:solidFill>
                <a:latin typeface="Montserrat"/>
              </a:rPr>
              <a:t>Photo: Unsplash free-use stock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7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Contents / Agenda</a:t>
            </a:r>
          </a:p>
        </p:txBody>
      </p:sp>
      <p:sp>
        <p:nvSpPr>
          <p:cNvPr id="174" name="Google Shape;174;p37"/>
          <p:cNvSpPr/>
          <p:nvPr/>
        </p:nvSpPr>
        <p:spPr>
          <a:xfrm>
            <a:off x="356221" y="1137384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75" name="Google Shape;175;p37"/>
          <p:cNvSpPr txBox="1"/>
          <p:nvPr/>
        </p:nvSpPr>
        <p:spPr>
          <a:xfrm>
            <a:off x="644599" y="101337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Executive Summary</a:t>
            </a:r>
          </a:p>
        </p:txBody>
      </p:sp>
      <p:sp>
        <p:nvSpPr>
          <p:cNvPr id="176" name="Google Shape;176;p37"/>
          <p:cNvSpPr/>
          <p:nvPr/>
        </p:nvSpPr>
        <p:spPr>
          <a:xfrm>
            <a:off x="356221" y="1608689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77" name="Google Shape;177;p37"/>
          <p:cNvSpPr txBox="1"/>
          <p:nvPr/>
        </p:nvSpPr>
        <p:spPr>
          <a:xfrm>
            <a:off x="644599" y="148775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Business Problem and Solution Approach</a:t>
            </a:r>
          </a:p>
        </p:txBody>
      </p:sp>
      <p:sp>
        <p:nvSpPr>
          <p:cNvPr id="178" name="Google Shape;178;p37"/>
          <p:cNvSpPr/>
          <p:nvPr/>
        </p:nvSpPr>
        <p:spPr>
          <a:xfrm>
            <a:off x="356221" y="2079994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79" name="Google Shape;179;p37"/>
          <p:cNvSpPr txBox="1"/>
          <p:nvPr/>
        </p:nvSpPr>
        <p:spPr>
          <a:xfrm>
            <a:off x="644599" y="196213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Data Understanding</a:t>
            </a:r>
          </a:p>
        </p:txBody>
      </p:sp>
      <p:sp>
        <p:nvSpPr>
          <p:cNvPr id="180" name="Google Shape;180;p37"/>
          <p:cNvSpPr/>
          <p:nvPr/>
        </p:nvSpPr>
        <p:spPr>
          <a:xfrm>
            <a:off x="356221" y="2551299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81" name="Google Shape;181;p37"/>
          <p:cNvSpPr txBox="1"/>
          <p:nvPr/>
        </p:nvSpPr>
        <p:spPr>
          <a:xfrm>
            <a:off x="644599" y="243651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Retrieval-Augmented Generation System</a:t>
            </a:r>
          </a:p>
        </p:txBody>
      </p:sp>
      <p:sp>
        <p:nvSpPr>
          <p:cNvPr id="182" name="Google Shape;182;p37"/>
          <p:cNvSpPr/>
          <p:nvPr/>
        </p:nvSpPr>
        <p:spPr>
          <a:xfrm>
            <a:off x="356227" y="3022604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83" name="Google Shape;183;p37"/>
          <p:cNvSpPr txBox="1"/>
          <p:nvPr/>
        </p:nvSpPr>
        <p:spPr>
          <a:xfrm>
            <a:off x="644605" y="291089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Evaluation</a:t>
            </a:r>
          </a:p>
        </p:txBody>
      </p:sp>
      <p:sp>
        <p:nvSpPr>
          <p:cNvPr id="184" name="Google Shape;184;p37"/>
          <p:cNvSpPr/>
          <p:nvPr/>
        </p:nvSpPr>
        <p:spPr>
          <a:xfrm>
            <a:off x="356227" y="3493909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85" name="Google Shape;185;p37"/>
          <p:cNvSpPr txBox="1"/>
          <p:nvPr/>
        </p:nvSpPr>
        <p:spPr>
          <a:xfrm>
            <a:off x="644605" y="338527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Deployment, Inference and Handoff</a:t>
            </a:r>
          </a:p>
        </p:txBody>
      </p:sp>
      <p:sp>
        <p:nvSpPr>
          <p:cNvPr id="186" name="Oval 185"/>
          <p:cNvSpPr/>
          <p:nvPr/>
        </p:nvSpPr>
        <p:spPr>
          <a:xfrm>
            <a:off x="365760" y="4114800"/>
            <a:ext cx="182880" cy="182880"/>
          </a:xfrm>
          <a:prstGeom prst="ellipse">
            <a:avLst/>
          </a:prstGeom>
          <a:noFill/>
          <a:ln w="2794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731520" y="4005072"/>
            <a:ext cx="50749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000000"/>
                </a:solidFill>
                <a:latin typeface="Montserrat"/>
              </a:rPr>
              <a:t>Appendix — evaluation, workflows and operating measures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502920" y="932688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ounded Rectangle 188"/>
          <p:cNvSpPr/>
          <p:nvPr/>
        </p:nvSpPr>
        <p:spPr>
          <a:xfrm>
            <a:off x="6272784" y="1463040"/>
            <a:ext cx="2359152" cy="3456432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473952" y="1627632"/>
            <a:ext cx="195681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E39A9"/>
                </a:solidFill>
                <a:latin typeface="Montserrat"/>
              </a:rPr>
              <a:t>STORY ARC</a:t>
            </a:r>
          </a:p>
        </p:txBody>
      </p:sp>
      <p:sp>
        <p:nvSpPr>
          <p:cNvPr id="191" name="Rounded Rectangle 190"/>
          <p:cNvSpPr/>
          <p:nvPr/>
        </p:nvSpPr>
        <p:spPr>
          <a:xfrm>
            <a:off x="6510528" y="1975104"/>
            <a:ext cx="1883664" cy="493776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01  Discover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Problem + data</a:t>
            </a:r>
          </a:p>
        </p:txBody>
      </p:sp>
      <p:sp>
        <p:nvSpPr>
          <p:cNvPr id="192" name="Chevron 191"/>
          <p:cNvSpPr/>
          <p:nvPr/>
        </p:nvSpPr>
        <p:spPr>
          <a:xfrm>
            <a:off x="7333488" y="2505456"/>
            <a:ext cx="164592" cy="128016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ounded Rectangle 192"/>
          <p:cNvSpPr/>
          <p:nvPr/>
        </p:nvSpPr>
        <p:spPr>
          <a:xfrm>
            <a:off x="6510528" y="2688336"/>
            <a:ext cx="1883664" cy="493776"/>
          </a:xfrm>
          <a:prstGeom prst="roundRect">
            <a:avLst/>
          </a:prstGeom>
          <a:solidFill>
            <a:srgbClr val="E6F7F6"/>
          </a:solidFill>
          <a:ln w="1016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02  Build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RAG + LLM</a:t>
            </a:r>
          </a:p>
        </p:txBody>
      </p:sp>
      <p:sp>
        <p:nvSpPr>
          <p:cNvPr id="194" name="Chevron 193"/>
          <p:cNvSpPr/>
          <p:nvPr/>
        </p:nvSpPr>
        <p:spPr>
          <a:xfrm>
            <a:off x="7333488" y="3218688"/>
            <a:ext cx="164592" cy="128016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ounded Rectangle 194"/>
          <p:cNvSpPr/>
          <p:nvPr/>
        </p:nvSpPr>
        <p:spPr>
          <a:xfrm>
            <a:off x="6510528" y="3401568"/>
            <a:ext cx="1883664" cy="493776"/>
          </a:xfrm>
          <a:prstGeom prst="roundRect">
            <a:avLst/>
          </a:prstGeom>
          <a:solidFill>
            <a:srgbClr val="FFF5E0"/>
          </a:solidFill>
          <a:ln w="10160">
            <a:solidFill>
              <a:srgbClr val="CA9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03  Prove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Evaluation</a:t>
            </a:r>
          </a:p>
        </p:txBody>
      </p:sp>
      <p:sp>
        <p:nvSpPr>
          <p:cNvPr id="196" name="Chevron 195"/>
          <p:cNvSpPr/>
          <p:nvPr/>
        </p:nvSpPr>
        <p:spPr>
          <a:xfrm>
            <a:off x="7333488" y="3931920"/>
            <a:ext cx="164592" cy="128016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ounded Rectangle 196"/>
          <p:cNvSpPr/>
          <p:nvPr/>
        </p:nvSpPr>
        <p:spPr>
          <a:xfrm>
            <a:off x="6510528" y="4114800"/>
            <a:ext cx="1883664" cy="493776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04  Operate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Deploy + inference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6473952" y="4800600"/>
            <a:ext cx="195681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i="1">
                <a:solidFill>
                  <a:srgbClr val="5A5A5A"/>
                </a:solidFill>
                <a:latin typeface="Montserrat"/>
              </a:rPr>
              <a:t>from question to production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8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Executive Summary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548640" y="1188720"/>
            <a:ext cx="8046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55555"/>
                </a:solidFill>
                <a:latin typeface="Montserrat"/>
              </a:rPr>
              <a:t>Design stages translated into a production-ready hotel policy assistant</a:t>
            </a:r>
          </a:p>
        </p:txBody>
      </p:sp>
      <p:sp>
        <p:nvSpPr>
          <p:cNvPr id="193" name="Rounded Rectangle 192"/>
          <p:cNvSpPr/>
          <p:nvPr/>
        </p:nvSpPr>
        <p:spPr>
          <a:xfrm>
            <a:off x="502920" y="1755648"/>
            <a:ext cx="1417320" cy="1417320"/>
          </a:xfrm>
          <a:prstGeom prst="roundRect">
            <a:avLst/>
          </a:prstGeom>
          <a:solidFill>
            <a:srgbClr val="F7F9FD"/>
          </a:solidFill>
          <a:ln w="15875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594360" y="1883664"/>
            <a:ext cx="329184" cy="329184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2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612648" y="2267712"/>
            <a:ext cx="119786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19" b="1">
                <a:solidFill>
                  <a:srgbClr val="0E39A9"/>
                </a:solidFill>
                <a:latin typeface="Montserrat"/>
              </a:rPr>
              <a:t>Source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policies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PDFs → Markdown</a:t>
            </a:r>
          </a:p>
        </p:txBody>
      </p:sp>
      <p:sp>
        <p:nvSpPr>
          <p:cNvPr id="196" name="Chevron 195"/>
          <p:cNvSpPr/>
          <p:nvPr/>
        </p:nvSpPr>
        <p:spPr>
          <a:xfrm>
            <a:off x="1965960" y="2313432"/>
            <a:ext cx="182880" cy="292608"/>
          </a:xfrm>
          <a:prstGeom prst="chevron">
            <a:avLst/>
          </a:prstGeom>
          <a:solidFill>
            <a:srgbClr val="B4BC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ounded Rectangle 196"/>
          <p:cNvSpPr/>
          <p:nvPr/>
        </p:nvSpPr>
        <p:spPr>
          <a:xfrm>
            <a:off x="2148840" y="1755648"/>
            <a:ext cx="1417320" cy="1417320"/>
          </a:xfrm>
          <a:prstGeom prst="roundRect">
            <a:avLst/>
          </a:prstGeom>
          <a:solidFill>
            <a:srgbClr val="F7F9FD"/>
          </a:solidFill>
          <a:ln w="15875">
            <a:solidFill>
              <a:srgbClr val="2969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2240280" y="1883664"/>
            <a:ext cx="329184" cy="329184"/>
          </a:xfrm>
          <a:prstGeom prst="ellipse">
            <a:avLst/>
          </a:prstGeom>
          <a:solidFill>
            <a:srgbClr val="2969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2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2258568" y="2267712"/>
            <a:ext cx="119786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1">
                <a:latin typeface="Montserrat"/>
              </a:rPr>
              <a:t>Structure</a:t>
            </a:r>
          </a:p>
          <a:p>
            <a:pPr algn="l"/>
            <a:r>
              <a:rPr sz="750" b="0">
                <a:latin typeface="Montserrat"/>
              </a:rPr>
              <a:t>&amp; chunk</a:t>
            </a:r>
          </a:p>
          <a:p>
            <a:pPr algn="l"/>
            <a:r>
              <a:rPr sz="750" b="0">
                <a:latin typeface="Montserrat"/>
              </a:rPr>
              <a:t>120 / 16 + metadata</a:t>
            </a:r>
          </a:p>
        </p:txBody>
      </p:sp>
      <p:sp>
        <p:nvSpPr>
          <p:cNvPr id="200" name="Chevron 199"/>
          <p:cNvSpPr/>
          <p:nvPr/>
        </p:nvSpPr>
        <p:spPr>
          <a:xfrm>
            <a:off x="3611880" y="2313432"/>
            <a:ext cx="182880" cy="292608"/>
          </a:xfrm>
          <a:prstGeom prst="chevron">
            <a:avLst/>
          </a:prstGeom>
          <a:solidFill>
            <a:srgbClr val="B4BC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ounded Rectangle 200"/>
          <p:cNvSpPr/>
          <p:nvPr/>
        </p:nvSpPr>
        <p:spPr>
          <a:xfrm>
            <a:off x="3794760" y="1755648"/>
            <a:ext cx="1417320" cy="1417320"/>
          </a:xfrm>
          <a:prstGeom prst="roundRect">
            <a:avLst/>
          </a:prstGeom>
          <a:solidFill>
            <a:srgbClr val="F7F9FD"/>
          </a:solidFill>
          <a:ln w="15875">
            <a:solidFill>
              <a:srgbClr val="008B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3886200" y="1883664"/>
            <a:ext cx="329184" cy="329184"/>
          </a:xfrm>
          <a:prstGeom prst="ellipse">
            <a:avLst/>
          </a:prstGeom>
          <a:solidFill>
            <a:srgbClr val="008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2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3904488" y="2267712"/>
            <a:ext cx="119786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19" b="1">
                <a:solidFill>
                  <a:srgbClr val="0E39A9"/>
                </a:solidFill>
                <a:latin typeface="Montserrat"/>
              </a:rPr>
              <a:t>Retrieve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&amp; rerank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FAISS + MMR + CrossEncoder</a:t>
            </a:r>
          </a:p>
        </p:txBody>
      </p:sp>
      <p:sp>
        <p:nvSpPr>
          <p:cNvPr id="204" name="Chevron 203"/>
          <p:cNvSpPr/>
          <p:nvPr/>
        </p:nvSpPr>
        <p:spPr>
          <a:xfrm>
            <a:off x="5257800" y="2313432"/>
            <a:ext cx="182880" cy="292608"/>
          </a:xfrm>
          <a:prstGeom prst="chevron">
            <a:avLst/>
          </a:prstGeom>
          <a:solidFill>
            <a:srgbClr val="B4BC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ounded Rectangle 204"/>
          <p:cNvSpPr/>
          <p:nvPr/>
        </p:nvSpPr>
        <p:spPr>
          <a:xfrm>
            <a:off x="5440680" y="1755648"/>
            <a:ext cx="1417320" cy="1417320"/>
          </a:xfrm>
          <a:prstGeom prst="roundRect">
            <a:avLst/>
          </a:prstGeom>
          <a:solidFill>
            <a:srgbClr val="F7F9FD"/>
          </a:solidFill>
          <a:ln w="15875">
            <a:solidFill>
              <a:srgbClr val="0C7D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5532120" y="1883664"/>
            <a:ext cx="329184" cy="329184"/>
          </a:xfrm>
          <a:prstGeom prst="ellipse">
            <a:avLst/>
          </a:prstGeom>
          <a:solidFill>
            <a:srgbClr val="0C7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2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5550408" y="2267712"/>
            <a:ext cx="119786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19" b="1">
                <a:solidFill>
                  <a:srgbClr val="0E39A9"/>
                </a:solidFill>
                <a:latin typeface="Montserrat"/>
              </a:rPr>
              <a:t>Generate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&amp; evaluate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GPT-4o-mini + DeepEval</a:t>
            </a:r>
          </a:p>
        </p:txBody>
      </p:sp>
      <p:sp>
        <p:nvSpPr>
          <p:cNvPr id="208" name="Chevron 207"/>
          <p:cNvSpPr/>
          <p:nvPr/>
        </p:nvSpPr>
        <p:spPr>
          <a:xfrm>
            <a:off x="6903720" y="2313432"/>
            <a:ext cx="182880" cy="292608"/>
          </a:xfrm>
          <a:prstGeom prst="chevron">
            <a:avLst/>
          </a:prstGeom>
          <a:solidFill>
            <a:srgbClr val="B4BC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ounded Rectangle 208"/>
          <p:cNvSpPr/>
          <p:nvPr/>
        </p:nvSpPr>
        <p:spPr>
          <a:xfrm>
            <a:off x="7086600" y="1755648"/>
            <a:ext cx="1417320" cy="1417320"/>
          </a:xfrm>
          <a:prstGeom prst="roundRect">
            <a:avLst/>
          </a:prstGeom>
          <a:solidFill>
            <a:srgbClr val="F7F9FD"/>
          </a:solidFill>
          <a:ln w="15875">
            <a:solidFill>
              <a:srgbClr val="236B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7178040" y="1883664"/>
            <a:ext cx="329184" cy="329184"/>
          </a:xfrm>
          <a:prstGeom prst="ellipse">
            <a:avLst/>
          </a:prstGeom>
          <a:solidFill>
            <a:srgbClr val="236B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20" b="1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7196328" y="2267712"/>
            <a:ext cx="119786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19" b="1">
                <a:solidFill>
                  <a:srgbClr val="0E39A9"/>
                </a:solidFill>
                <a:latin typeface="Montserrat"/>
              </a:rPr>
              <a:t>Deploy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&amp; monitor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Flask + Streamlit + Codespaces</a:t>
            </a:r>
          </a:p>
        </p:txBody>
      </p:sp>
      <p:sp>
        <p:nvSpPr>
          <p:cNvPr id="212" name="Rounded Rectangle 211"/>
          <p:cNvSpPr/>
          <p:nvPr/>
        </p:nvSpPr>
        <p:spPr>
          <a:xfrm>
            <a:off x="685800" y="3822191"/>
            <a:ext cx="1691640" cy="658368"/>
          </a:xfrm>
          <a:prstGeom prst="roundRect">
            <a:avLst/>
          </a:prstGeom>
          <a:solidFill>
            <a:srgbClr val="F2F6FF"/>
          </a:solidFill>
          <a:ln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777240" y="3904487"/>
            <a:ext cx="56692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178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362456" y="3931920"/>
            <a:ext cx="8961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000000"/>
                </a:solidFill>
                <a:latin typeface="Montserrat"/>
              </a:rPr>
              <a:t>indexed chunks</a:t>
            </a:r>
          </a:p>
        </p:txBody>
      </p:sp>
      <p:sp>
        <p:nvSpPr>
          <p:cNvPr id="215" name="Rounded Rectangle 214"/>
          <p:cNvSpPr/>
          <p:nvPr/>
        </p:nvSpPr>
        <p:spPr>
          <a:xfrm>
            <a:off x="2697480" y="3822191"/>
            <a:ext cx="1691640" cy="658368"/>
          </a:xfrm>
          <a:prstGeom prst="roundRect">
            <a:avLst/>
          </a:prstGeom>
          <a:solidFill>
            <a:srgbClr val="F2F6FF"/>
          </a:solidFill>
          <a:ln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2788920" y="3904487"/>
            <a:ext cx="56692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39A9"/>
                </a:solidFill>
                <a:latin typeface="Montserrat"/>
              </a:rPr>
              <a:t>k=5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3374136" y="3931920"/>
            <a:ext cx="8961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000000"/>
                </a:solidFill>
                <a:latin typeface="Montserrat"/>
              </a:rPr>
              <a:t>selected baseline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4709160" y="3822191"/>
            <a:ext cx="1691640" cy="658368"/>
          </a:xfrm>
          <a:prstGeom prst="roundRect">
            <a:avLst/>
          </a:prstGeom>
          <a:solidFill>
            <a:srgbClr val="F2F6FF"/>
          </a:solidFill>
          <a:ln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4800600" y="3904487"/>
            <a:ext cx="56692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7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5385816" y="3931920"/>
            <a:ext cx="8961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000000"/>
                </a:solidFill>
                <a:latin typeface="Montserrat"/>
              </a:rPr>
              <a:t>pass rate / 10</a:t>
            </a:r>
          </a:p>
        </p:txBody>
      </p:sp>
      <p:sp>
        <p:nvSpPr>
          <p:cNvPr id="221" name="Rounded Rectangle 220"/>
          <p:cNvSpPr/>
          <p:nvPr/>
        </p:nvSpPr>
        <p:spPr>
          <a:xfrm>
            <a:off x="6720840" y="3822191"/>
            <a:ext cx="1691640" cy="658368"/>
          </a:xfrm>
          <a:prstGeom prst="roundRect">
            <a:avLst/>
          </a:prstGeom>
          <a:solidFill>
            <a:srgbClr val="F2F6FF"/>
          </a:solidFill>
          <a:ln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6812280" y="3904487"/>
            <a:ext cx="56692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.867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7397496" y="3931920"/>
            <a:ext cx="8961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000000"/>
                </a:solidFill>
                <a:latin typeface="Montserrat"/>
              </a:rPr>
              <a:t>weighted composite</a:t>
            </a:r>
          </a:p>
        </p:txBody>
      </p:sp>
      <p:sp>
        <p:nvSpPr>
          <p:cNvPr id="224" name="Rounded Rectangle 223"/>
          <p:cNvSpPr/>
          <p:nvPr/>
        </p:nvSpPr>
        <p:spPr>
          <a:xfrm>
            <a:off x="960120" y="4599432"/>
            <a:ext cx="1353312" cy="283464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Guest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question</a:t>
            </a:r>
          </a:p>
        </p:txBody>
      </p:sp>
      <p:sp>
        <p:nvSpPr>
          <p:cNvPr id="225" name="Chevron 224"/>
          <p:cNvSpPr/>
          <p:nvPr/>
        </p:nvSpPr>
        <p:spPr>
          <a:xfrm>
            <a:off x="2395728" y="4663440"/>
            <a:ext cx="164592" cy="137160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ounded Rectangle 225"/>
          <p:cNvSpPr/>
          <p:nvPr/>
        </p:nvSpPr>
        <p:spPr>
          <a:xfrm>
            <a:off x="2834639" y="4599432"/>
            <a:ext cx="1353312" cy="283464"/>
          </a:xfrm>
          <a:prstGeom prst="roundRect">
            <a:avLst/>
          </a:prstGeom>
          <a:solidFill>
            <a:srgbClr val="E6F7F6"/>
          </a:solidFill>
          <a:ln w="1016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Relevant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evidence</a:t>
            </a:r>
          </a:p>
        </p:txBody>
      </p:sp>
      <p:sp>
        <p:nvSpPr>
          <p:cNvPr id="227" name="Chevron 226"/>
          <p:cNvSpPr/>
          <p:nvPr/>
        </p:nvSpPr>
        <p:spPr>
          <a:xfrm>
            <a:off x="4270248" y="4663440"/>
            <a:ext cx="164592" cy="137160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ounded Rectangle 227"/>
          <p:cNvSpPr/>
          <p:nvPr/>
        </p:nvSpPr>
        <p:spPr>
          <a:xfrm>
            <a:off x="4709159" y="4599432"/>
            <a:ext cx="1353312" cy="283464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Grounded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answer</a:t>
            </a:r>
          </a:p>
        </p:txBody>
      </p:sp>
      <p:sp>
        <p:nvSpPr>
          <p:cNvPr id="229" name="Chevron 228"/>
          <p:cNvSpPr/>
          <p:nvPr/>
        </p:nvSpPr>
        <p:spPr>
          <a:xfrm>
            <a:off x="6144768" y="4663440"/>
            <a:ext cx="164592" cy="137160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ounded Rectangle 229"/>
          <p:cNvSpPr/>
          <p:nvPr/>
        </p:nvSpPr>
        <p:spPr>
          <a:xfrm>
            <a:off x="6583679" y="4599432"/>
            <a:ext cx="1353312" cy="283464"/>
          </a:xfrm>
          <a:prstGeom prst="roundRect">
            <a:avLst/>
          </a:prstGeom>
          <a:solidFill>
            <a:srgbClr val="FFF5E0"/>
          </a:solidFill>
          <a:ln w="10160">
            <a:solidFill>
              <a:srgbClr val="CA9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Assisted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review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9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Business Problem Overview and Solution Approach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694944" y="1325880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Problem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694944" y="161391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Staff handle about 1,200 guest queries per week; roughly 40% require multiple policy documents.</a:t>
            </a:r>
          </a:p>
        </p:txBody>
      </p:sp>
      <p:sp>
        <p:nvSpPr>
          <p:cNvPr id="201" name="Oval 200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694944" y="209397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Manual lookup takes 8–12 minutes and creates a 15–20% risk of incomplete or incorrect answers.</a:t>
            </a:r>
          </a:p>
        </p:txBody>
      </p:sp>
      <p:sp>
        <p:nvSpPr>
          <p:cNvPr id="203" name="Oval 202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694944" y="257403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Property-specific fees, room features, cancellation rules, and accessibility guidance are easy to mix up.</a:t>
            </a:r>
          </a:p>
        </p:txBody>
      </p:sp>
      <p:sp>
        <p:nvSpPr>
          <p:cNvPr id="205" name="Oval 204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694944" y="3054096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Solution approach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694944" y="3342132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Extract policy PDFs with Docling; preserve headings and tables as Markdown.</a:t>
            </a:r>
          </a:p>
        </p:txBody>
      </p:sp>
      <p:sp>
        <p:nvSpPr>
          <p:cNvPr id="208" name="Oval 207"/>
          <p:cNvSpPr/>
          <p:nvPr/>
        </p:nvSpPr>
        <p:spPr>
          <a:xfrm>
            <a:off x="402336" y="3442715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694944" y="3822191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Use token-aware chunking, domain embeddings, FAISS retrieval, MMR, and CrossEncoder reranking.</a:t>
            </a:r>
          </a:p>
        </p:txBody>
      </p:sp>
      <p:sp>
        <p:nvSpPr>
          <p:cNvPr id="210" name="Oval 209"/>
          <p:cNvSpPr/>
          <p:nvPr/>
        </p:nvSpPr>
        <p:spPr>
          <a:xfrm>
            <a:off x="402336" y="392277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94944" y="4302252"/>
            <a:ext cx="6080760" cy="37947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Generate concise answers with GPT-4o-mini using a strict retrieved-context-only prompt.</a:t>
            </a:r>
          </a:p>
        </p:txBody>
      </p:sp>
      <p:sp>
        <p:nvSpPr>
          <p:cNvPr id="212" name="Oval 211"/>
          <p:cNvSpPr/>
          <p:nvPr/>
        </p:nvSpPr>
        <p:spPr>
          <a:xfrm>
            <a:off x="402336" y="44028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3" name="Picture 212" descr="professional_support.jpg"/>
          <p:cNvPicPr>
            <a:picLocks noChangeAspect="1"/>
          </p:cNvPicPr>
          <p:nvPr/>
        </p:nvPicPr>
        <p:blipFill>
          <a:blip r:embed="rId3"/>
          <a:srcRect l="7574" r="7574"/>
          <a:stretch>
            <a:fillRect/>
          </a:stretch>
        </p:blipFill>
        <p:spPr>
          <a:xfrm>
            <a:off x="6967728" y="3291840"/>
            <a:ext cx="1627632" cy="1078992"/>
          </a:xfrm>
          <a:prstGeom prst="rect">
            <a:avLst/>
          </a:prstGeom>
          <a:ln w="12700">
            <a:solidFill>
              <a:srgbClr val="BECBE8"/>
            </a:solidFill>
          </a:ln>
        </p:spPr>
      </p:pic>
      <p:sp>
        <p:nvSpPr>
          <p:cNvPr id="214" name="TextBox 213"/>
          <p:cNvSpPr txBox="1"/>
          <p:nvPr/>
        </p:nvSpPr>
        <p:spPr>
          <a:xfrm>
            <a:off x="6830568" y="4398264"/>
            <a:ext cx="1764792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80" i="1">
                <a:solidFill>
                  <a:srgbClr val="6E6E6E"/>
                </a:solidFill>
                <a:latin typeface="Montserrat"/>
              </a:rPr>
              <a:t>Photo: Unsplash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40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Data Understanding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08" name="Table 207"/>
          <p:cNvGraphicFramePr>
            <a:graphicFrameLocks noGrp="1"/>
          </p:cNvGraphicFramePr>
          <p:nvPr/>
        </p:nvGraphicFramePr>
        <p:xfrm>
          <a:off x="694944" y="1307592"/>
          <a:ext cx="608076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2928"/>
                <a:gridCol w="530352"/>
                <a:gridCol w="2697480"/>
              </a:tblGrid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60" b="1">
                          <a:solidFill>
                            <a:srgbClr val="FFFFFF"/>
                          </a:solidFill>
                          <a:latin typeface="Montserrat"/>
                        </a:rPr>
                        <a:t>Source PDF</a:t>
                      </a:r>
                    </a:p>
                  </a:txBody>
                  <a:tcPr marL="45720" marR="36576" marT="18288" marB="18288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60" b="1">
                          <a:solidFill>
                            <a:srgbClr val="FFFFFF"/>
                          </a:solidFill>
                          <a:latin typeface="Montserrat"/>
                        </a:rPr>
                        <a:t>Pages</a:t>
                      </a:r>
                    </a:p>
                  </a:txBody>
                  <a:tcPr marL="45720" marR="36576" marT="18288" marB="18288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60" b="1">
                          <a:solidFill>
                            <a:srgbClr val="FFFFFF"/>
                          </a:solidFill>
                          <a:latin typeface="Montserrat"/>
                        </a:rPr>
                        <a:t>Structure / coverage observed</a:t>
                      </a:r>
                    </a:p>
                  </a:txBody>
                  <a:tcPr marL="45720" marR="36576" marT="18288" marB="18288">
                    <a:solidFill>
                      <a:srgbClr val="0E39A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aurorastay_room_and_property_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information.pdf</a:t>
                      </a:r>
                    </a:p>
                  </a:txBody>
                  <a:tcPr marL="45720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5</a:t>
                      </a:r>
                    </a:p>
                  </a:txBody>
                  <a:tcPr marL="45720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Policy prose + six-property matrix; property-specific rows</a:t>
                      </a:r>
                    </a:p>
                  </a:txBody>
                  <a:tcPr marL="45720" marR="36576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aurorastay_booking_terms_and_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cancellation_policy.pdf</a:t>
                      </a:r>
                    </a:p>
                  </a:txBody>
                  <a:tcPr marL="45720" marR="36576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5</a:t>
                      </a:r>
                    </a:p>
                  </a:txBody>
                  <a:tcPr marL="45720" marR="36576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Rates, cancellation, check-in/out, reservation conditions</a:t>
                      </a:r>
                    </a:p>
                  </a:txBody>
                  <a:tcPr marL="45720" marR="36576" marT="18288" marB="18288">
                    <a:solidFill>
                      <a:srgbClr val="F2F6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aurorastay_refunds_and_additional_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charges_guide.pdf</a:t>
                      </a:r>
                    </a:p>
                  </a:txBody>
                  <a:tcPr marL="45720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4</a:t>
                      </a:r>
                    </a:p>
                  </a:txBody>
                  <a:tcPr marL="45720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Refund rules, fees, exceptions, and conditional charges</a:t>
                      </a:r>
                    </a:p>
                  </a:txBody>
                  <a:tcPr marL="45720" marR="36576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aurorastay_guest_conduct_accessibility_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and_resolution_guidelines.pdf</a:t>
                      </a:r>
                    </a:p>
                  </a:txBody>
                  <a:tcPr marL="45720" marR="36576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5</a:t>
                      </a:r>
                    </a:p>
                  </a:txBody>
                  <a:tcPr marL="45720" marR="36576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Conduct, accessibility, eligibility, and resolution guidance</a:t>
                      </a:r>
                    </a:p>
                  </a:txBody>
                  <a:tcPr marL="45720" marR="36576" marT="18288" marB="18288">
                    <a:solidFill>
                      <a:srgbClr val="F2F6FF"/>
                    </a:solidFill>
                  </a:tcPr>
                </a:tc>
              </a:tr>
            </a:tbl>
          </a:graphicData>
        </a:graphic>
      </p:graphicFrame>
      <p:sp>
        <p:nvSpPr>
          <p:cNvPr id="209" name="TextBox 208"/>
          <p:cNvSpPr txBox="1"/>
          <p:nvPr/>
        </p:nvSpPr>
        <p:spPr>
          <a:xfrm>
            <a:off x="694944" y="3493008"/>
            <a:ext cx="608076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80" b="1">
                <a:solidFill>
                  <a:srgbClr val="0E39A9"/>
                </a:solidFill>
                <a:latin typeface="Montserrat"/>
              </a:rPr>
              <a:t>Verification: all four PDFs loaded successfully; selectable text made OCR unnecessary. Docling preserved headings, lists, tables, and property rows.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694944" y="4078224"/>
            <a:ext cx="6080760" cy="475488"/>
          </a:xfrm>
          <a:prstGeom prst="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txBody>
          <a:bodyPr wrap="square" lIns="73152" rIns="54864">
            <a:normAutofit/>
          </a:bodyPr>
          <a:lstStyle/>
          <a:p>
            <a:r>
              <a:t>DESIGN IMPLICATION: preserve headings/tables, isolate property rows, and retain source/section/property/topic metadata. Supports domain embeddings and 120/16 token chunking.</a:t>
            </a:r>
          </a:p>
        </p:txBody>
      </p:sp>
      <p:sp>
        <p:nvSpPr>
          <p:cNvPr id="211" name="Rounded Rectangle 210"/>
          <p:cNvSpPr/>
          <p:nvPr/>
        </p:nvSpPr>
        <p:spPr>
          <a:xfrm>
            <a:off x="6967728" y="1783080"/>
            <a:ext cx="1627632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7040880" y="1856231"/>
            <a:ext cx="14813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DATA PIPELINE</a:t>
            </a:r>
          </a:p>
        </p:txBody>
      </p:sp>
      <p:sp>
        <p:nvSpPr>
          <p:cNvPr id="213" name="Rounded Rectangle 212"/>
          <p:cNvSpPr/>
          <p:nvPr/>
        </p:nvSpPr>
        <p:spPr>
          <a:xfrm>
            <a:off x="7114032" y="2212848"/>
            <a:ext cx="365760" cy="365760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000000"/>
                </a:solidFill>
                <a:latin typeface="Montserrat"/>
              </a:rPr>
              <a:t>PDF</a:t>
            </a:r>
          </a:p>
        </p:txBody>
      </p:sp>
      <p:sp>
        <p:nvSpPr>
          <p:cNvPr id="214" name="Rounded Rectangle 213"/>
          <p:cNvSpPr/>
          <p:nvPr/>
        </p:nvSpPr>
        <p:spPr>
          <a:xfrm>
            <a:off x="7598664" y="2212848"/>
            <a:ext cx="365760" cy="365760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000000"/>
                </a:solidFill>
                <a:latin typeface="Montserrat"/>
              </a:rPr>
              <a:t>PDF</a:t>
            </a:r>
          </a:p>
        </p:txBody>
      </p:sp>
      <p:sp>
        <p:nvSpPr>
          <p:cNvPr id="215" name="Rounded Rectangle 214"/>
          <p:cNvSpPr/>
          <p:nvPr/>
        </p:nvSpPr>
        <p:spPr>
          <a:xfrm>
            <a:off x="8083296" y="2212848"/>
            <a:ext cx="365760" cy="365760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000000"/>
                </a:solidFill>
                <a:latin typeface="Montserrat"/>
              </a:rPr>
              <a:t>PDF</a:t>
            </a:r>
          </a:p>
        </p:txBody>
      </p:sp>
      <p:sp>
        <p:nvSpPr>
          <p:cNvPr id="216" name="Chevron 215"/>
          <p:cNvSpPr/>
          <p:nvPr/>
        </p:nvSpPr>
        <p:spPr>
          <a:xfrm>
            <a:off x="7690104" y="2670048"/>
            <a:ext cx="182880" cy="164592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ounded Rectangle 216"/>
          <p:cNvSpPr/>
          <p:nvPr/>
        </p:nvSpPr>
        <p:spPr>
          <a:xfrm>
            <a:off x="7351776" y="2862072"/>
            <a:ext cx="859536" cy="411480"/>
          </a:xfrm>
          <a:prstGeom prst="roundRect">
            <a:avLst/>
          </a:prstGeom>
          <a:solidFill>
            <a:srgbClr val="E6F7F6"/>
          </a:solidFill>
          <a:ln w="1016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Markdown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+ headings</a:t>
            </a:r>
          </a:p>
        </p:txBody>
      </p:sp>
      <p:sp>
        <p:nvSpPr>
          <p:cNvPr id="218" name="Chevron 217"/>
          <p:cNvSpPr/>
          <p:nvPr/>
        </p:nvSpPr>
        <p:spPr>
          <a:xfrm>
            <a:off x="7690104" y="3364991"/>
            <a:ext cx="182880" cy="164592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ounded Rectangle 218"/>
          <p:cNvSpPr/>
          <p:nvPr/>
        </p:nvSpPr>
        <p:spPr>
          <a:xfrm>
            <a:off x="7351776" y="3557015"/>
            <a:ext cx="859536" cy="411480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Chunks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metadata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7077456" y="4032504"/>
            <a:ext cx="1408176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i="1">
                <a:solidFill>
                  <a:srgbClr val="5A5A5A"/>
                </a:solidFill>
                <a:latin typeface="Montserrat"/>
              </a:rPr>
              <a:t>4 source guides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246888"/>
            <a:ext cx="80467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Data Understanding - Markdown / Table Output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03504" y="1261872"/>
            <a:ext cx="7936992" cy="1444752"/>
          </a:xfrm>
          <a:prstGeom prst="roundRect">
            <a:avLst/>
          </a:prstGeom>
          <a:solidFill>
            <a:srgbClr val="F5F8FD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353312"/>
            <a:ext cx="7543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0E39A9"/>
                </a:solidFill>
                <a:latin typeface="Montserrat"/>
              </a:rPr>
              <a:t>Converted Markdown | source: aurorastay_room_and_property_information.pdf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1591055"/>
            <a:ext cx="7479792" cy="1033272"/>
          </a:xfrm>
          <a:prstGeom prst="rect">
            <a:avLst/>
          </a:prstGeom>
          <a:noFill/>
        </p:spPr>
        <p:txBody>
          <a:bodyPr wrap="square" lIns="27432" rIns="27432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## Room and Property Information Guide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 Policy code | AS-02 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|---|---|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 Effective date | January 1, 2026 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## 5. Property-specific matrix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" y="2889504"/>
            <a:ext cx="7936992" cy="1481328"/>
          </a:xfrm>
          <a:prstGeom prst="roundRect">
            <a:avLst/>
          </a:prstGeom>
          <a:solidFill>
            <a:srgbClr val="F0FAF8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980944"/>
            <a:ext cx="7543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009CA6"/>
                </a:solidFill>
                <a:latin typeface="Montserrat"/>
              </a:rPr>
              <a:t>Extracted Markdown table | preserved rows and property-specific values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3218688"/>
            <a:ext cx="7479792" cy="1069848"/>
          </a:xfrm>
          <a:prstGeom prst="rect">
            <a:avLst/>
          </a:prstGeom>
          <a:noFill/>
        </p:spPr>
        <p:txBody>
          <a:bodyPr wrap="square" lIns="27432" rIns="27432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 Property | Check-in / out | Parking | Pets 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|---|---|---|---|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 ASH-ATL Midtown | 3:00 PM / 11:00 AM | Self parking, $28/night | $75/stay 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 ASH-CHI Loop | 3:00 PM / 12:00 PM | Self parking, $42/night | $50/night; $150 cap 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 ASH-MIA Brickell | 4:00 PM / 11:00 AM | Valet, $55/night | $100/stay |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4572000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F7752"/>
                </a:solidFill>
                <a:latin typeface="Montserrat"/>
              </a:rPr>
              <a:t>Why it matters: headings retain semantic context; table rows preserve exact property values for focused retrieval.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1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Chunking - Embedding Model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694944" y="1325880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Embedding model: HarishMaths/Hotel-Policy-Embedding.</a:t>
            </a:r>
          </a:p>
        </p:txBody>
      </p:sp>
      <p:sp>
        <p:nvSpPr>
          <p:cNvPr id="217" name="Oval 21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694944" y="161391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r>
              <a:t>Tokenizer maximum length: 128 tokens; token-safe chunk size: 120 tokens.</a:t>
            </a:r>
          </a:p>
        </p:txBody>
      </p:sp>
      <p:sp>
        <p:nvSpPr>
          <p:cNvPr id="219" name="Oval 218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694944" y="209397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Embeddings run on CPU with normalized vectors and progress rendering disabled.</a:t>
            </a:r>
          </a:p>
        </p:txBody>
      </p:sp>
      <p:sp>
        <p:nvSpPr>
          <p:cNvPr id="221" name="Oval 220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694944" y="257403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same model is used when building and loading the FAISS index.</a:t>
            </a:r>
          </a:p>
        </p:txBody>
      </p:sp>
      <p:sp>
        <p:nvSpPr>
          <p:cNvPr id="223" name="Oval 222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94944" y="3054096"/>
            <a:ext cx="6080760" cy="649224"/>
          </a:xfrm>
          <a:prstGeom prst="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1F7752"/>
                </a:solidFill>
                <a:latin typeface="Montserrat"/>
              </a:rPr>
              <a:t>MODEL SELECTION RATIONALE: the corpus is hotel-policy text with repeated property codes, fees, exceptions, and room-feature terms.</a:t>
            </a:r>
          </a:p>
        </p:txBody>
      </p:sp>
      <p:sp>
        <p:nvSpPr>
          <p:cNvPr id="225" name="Oval 224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694944" y="3735324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 domain-trained encoder should preserve these policy distinctions more directly than a generic embedding model.</a:t>
            </a:r>
          </a:p>
        </p:txBody>
      </p:sp>
      <p:sp>
        <p:nvSpPr>
          <p:cNvPr id="227" name="Oval 226"/>
          <p:cNvSpPr/>
          <p:nvPr/>
        </p:nvSpPr>
        <p:spPr>
          <a:xfrm>
            <a:off x="402336" y="383590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694944" y="4215384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document inspection therefore supports HarishMaths/Hotel-Policy-Embedding as the fit-for-purpose choice.</a:t>
            </a:r>
          </a:p>
        </p:txBody>
      </p:sp>
      <p:sp>
        <p:nvSpPr>
          <p:cNvPr id="229" name="Oval 228"/>
          <p:cNvSpPr/>
          <p:nvPr/>
        </p:nvSpPr>
        <p:spPr>
          <a:xfrm>
            <a:off x="402336" y="431596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ounded Rectangle 229"/>
          <p:cNvSpPr/>
          <p:nvPr/>
        </p:nvSpPr>
        <p:spPr>
          <a:xfrm>
            <a:off x="6967728" y="1783080"/>
            <a:ext cx="1627632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7040880" y="1856231"/>
            <a:ext cx="14813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EMBEDDING FLOW</a:t>
            </a:r>
          </a:p>
        </p:txBody>
      </p:sp>
      <p:sp>
        <p:nvSpPr>
          <p:cNvPr id="232" name="Rounded Rectangle 231"/>
          <p:cNvSpPr/>
          <p:nvPr/>
        </p:nvSpPr>
        <p:spPr>
          <a:xfrm>
            <a:off x="7333488" y="2221991"/>
            <a:ext cx="896112" cy="347472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Policy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text</a:t>
            </a:r>
          </a:p>
        </p:txBody>
      </p:sp>
      <p:sp>
        <p:nvSpPr>
          <p:cNvPr id="233" name="Chevron 232"/>
          <p:cNvSpPr/>
          <p:nvPr/>
        </p:nvSpPr>
        <p:spPr>
          <a:xfrm>
            <a:off x="7699248" y="2624328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ounded Rectangle 233"/>
          <p:cNvSpPr/>
          <p:nvPr/>
        </p:nvSpPr>
        <p:spPr>
          <a:xfrm>
            <a:off x="7333488" y="2816352"/>
            <a:ext cx="896112" cy="347472"/>
          </a:xfrm>
          <a:prstGeom prst="roundRect">
            <a:avLst/>
          </a:prstGeom>
          <a:solidFill>
            <a:srgbClr val="E6F7F6"/>
          </a:solidFill>
          <a:ln w="1016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Token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chunks</a:t>
            </a:r>
          </a:p>
        </p:txBody>
      </p:sp>
      <p:sp>
        <p:nvSpPr>
          <p:cNvPr id="235" name="Chevron 234"/>
          <p:cNvSpPr/>
          <p:nvPr/>
        </p:nvSpPr>
        <p:spPr>
          <a:xfrm>
            <a:off x="7699248" y="3218688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7333488" y="3447288"/>
            <a:ext cx="713232" cy="82296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7333488" y="3593592"/>
            <a:ext cx="530352" cy="82296"/>
          </a:xfrm>
          <a:prstGeom prst="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7333488" y="3739896"/>
            <a:ext cx="832104" cy="82296"/>
          </a:xfrm>
          <a:prstGeom prst="rect">
            <a:avLst/>
          </a:prstGeom>
          <a:solidFill>
            <a:srgbClr val="1F77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ounded Rectangle 238"/>
          <p:cNvSpPr/>
          <p:nvPr/>
        </p:nvSpPr>
        <p:spPr>
          <a:xfrm>
            <a:off x="7333488" y="3922776"/>
            <a:ext cx="896112" cy="347472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FAISS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index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42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Chunking - Chunker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Chunker: RecursiveCharacterTextSplitter.from_huggingface_tokenizer.</a:t>
            </a:r>
          </a:p>
        </p:txBody>
      </p:sp>
      <p:sp>
        <p:nvSpPr>
          <p:cNvPr id="225" name="Oval 22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694944" y="180594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r>
              <a:t>Chunk size: 120 tokens; overlap: 16 tokens.</a:t>
            </a:r>
          </a:p>
        </p:txBody>
      </p:sp>
      <p:sp>
        <p:nvSpPr>
          <p:cNvPr id="227" name="Oval 226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Split priority: paragraph, line, heading, sentence, word, then character boundaries.</a:t>
            </a:r>
          </a:p>
        </p:txBody>
      </p:sp>
      <p:sp>
        <p:nvSpPr>
          <p:cNvPr id="229" name="Oval 228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Atomic property rows are added for property-matrix entries so a single property and fee can be retrieved precisely.</a:t>
            </a:r>
          </a:p>
        </p:txBody>
      </p:sp>
      <p:sp>
        <p:nvSpPr>
          <p:cNvPr id="231" name="Oval 230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694944" y="305409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Metadata is added after splitting to preserve section, topic, and property identity.</a:t>
            </a:r>
          </a:p>
        </p:txBody>
      </p:sp>
      <p:sp>
        <p:nvSpPr>
          <p:cNvPr id="233" name="Oval 232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TextBox 233"/>
          <p:cNvSpPr txBox="1"/>
          <p:nvPr/>
        </p:nvSpPr>
        <p:spPr>
          <a:xfrm>
            <a:off x="694944" y="3534156"/>
            <a:ext cx="6729984" cy="448056"/>
          </a:xfrm>
          <a:prstGeom prst="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txBody>
          <a:bodyPr wrap="square" lIns="82296" rIns="36576" tIns="18288" bIns="18288">
            <a:normAutofit/>
          </a:bodyPr>
          <a:lstStyle/>
          <a:p>
            <a:r>
              <a:t>CHUNKING RATIONALE: 120/16 stays within the 128-token tokenizer limit while retaining local policy context; overlap protects rules at boundaries.</a:t>
            </a:r>
          </a:p>
        </p:txBody>
      </p:sp>
      <p:sp>
        <p:nvSpPr>
          <p:cNvPr id="235" name="Oval 234"/>
          <p:cNvSpPr/>
          <p:nvPr/>
        </p:nvSpPr>
        <p:spPr>
          <a:xfrm>
            <a:off x="402336" y="363473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43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Chunking - Chunk Documents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r>
              <a:t>Total chunks created: 178, including atomic property rows.</a:t>
            </a:r>
          </a:p>
        </p:txBody>
      </p:sp>
      <p:sp>
        <p:nvSpPr>
          <p:cNvPr id="233" name="Oval 23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TextBox 233"/>
          <p:cNvSpPr txBox="1"/>
          <p:nvPr/>
        </p:nvSpPr>
        <p:spPr>
          <a:xfrm>
            <a:off x="694944" y="161391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Example focused chunk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694944" y="1901952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## Property-specific matrix | Property: ASH-MIA</a:t>
            </a:r>
          </a:p>
        </p:txBody>
      </p:sp>
      <p:sp>
        <p:nvSpPr>
          <p:cNvPr id="236" name="Oval 235"/>
          <p:cNvSpPr/>
          <p:nvPr/>
        </p:nvSpPr>
        <p:spPr>
          <a:xfrm>
            <a:off x="402336" y="20025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94944" y="218998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ASH-MIA Brickell | Parking: Valet, $55 per night | Pets: $100 per stay; 2 pets max</a:t>
            </a:r>
          </a:p>
        </p:txBody>
      </p:sp>
      <p:sp>
        <p:nvSpPr>
          <p:cNvPr id="238" name="Oval 237"/>
          <p:cNvSpPr/>
          <p:nvPr/>
        </p:nvSpPr>
        <p:spPr>
          <a:xfrm>
            <a:off x="402336" y="22905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694944" y="267004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One-property rows reduce contamination from unrelated properties and broad policy sections.</a:t>
            </a:r>
          </a:p>
        </p:txBody>
      </p:sp>
      <p:sp>
        <p:nvSpPr>
          <p:cNvPr id="240" name="Oval 239"/>
          <p:cNvSpPr/>
          <p:nvPr/>
        </p:nvSpPr>
        <p:spPr>
          <a:xfrm>
            <a:off x="402336" y="27706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694944" y="315010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Each chunk carries source, section, property_codes, and topics metadata.</a:t>
            </a:r>
          </a:p>
        </p:txBody>
      </p:sp>
      <p:sp>
        <p:nvSpPr>
          <p:cNvPr id="242" name="Oval 241"/>
          <p:cNvSpPr/>
          <p:nvPr/>
        </p:nvSpPr>
        <p:spPr>
          <a:xfrm>
            <a:off x="402336" y="3250691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44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Vector Database</a:t>
            </a:r>
          </a:p>
        </p:txBody>
      </p:sp>
      <p:sp>
        <p:nvSpPr>
          <p:cNvPr id="239" name="Rectangle 23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694944" y="132588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r>
              <a:t>Vector database: FAISS with 178 normalized document vectors.</a:t>
            </a:r>
          </a:p>
        </p:txBody>
      </p:sp>
      <p:sp>
        <p:nvSpPr>
          <p:cNvPr id="241" name="Oval 240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694944" y="180594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Index is persisted for the backend under backend/faiss_index.</a:t>
            </a:r>
          </a:p>
        </p:txBody>
      </p:sp>
      <p:sp>
        <p:nvSpPr>
          <p:cNvPr id="243" name="Oval 242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694944" y="2286000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Final retrieval setting: k=5 chunks.</a:t>
            </a:r>
          </a:p>
        </p:txBody>
      </p:sp>
      <p:sp>
        <p:nvSpPr>
          <p:cNvPr id="245" name="Oval 244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694944" y="2574036"/>
            <a:ext cx="6080760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Top-k trade-off: larger k improves retrieval recall but increases context noise; k=5 was selected as the best balance on held-out evaluation.</a:t>
            </a:r>
          </a:p>
        </p:txBody>
      </p:sp>
      <p:sp>
        <p:nvSpPr>
          <p:cNvPr id="247" name="Oval 246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694944" y="3255264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Candidate search uses MMR lambda=0.50 and fetch_k=20.</a:t>
            </a:r>
          </a:p>
        </p:txBody>
      </p:sp>
      <p:sp>
        <p:nvSpPr>
          <p:cNvPr id="249" name="Oval 248"/>
          <p:cNvSpPr/>
          <p:nvPr/>
        </p:nvSpPr>
        <p:spPr>
          <a:xfrm>
            <a:off x="402336" y="335584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94944" y="354330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CrossEncoder ms-marco-MiniLM-L-6-v2 reranks candidates; topic and property metadata provide additional boosts.</a:t>
            </a:r>
          </a:p>
        </p:txBody>
      </p:sp>
      <p:sp>
        <p:nvSpPr>
          <p:cNvPr id="251" name="Oval 250"/>
          <p:cNvSpPr/>
          <p:nvPr/>
        </p:nvSpPr>
        <p:spPr>
          <a:xfrm>
            <a:off x="402336" y="36438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ounded Rectangle 251"/>
          <p:cNvSpPr/>
          <p:nvPr/>
        </p:nvSpPr>
        <p:spPr>
          <a:xfrm>
            <a:off x="6967728" y="1783080"/>
            <a:ext cx="1627632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TextBox 252"/>
          <p:cNvSpPr txBox="1"/>
          <p:nvPr/>
        </p:nvSpPr>
        <p:spPr>
          <a:xfrm>
            <a:off x="7040880" y="1856231"/>
            <a:ext cx="14813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RAG FLOW</a:t>
            </a:r>
          </a:p>
        </p:txBody>
      </p:sp>
      <p:sp>
        <p:nvSpPr>
          <p:cNvPr id="254" name="Rounded Rectangle 253"/>
          <p:cNvSpPr/>
          <p:nvPr/>
        </p:nvSpPr>
        <p:spPr>
          <a:xfrm>
            <a:off x="7114032" y="2011680"/>
            <a:ext cx="1335024" cy="201168"/>
          </a:xfrm>
          <a:prstGeom prst="roundRect">
            <a:avLst/>
          </a:prstGeom>
          <a:solidFill>
            <a:srgbClr val="F8FAFE"/>
          </a:solidFill>
          <a:ln w="10160">
            <a:solidFill>
              <a:srgbClr val="7887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09" b="0">
                <a:solidFill>
                  <a:srgbClr val="000000"/>
                </a:solidFill>
                <a:latin typeface="Montserrat"/>
              </a:rPr>
              <a:t>property/topic metadata</a:t>
            </a:r>
          </a:p>
        </p:txBody>
      </p:sp>
      <p:sp>
        <p:nvSpPr>
          <p:cNvPr id="255" name="Rounded Rectangle 254"/>
          <p:cNvSpPr/>
          <p:nvPr/>
        </p:nvSpPr>
        <p:spPr>
          <a:xfrm>
            <a:off x="7296912" y="2194560"/>
            <a:ext cx="969264" cy="329184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Question</a:t>
            </a:r>
          </a:p>
        </p:txBody>
      </p:sp>
      <p:sp>
        <p:nvSpPr>
          <p:cNvPr id="256" name="Chevron 255"/>
          <p:cNvSpPr/>
          <p:nvPr/>
        </p:nvSpPr>
        <p:spPr>
          <a:xfrm>
            <a:off x="7699248" y="2587752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ounded Rectangle 256"/>
          <p:cNvSpPr/>
          <p:nvPr/>
        </p:nvSpPr>
        <p:spPr>
          <a:xfrm>
            <a:off x="7296912" y="2770632"/>
            <a:ext cx="969264" cy="365760"/>
          </a:xfrm>
          <a:prstGeom prst="roundRect">
            <a:avLst/>
          </a:prstGeom>
          <a:solidFill>
            <a:srgbClr val="E6F7F6"/>
          </a:solidFill>
          <a:ln w="1016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FAISS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retrieve</a:t>
            </a:r>
          </a:p>
        </p:txBody>
      </p:sp>
      <p:sp>
        <p:nvSpPr>
          <p:cNvPr id="258" name="Chevron 257"/>
          <p:cNvSpPr/>
          <p:nvPr/>
        </p:nvSpPr>
        <p:spPr>
          <a:xfrm>
            <a:off x="7699248" y="3209544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ounded Rectangle 258"/>
          <p:cNvSpPr/>
          <p:nvPr/>
        </p:nvSpPr>
        <p:spPr>
          <a:xfrm>
            <a:off x="7296912" y="3392424"/>
            <a:ext cx="969264" cy="365760"/>
          </a:xfrm>
          <a:prstGeom prst="roundRect">
            <a:avLst/>
          </a:prstGeom>
          <a:solidFill>
            <a:srgbClr val="FFF5E0"/>
          </a:solidFill>
          <a:ln w="10160">
            <a:solidFill>
              <a:srgbClr val="CA9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MMR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rerank</a:t>
            </a:r>
          </a:p>
        </p:txBody>
      </p:sp>
      <p:sp>
        <p:nvSpPr>
          <p:cNvPr id="260" name="Chevron 259"/>
          <p:cNvSpPr/>
          <p:nvPr/>
        </p:nvSpPr>
        <p:spPr>
          <a:xfrm>
            <a:off x="7699248" y="3831336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ounded Rectangle 260"/>
          <p:cNvSpPr/>
          <p:nvPr/>
        </p:nvSpPr>
        <p:spPr>
          <a:xfrm>
            <a:off x="7296912" y="4005072"/>
            <a:ext cx="969264" cy="365760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Grounded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answer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45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Vector Database - Retrieval Function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694944" y="1078992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Query: What are the parking fees at the Atlanta and Miami hotels?</a:t>
            </a:r>
          </a:p>
        </p:txBody>
      </p:sp>
      <p:sp>
        <p:nvSpPr>
          <p:cNvPr id="249" name="Oval 248"/>
          <p:cNvSpPr/>
          <p:nvPr/>
        </p:nvSpPr>
        <p:spPr>
          <a:xfrm>
            <a:off x="402336" y="117957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94944" y="1559052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Property routing identifies ASH-ATL and ASH-MIA; topic routing identifies parking.</a:t>
            </a:r>
          </a:p>
        </p:txBody>
      </p:sp>
      <p:sp>
        <p:nvSpPr>
          <p:cNvPr id="251" name="Oval 250"/>
          <p:cNvSpPr/>
          <p:nvPr/>
        </p:nvSpPr>
        <p:spPr>
          <a:xfrm>
            <a:off x="402336" y="16596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694944" y="2039112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Property/topic routing filters candidates before reranking when focused matches exist, with global fallback for ambiguous questions.</a:t>
            </a:r>
          </a:p>
        </p:txBody>
      </p:sp>
      <p:sp>
        <p:nvSpPr>
          <p:cNvPr id="253" name="Oval 252"/>
          <p:cNvSpPr/>
          <p:nvPr/>
        </p:nvSpPr>
        <p:spPr>
          <a:xfrm>
            <a:off x="402336" y="213969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94944" y="27203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Metadata is retained for source traceability and evidence display.</a:t>
            </a:r>
          </a:p>
        </p:txBody>
      </p:sp>
      <p:sp>
        <p:nvSpPr>
          <p:cNvPr id="255" name="Oval 254"/>
          <p:cNvSpPr/>
          <p:nvPr/>
        </p:nvSpPr>
        <p:spPr>
          <a:xfrm>
            <a:off x="402336" y="28209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694944" y="320040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Candidate chunks are retrieved with MMR, then reranked for direct relevance.</a:t>
            </a:r>
          </a:p>
        </p:txBody>
      </p:sp>
      <p:sp>
        <p:nvSpPr>
          <p:cNvPr id="257" name="Oval 256"/>
          <p:cNvSpPr/>
          <p:nvPr/>
        </p:nvSpPr>
        <p:spPr>
          <a:xfrm>
            <a:off x="402336" y="33009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694944" y="368046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Relevant evidence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694944" y="396849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ASH-ATL Midtown: self parking, $28 per night.</a:t>
            </a:r>
          </a:p>
        </p:txBody>
      </p:sp>
      <p:sp>
        <p:nvSpPr>
          <p:cNvPr id="260" name="Oval 259"/>
          <p:cNvSpPr/>
          <p:nvPr/>
        </p:nvSpPr>
        <p:spPr>
          <a:xfrm>
            <a:off x="402336" y="406908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TextBox 260"/>
          <p:cNvSpPr txBox="1"/>
          <p:nvPr/>
        </p:nvSpPr>
        <p:spPr>
          <a:xfrm>
            <a:off x="694944" y="4256532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ASH-MIA Brickell: valet, $55 per night.</a:t>
            </a:r>
          </a:p>
        </p:txBody>
      </p:sp>
      <p:sp>
        <p:nvSpPr>
          <p:cNvPr id="262" name="Oval 261"/>
          <p:cNvSpPr/>
          <p:nvPr/>
        </p:nvSpPr>
        <p:spPr>
          <a:xfrm>
            <a:off x="402336" y="435711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TextBox 262"/>
          <p:cNvSpPr txBox="1"/>
          <p:nvPr/>
        </p:nvSpPr>
        <p:spPr>
          <a:xfrm>
            <a:off x="694944" y="4544568"/>
            <a:ext cx="6729984" cy="182880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final context contains the two requested property rows instead of unrelated policy sections.</a:t>
            </a:r>
          </a:p>
        </p:txBody>
      </p:sp>
      <p:sp>
        <p:nvSpPr>
          <p:cNvPr id="264" name="Oval 263"/>
          <p:cNvSpPr/>
          <p:nvPr/>
        </p:nvSpPr>
        <p:spPr>
          <a:xfrm>
            <a:off x="402336" y="464515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46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Generation System - Load the LLM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694944" y="1325880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Generator: OpenAI-compatible ChatOpenAI wrapper.</a:t>
            </a:r>
          </a:p>
        </p:txBody>
      </p:sp>
      <p:sp>
        <p:nvSpPr>
          <p:cNvPr id="257" name="Oval 25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694944" y="1613916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Model: gpt-4o-mini.</a:t>
            </a:r>
          </a:p>
        </p:txBody>
      </p:sp>
      <p:sp>
        <p:nvSpPr>
          <p:cNvPr id="259" name="Oval 258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694944" y="1901952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temperature=0.0 | top_p=1.0 | max_tokens=512.</a:t>
            </a:r>
          </a:p>
        </p:txBody>
      </p:sp>
      <p:sp>
        <p:nvSpPr>
          <p:cNvPr id="261" name="Oval 260"/>
          <p:cNvSpPr/>
          <p:nvPr/>
        </p:nvSpPr>
        <p:spPr>
          <a:xfrm>
            <a:off x="402336" y="20025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694944" y="2189988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API key and base URL are loaded from environment/configuration rather than hard-coded.</a:t>
            </a:r>
          </a:p>
        </p:txBody>
      </p:sp>
      <p:sp>
        <p:nvSpPr>
          <p:cNvPr id="263" name="Oval 262"/>
          <p:cNvSpPr/>
          <p:nvPr/>
        </p:nvSpPr>
        <p:spPr>
          <a:xfrm>
            <a:off x="402336" y="22905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694944" y="2670048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Deterministic settings favor repeatable, concise policy answers for evaluation and operations.</a:t>
            </a:r>
          </a:p>
        </p:txBody>
      </p:sp>
      <p:sp>
        <p:nvSpPr>
          <p:cNvPr id="265" name="Oval 264"/>
          <p:cNvSpPr/>
          <p:nvPr/>
        </p:nvSpPr>
        <p:spPr>
          <a:xfrm>
            <a:off x="402336" y="27706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ounded Rectangle 265"/>
          <p:cNvSpPr/>
          <p:nvPr/>
        </p:nvSpPr>
        <p:spPr>
          <a:xfrm>
            <a:off x="6967728" y="1783080"/>
            <a:ext cx="1627632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7040880" y="1856231"/>
            <a:ext cx="14813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GENERATION / LLM</a:t>
            </a:r>
          </a:p>
        </p:txBody>
      </p:sp>
      <p:sp>
        <p:nvSpPr>
          <p:cNvPr id="268" name="Rounded Rectangle 267"/>
          <p:cNvSpPr/>
          <p:nvPr/>
        </p:nvSpPr>
        <p:spPr>
          <a:xfrm>
            <a:off x="7196328" y="2240280"/>
            <a:ext cx="1170432" cy="402336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10" b="1">
                <a:solidFill>
                  <a:srgbClr val="000000"/>
                </a:solidFill>
                <a:latin typeface="Montserrat"/>
              </a:rPr>
              <a:t>Question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10" b="1">
                <a:solidFill>
                  <a:srgbClr val="000000"/>
                </a:solidFill>
                <a:latin typeface="Montserrat"/>
              </a:rPr>
              <a:t>retrieved context</a:t>
            </a:r>
          </a:p>
        </p:txBody>
      </p:sp>
      <p:sp>
        <p:nvSpPr>
          <p:cNvPr id="269" name="Chevron 268"/>
          <p:cNvSpPr/>
          <p:nvPr/>
        </p:nvSpPr>
        <p:spPr>
          <a:xfrm>
            <a:off x="7699248" y="2715768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7461504" y="2907791"/>
            <a:ext cx="658368" cy="658368"/>
          </a:xfrm>
          <a:prstGeom prst="ellipse">
            <a:avLst/>
          </a:prstGeom>
          <a:solidFill>
            <a:srgbClr val="E6F7F6"/>
          </a:solidFill>
          <a:ln w="1270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E39A9"/>
                </a:solidFill>
                <a:latin typeface="Montserrat"/>
              </a:rPr>
              <a:t>GPT-4o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E39A9"/>
                </a:solidFill>
                <a:latin typeface="Montserrat"/>
              </a:rPr>
              <a:t>-mini</a:t>
            </a:r>
          </a:p>
        </p:txBody>
      </p:sp>
      <p:sp>
        <p:nvSpPr>
          <p:cNvPr id="271" name="Chevron 270"/>
          <p:cNvSpPr/>
          <p:nvPr/>
        </p:nvSpPr>
        <p:spPr>
          <a:xfrm>
            <a:off x="7699248" y="3630168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ounded Rectangle 271"/>
          <p:cNvSpPr/>
          <p:nvPr/>
        </p:nvSpPr>
        <p:spPr>
          <a:xfrm>
            <a:off x="7333488" y="3813048"/>
            <a:ext cx="896112" cy="384048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Grounded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answer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7077456" y="2066543"/>
            <a:ext cx="1408176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90" i="1">
                <a:solidFill>
                  <a:srgbClr val="5A5A5A"/>
                </a:solidFill>
                <a:latin typeface="Montserrat"/>
              </a:rPr>
              <a:t>context-only prompt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47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Generation System - Generation Prompt</a:t>
            </a:r>
          </a:p>
        </p:txBody>
      </p:sp>
      <p:sp>
        <p:nvSpPr>
          <p:cNvPr id="263" name="Rectangle 26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694944" y="132588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Prompt inputs: user query + retrieved policy information.</a:t>
            </a:r>
          </a:p>
        </p:txBody>
      </p:sp>
      <p:sp>
        <p:nvSpPr>
          <p:cNvPr id="265" name="Oval 26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TextBox 265"/>
          <p:cNvSpPr txBox="1"/>
          <p:nvPr/>
        </p:nvSpPr>
        <p:spPr>
          <a:xfrm>
            <a:off x="694944" y="180594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Prompt excerpt: "You are the Aurora Stays policy assistant. Use only the retrieved policy context to answer."</a:t>
            </a:r>
          </a:p>
        </p:txBody>
      </p:sp>
      <p:sp>
        <p:nvSpPr>
          <p:cNvPr id="267" name="Oval 266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TextBox 267"/>
          <p:cNvSpPr txBox="1"/>
          <p:nvPr/>
        </p:nvSpPr>
        <p:spPr>
          <a:xfrm>
            <a:off x="694944" y="228600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Use only information explicitly supported by retrieved policy text.</a:t>
            </a:r>
          </a:p>
        </p:txBody>
      </p:sp>
      <p:sp>
        <p:nvSpPr>
          <p:cNvPr id="269" name="Oval 268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TextBox 269"/>
          <p:cNvSpPr txBox="1"/>
          <p:nvPr/>
        </p:nvSpPr>
        <p:spPr>
          <a:xfrm>
            <a:off x="694944" y="276606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Include relevant conditions, exclusions, limits, exceptions, and coverage details.</a:t>
            </a:r>
          </a:p>
        </p:txBody>
      </p:sp>
      <p:sp>
        <p:nvSpPr>
          <p:cNvPr id="271" name="Oval 270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694944" y="324612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Focus on the question; omit unrelated content and do not invent facts.</a:t>
            </a:r>
          </a:p>
        </p:txBody>
      </p:sp>
      <p:sp>
        <p:nvSpPr>
          <p:cNvPr id="273" name="Oval 272"/>
          <p:cNvSpPr/>
          <p:nvPr/>
        </p:nvSpPr>
        <p:spPr>
          <a:xfrm>
            <a:off x="402336" y="334670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TextBox 273"/>
          <p:cNvSpPr txBox="1"/>
          <p:nvPr/>
        </p:nvSpPr>
        <p:spPr>
          <a:xfrm>
            <a:off x="694944" y="3726180"/>
            <a:ext cx="6080760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If evidence is insufficient, return: The available policy documents do not contain enough information to answer this question.</a:t>
            </a:r>
          </a:p>
        </p:txBody>
      </p:sp>
      <p:sp>
        <p:nvSpPr>
          <p:cNvPr id="275" name="Oval 274"/>
          <p:cNvSpPr/>
          <p:nvPr/>
        </p:nvSpPr>
        <p:spPr>
          <a:xfrm>
            <a:off x="402336" y="38267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TextBox 275"/>
          <p:cNvSpPr txBox="1"/>
          <p:nvPr/>
        </p:nvSpPr>
        <p:spPr>
          <a:xfrm>
            <a:off x="694944" y="4407408"/>
            <a:ext cx="6080760" cy="274319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Additional guards focus Advance Purchase, Accessible King, and late-checkout questions on their relevant evidence.</a:t>
            </a:r>
          </a:p>
        </p:txBody>
      </p:sp>
      <p:sp>
        <p:nvSpPr>
          <p:cNvPr id="277" name="Oval 276"/>
          <p:cNvSpPr/>
          <p:nvPr/>
        </p:nvSpPr>
        <p:spPr>
          <a:xfrm>
            <a:off x="402336" y="450799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ounded Rectangle 277"/>
          <p:cNvSpPr/>
          <p:nvPr/>
        </p:nvSpPr>
        <p:spPr>
          <a:xfrm>
            <a:off x="6967728" y="1783080"/>
            <a:ext cx="1627632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7040880" y="1856231"/>
            <a:ext cx="14813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GENERATION / LLM</a:t>
            </a:r>
          </a:p>
        </p:txBody>
      </p:sp>
      <p:sp>
        <p:nvSpPr>
          <p:cNvPr id="280" name="Rounded Rectangle 279"/>
          <p:cNvSpPr/>
          <p:nvPr/>
        </p:nvSpPr>
        <p:spPr>
          <a:xfrm>
            <a:off x="7196328" y="2240280"/>
            <a:ext cx="1170432" cy="402336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10" b="1">
                <a:solidFill>
                  <a:srgbClr val="000000"/>
                </a:solidFill>
                <a:latin typeface="Montserrat"/>
              </a:rPr>
              <a:t>Question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10" b="1">
                <a:solidFill>
                  <a:srgbClr val="000000"/>
                </a:solidFill>
                <a:latin typeface="Montserrat"/>
              </a:rPr>
              <a:t>retrieved context</a:t>
            </a:r>
          </a:p>
        </p:txBody>
      </p:sp>
      <p:sp>
        <p:nvSpPr>
          <p:cNvPr id="281" name="Chevron 280"/>
          <p:cNvSpPr/>
          <p:nvPr/>
        </p:nvSpPr>
        <p:spPr>
          <a:xfrm>
            <a:off x="7699248" y="2715768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7461504" y="2907791"/>
            <a:ext cx="658368" cy="658368"/>
          </a:xfrm>
          <a:prstGeom prst="ellipse">
            <a:avLst/>
          </a:prstGeom>
          <a:solidFill>
            <a:srgbClr val="E6F7F6"/>
          </a:solidFill>
          <a:ln w="1270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E39A9"/>
                </a:solidFill>
                <a:latin typeface="Montserrat"/>
              </a:rPr>
              <a:t>GPT-4o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E39A9"/>
                </a:solidFill>
                <a:latin typeface="Montserrat"/>
              </a:rPr>
              <a:t>-mini</a:t>
            </a:r>
          </a:p>
        </p:txBody>
      </p:sp>
      <p:sp>
        <p:nvSpPr>
          <p:cNvPr id="283" name="Chevron 282"/>
          <p:cNvSpPr/>
          <p:nvPr/>
        </p:nvSpPr>
        <p:spPr>
          <a:xfrm>
            <a:off x="7699248" y="3630168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ounded Rectangle 283"/>
          <p:cNvSpPr/>
          <p:nvPr/>
        </p:nvSpPr>
        <p:spPr>
          <a:xfrm>
            <a:off x="7333488" y="3813048"/>
            <a:ext cx="896112" cy="384048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Grounded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answer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7077456" y="2066543"/>
            <a:ext cx="1408176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90" i="1">
                <a:solidFill>
                  <a:srgbClr val="5A5A5A"/>
                </a:solidFill>
                <a:latin typeface="Montserrat"/>
              </a:rPr>
              <a:t>context-only prompt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8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Generation System - RAG Function</a:t>
            </a:r>
          </a:p>
        </p:txBody>
      </p:sp>
      <p:sp>
        <p:nvSpPr>
          <p:cNvPr id="271" name="Rectangle 27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Pipeline: query -&gt; retrieve top-k chunks -&gt; generate grounded answer -&gt; return answer and evidence.</a:t>
            </a:r>
          </a:p>
        </p:txBody>
      </p:sp>
      <p:sp>
        <p:nvSpPr>
          <p:cNvPr id="273" name="Oval 27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TextBox 273"/>
          <p:cNvSpPr txBox="1"/>
          <p:nvPr/>
        </p:nvSpPr>
        <p:spPr>
          <a:xfrm>
            <a:off x="694944" y="18059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Example query: What is the cancellation policy for a flexible reservation?</a:t>
            </a:r>
          </a:p>
        </p:txBody>
      </p:sp>
      <p:sp>
        <p:nvSpPr>
          <p:cNvPr id="275" name="Oval 274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TextBox 275"/>
          <p:cNvSpPr txBox="1"/>
          <p:nvPr/>
        </p:nvSpPr>
        <p:spPr>
          <a:xfrm>
            <a:off x="694944" y="2286000"/>
            <a:ext cx="6729984" cy="8503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Example answer: Flexible rates can normally be canceled by 6:00 PM local property time one day before arrival without a room charge. Later cancellation or no-show may be charged one night plus tax; the confirmation controls if it differs.</a:t>
            </a:r>
          </a:p>
        </p:txBody>
      </p:sp>
      <p:sp>
        <p:nvSpPr>
          <p:cNvPr id="277" name="Oval 276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TextBox 277"/>
          <p:cNvSpPr txBox="1"/>
          <p:nvPr/>
        </p:nvSpPr>
        <p:spPr>
          <a:xfrm>
            <a:off x="694944" y="316839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response endpoint can return the answer alone or the answer plus relevant chunks for verification.</a:t>
            </a:r>
          </a:p>
        </p:txBody>
      </p:sp>
      <p:sp>
        <p:nvSpPr>
          <p:cNvPr id="279" name="Oval 278"/>
          <p:cNvSpPr/>
          <p:nvPr/>
        </p:nvSpPr>
        <p:spPr>
          <a:xfrm>
            <a:off x="402336" y="32689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TextBox 279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9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Load the Evaluation Data</a:t>
            </a:r>
          </a:p>
        </p:txBody>
      </p:sp>
      <p:sp>
        <p:nvSpPr>
          <p:cNvPr id="279" name="Rectangle 27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TextBox 279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Development evaluation file: data/evaluation.csv.</a:t>
            </a:r>
          </a:p>
        </p:txBody>
      </p:sp>
      <p:sp>
        <p:nvSpPr>
          <p:cNvPr id="281" name="Oval 280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TextBox 281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10 records with question, expected answer, and ground-truth relevant context.</a:t>
            </a:r>
          </a:p>
        </p:txBody>
      </p:sp>
      <p:sp>
        <p:nvSpPr>
          <p:cNvPr id="283" name="Oval 282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TextBox 283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Sample question: What time can I check in at ASH-CHI Loop, and when do I need to be out?</a:t>
            </a:r>
          </a:p>
        </p:txBody>
      </p:sp>
      <p:sp>
        <p:nvSpPr>
          <p:cNvPr id="285" name="Oval 284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TextBox 285"/>
          <p:cNvSpPr txBox="1"/>
          <p:nvPr/>
        </p:nvSpPr>
        <p:spPr>
          <a:xfrm>
            <a:off x="694944" y="2574036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Expected answer: Standard check-in is 3:00 PM and standard check-out is 12:00 PM local property time; early arrival and late departure depend on availability and approval.</a:t>
            </a:r>
          </a:p>
        </p:txBody>
      </p:sp>
      <p:sp>
        <p:nvSpPr>
          <p:cNvPr id="287" name="Oval 286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TextBox 287"/>
          <p:cNvSpPr txBox="1"/>
          <p:nvPr/>
        </p:nvSpPr>
        <p:spPr>
          <a:xfrm>
            <a:off x="694944" y="325526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Multi-context records use &lt;&gt; separators so relevant policy sections can be evaluated together.</a:t>
            </a:r>
          </a:p>
        </p:txBody>
      </p:sp>
      <p:sp>
        <p:nvSpPr>
          <p:cNvPr id="289" name="Oval 288"/>
          <p:cNvSpPr/>
          <p:nvPr/>
        </p:nvSpPr>
        <p:spPr>
          <a:xfrm>
            <a:off x="402336" y="335584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TextBox 289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Define the Evaluation Model</a:t>
            </a:r>
          </a:p>
        </p:txBody>
      </p:sp>
      <p:sp>
        <p:nvSpPr>
          <p:cNvPr id="287" name="Rectangle 28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TextBox 287"/>
          <p:cNvSpPr txBox="1"/>
          <p:nvPr/>
        </p:nvSpPr>
        <p:spPr>
          <a:xfrm>
            <a:off x="694944" y="1444752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Judge model: gpt-4o through the DeepEval OpenAIModel wrapper.</a:t>
            </a:r>
          </a:p>
        </p:txBody>
      </p:sp>
      <p:sp>
        <p:nvSpPr>
          <p:cNvPr id="289" name="Oval 288"/>
          <p:cNvSpPr/>
          <p:nvPr/>
        </p:nvSpPr>
        <p:spPr>
          <a:xfrm>
            <a:off x="402336" y="15453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TextBox 289"/>
          <p:cNvSpPr txBox="1"/>
          <p:nvPr/>
        </p:nvSpPr>
        <p:spPr>
          <a:xfrm>
            <a:off x="694944" y="173278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generator remains gpt-4o-mini with temperature=0.0, top_p=1.0, and max_tokens=512.</a:t>
            </a:r>
          </a:p>
        </p:txBody>
      </p:sp>
      <p:sp>
        <p:nvSpPr>
          <p:cNvPr id="291" name="Oval 290"/>
          <p:cNvSpPr/>
          <p:nvPr/>
        </p:nvSpPr>
        <p:spPr>
          <a:xfrm>
            <a:off x="402336" y="18333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TextBox 291"/>
          <p:cNvSpPr txBox="1"/>
          <p:nvPr/>
        </p:nvSpPr>
        <p:spPr>
          <a:xfrm>
            <a:off x="694944" y="2212848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 separate, stronger judge model reduces self-evaluation bias and provides a more independent assessment of generated answers.</a:t>
            </a:r>
          </a:p>
        </p:txBody>
      </p:sp>
      <p:sp>
        <p:nvSpPr>
          <p:cNvPr id="293" name="Oval 292"/>
          <p:cNvSpPr/>
          <p:nvPr/>
        </p:nvSpPr>
        <p:spPr>
          <a:xfrm>
            <a:off x="402336" y="23134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TextBox 293"/>
          <p:cNvSpPr txBox="1"/>
          <p:nvPr/>
        </p:nvSpPr>
        <p:spPr>
          <a:xfrm>
            <a:off x="694944" y="28940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judge scores factual support, retrieval coverage, retrieval focus, and answer relevance.</a:t>
            </a:r>
          </a:p>
        </p:txBody>
      </p:sp>
      <p:sp>
        <p:nvSpPr>
          <p:cNvPr id="295" name="Oval 294"/>
          <p:cNvSpPr/>
          <p:nvPr/>
        </p:nvSpPr>
        <p:spPr>
          <a:xfrm>
            <a:off x="402336" y="29946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TextBox 295"/>
          <p:cNvSpPr txBox="1"/>
          <p:nvPr/>
        </p:nvSpPr>
        <p:spPr>
          <a:xfrm>
            <a:off x="694944" y="33741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Evaluations run synchronously so each test case has a stable, auditable metric result.</a:t>
            </a:r>
          </a:p>
        </p:txBody>
      </p:sp>
      <p:sp>
        <p:nvSpPr>
          <p:cNvPr id="297" name="Oval 296"/>
          <p:cNvSpPr/>
          <p:nvPr/>
        </p:nvSpPr>
        <p:spPr>
          <a:xfrm>
            <a:off x="402336" y="34747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TextBox 297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51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Define the Evaluation Metrics</a:t>
            </a:r>
          </a:p>
        </p:txBody>
      </p:sp>
      <p:sp>
        <p:nvSpPr>
          <p:cNvPr id="295" name="Rectangle 29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TextBox 295"/>
          <p:cNvSpPr txBox="1"/>
          <p:nvPr/>
        </p:nvSpPr>
        <p:spPr>
          <a:xfrm>
            <a:off x="694944" y="132588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Faithfulness &gt;= 0.85: actual answer + retrieved context; every important claim must be supported.</a:t>
            </a:r>
          </a:p>
        </p:txBody>
      </p:sp>
      <p:sp>
        <p:nvSpPr>
          <p:cNvPr id="297" name="Oval 29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TextBox 297"/>
          <p:cNvSpPr txBox="1"/>
          <p:nvPr/>
        </p:nvSpPr>
        <p:spPr>
          <a:xfrm>
            <a:off x="694944" y="180594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Contextual Recall &gt;= 0.80: expected answer + retrieved context; required evidence must be present.</a:t>
            </a:r>
          </a:p>
        </p:txBody>
      </p:sp>
      <p:sp>
        <p:nvSpPr>
          <p:cNvPr id="299" name="Oval 298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TextBox 299"/>
          <p:cNvSpPr txBox="1"/>
          <p:nvPr/>
        </p:nvSpPr>
        <p:spPr>
          <a:xfrm>
            <a:off x="694944" y="228600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Contextual Precision &gt;= 0.75: question + retrieved context; relevant evidence must be prioritized over noise.</a:t>
            </a:r>
          </a:p>
        </p:txBody>
      </p:sp>
      <p:sp>
        <p:nvSpPr>
          <p:cNvPr id="301" name="Oval 300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TextBox 301"/>
          <p:cNvSpPr txBox="1"/>
          <p:nvPr/>
        </p:nvSpPr>
        <p:spPr>
          <a:xfrm>
            <a:off x="694944" y="276606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Answer Relevancy &gt;= 0.75: question + generated answer; the answer must directly address the question.</a:t>
            </a:r>
          </a:p>
        </p:txBody>
      </p:sp>
      <p:sp>
        <p:nvSpPr>
          <p:cNvPr id="303" name="Oval 302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TextBox 303"/>
          <p:cNvSpPr txBox="1"/>
          <p:nvPr/>
        </p:nvSpPr>
        <p:spPr>
          <a:xfrm>
            <a:off x="694944" y="324612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Composite = 0.35F + 0.25Recall + 0.20Precision + 0.20Relevancy.</a:t>
            </a:r>
          </a:p>
        </p:txBody>
      </p:sp>
      <p:sp>
        <p:nvSpPr>
          <p:cNvPr id="305" name="Oval 304"/>
          <p:cNvSpPr/>
          <p:nvPr/>
        </p:nvSpPr>
        <p:spPr>
          <a:xfrm>
            <a:off x="402336" y="334670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TextBox 305"/>
          <p:cNvSpPr txBox="1"/>
          <p:nvPr/>
        </p:nvSpPr>
        <p:spPr>
          <a:xfrm>
            <a:off x="694944" y="372618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 case passes only when all four metric thresholds are met.</a:t>
            </a:r>
          </a:p>
        </p:txBody>
      </p:sp>
      <p:sp>
        <p:nvSpPr>
          <p:cNvPr id="307" name="Oval 306"/>
          <p:cNvSpPr/>
          <p:nvPr/>
        </p:nvSpPr>
        <p:spPr>
          <a:xfrm>
            <a:off x="402336" y="38267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ounded Rectangle 307"/>
          <p:cNvSpPr/>
          <p:nvPr/>
        </p:nvSpPr>
        <p:spPr>
          <a:xfrm>
            <a:off x="6967728" y="1783080"/>
            <a:ext cx="1627632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TextBox 308"/>
          <p:cNvSpPr txBox="1"/>
          <p:nvPr/>
        </p:nvSpPr>
        <p:spPr>
          <a:xfrm>
            <a:off x="7040880" y="1856231"/>
            <a:ext cx="14813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EVALUATION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7077456" y="2240280"/>
            <a:ext cx="25603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80" b="1">
                <a:solidFill>
                  <a:srgbClr val="0E39A9"/>
                </a:solidFill>
                <a:latin typeface="Montserrat"/>
              </a:rPr>
              <a:t>F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7388352" y="2267712"/>
            <a:ext cx="987552" cy="109728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7388352" y="2267712"/>
            <a:ext cx="980639" cy="109728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TextBox 312"/>
          <p:cNvSpPr txBox="1"/>
          <p:nvPr/>
        </p:nvSpPr>
        <p:spPr>
          <a:xfrm>
            <a:off x="8412480" y="2231136"/>
            <a:ext cx="128016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80">
                <a:solidFill>
                  <a:srgbClr val="000000"/>
                </a:solidFill>
                <a:latin typeface="Montserrat"/>
              </a:rPr>
              <a:t>0.99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7077456" y="2633472"/>
            <a:ext cx="25603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80" b="1">
                <a:solidFill>
                  <a:srgbClr val="009CA6"/>
                </a:solidFill>
                <a:latin typeface="Montserrat"/>
              </a:rPr>
              <a:t>R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7388352" y="2660904"/>
            <a:ext cx="987552" cy="109728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7388352" y="2660904"/>
            <a:ext cx="944099" cy="109728"/>
          </a:xfrm>
          <a:prstGeom prst="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TextBox 316"/>
          <p:cNvSpPr txBox="1"/>
          <p:nvPr/>
        </p:nvSpPr>
        <p:spPr>
          <a:xfrm>
            <a:off x="8412480" y="2624328"/>
            <a:ext cx="128016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80">
                <a:solidFill>
                  <a:srgbClr val="000000"/>
                </a:solidFill>
                <a:latin typeface="Montserrat"/>
              </a:rPr>
              <a:t>0.96</a:t>
            </a:r>
          </a:p>
        </p:txBody>
      </p:sp>
      <p:sp>
        <p:nvSpPr>
          <p:cNvPr id="318" name="TextBox 317"/>
          <p:cNvSpPr txBox="1"/>
          <p:nvPr/>
        </p:nvSpPr>
        <p:spPr>
          <a:xfrm>
            <a:off x="7077456" y="3026664"/>
            <a:ext cx="25603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80" b="1">
                <a:solidFill>
                  <a:srgbClr val="CA9128"/>
                </a:solidFill>
                <a:latin typeface="Montserrat"/>
              </a:rPr>
              <a:t>P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388352" y="3054096"/>
            <a:ext cx="987552" cy="109728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7388352" y="3054096"/>
            <a:ext cx="771278" cy="109728"/>
          </a:xfrm>
          <a:prstGeom prst="rect">
            <a:avLst/>
          </a:prstGeom>
          <a:solidFill>
            <a:srgbClr val="CA9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TextBox 320"/>
          <p:cNvSpPr txBox="1"/>
          <p:nvPr/>
        </p:nvSpPr>
        <p:spPr>
          <a:xfrm>
            <a:off x="8412480" y="3017520"/>
            <a:ext cx="128016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80">
                <a:solidFill>
                  <a:srgbClr val="000000"/>
                </a:solidFill>
                <a:latin typeface="Montserrat"/>
              </a:rPr>
              <a:t>0.78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7077456" y="3419856"/>
            <a:ext cx="25603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80" b="1">
                <a:solidFill>
                  <a:srgbClr val="1F7752"/>
                </a:solidFill>
                <a:latin typeface="Montserrat"/>
              </a:rPr>
              <a:t>AR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7388352" y="3447288"/>
            <a:ext cx="987552" cy="109728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7388352" y="3447288"/>
            <a:ext cx="918423" cy="109728"/>
          </a:xfrm>
          <a:prstGeom prst="rect">
            <a:avLst/>
          </a:prstGeom>
          <a:solidFill>
            <a:srgbClr val="1F77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TextBox 324"/>
          <p:cNvSpPr txBox="1"/>
          <p:nvPr/>
        </p:nvSpPr>
        <p:spPr>
          <a:xfrm>
            <a:off x="8412480" y="3410712"/>
            <a:ext cx="128016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80">
                <a:solidFill>
                  <a:srgbClr val="000000"/>
                </a:solidFill>
                <a:latin typeface="Montserrat"/>
              </a:rPr>
              <a:t>0.93</a:t>
            </a:r>
          </a:p>
        </p:txBody>
      </p:sp>
      <p:sp>
        <p:nvSpPr>
          <p:cNvPr id="326" name="TextBox 325"/>
          <p:cNvSpPr txBox="1"/>
          <p:nvPr/>
        </p:nvSpPr>
        <p:spPr>
          <a:xfrm>
            <a:off x="7077456" y="3904487"/>
            <a:ext cx="14081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0E39A9"/>
                </a:solidFill>
                <a:latin typeface="Montserrat"/>
              </a:rPr>
              <a:t>Held-out averages | 4 gates → pass / review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2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Build and Run the Evaluation</a:t>
            </a:r>
          </a:p>
        </p:txBody>
      </p:sp>
      <p:sp>
        <p:nvSpPr>
          <p:cNvPr id="303" name="Rectangle 30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04" name="Table 303"/>
          <p:cNvGraphicFramePr>
            <a:graphicFrameLocks noGrp="1"/>
          </p:cNvGraphicFramePr>
          <p:nvPr/>
        </p:nvGraphicFramePr>
        <p:xfrm>
          <a:off x="530352" y="1261872"/>
          <a:ext cx="8083295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6208776"/>
              </a:tblGrid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19" b="1">
                          <a:solidFill>
                            <a:srgbClr val="FFFFFF"/>
                          </a:solidFill>
                          <a:latin typeface="Montserrat"/>
                        </a:rPr>
                        <a:t>Evidence</a:t>
                      </a:r>
                    </a:p>
                  </a:txBody>
                  <a:tcPr marL="54864" marR="54864" marT="18288" marB="18288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Evaluation progression and final 120/16 run</a:t>
                      </a:r>
                    </a:p>
                  </a:txBody>
                  <a:tcPr marL="54864" marR="54864" marT="18288" marB="18288">
                    <a:solidFill>
                      <a:srgbClr val="0E39A9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Initial baseline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7/10 passed | 120/16 token-safe chunking run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Improvement path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120/16 chunks | MMR 0.50 | CrossEncoder | property/topic routing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Notebook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Aurora_Stays_RAG_POC_Local_120_16_token_safe_executed.ipynb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Cases loaded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Montserrat"/>
                        </a:rPr>
                        <a:t>10 held-out cases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Pass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7/10 (70%)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Weighted composite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0.867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Configuration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k=5 | chunk 120/16 | MMR 0.50 | fetch_k=20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Evaluation loop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Montserrat"/>
                        </a:rPr>
                        <a:t>Each case runs retrieve → generate; all four metrics are computed per case, then aggregated.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Recorded artifact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reports/notebook_120_16_token_safe_test_cases.csv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5" name="TextBox 304"/>
          <p:cNvSpPr txBox="1"/>
          <p:nvPr/>
        </p:nvSpPr>
        <p:spPr>
          <a:xfrm>
            <a:off x="566928" y="4443984"/>
            <a:ext cx="7955279" cy="420624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r>
              <a:t>The executed 120/16 token-safe run is the final held-out result shown in the case-level table: 7/10 passed.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3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Load the Test Data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TextBox 311"/>
          <p:cNvSpPr txBox="1"/>
          <p:nvPr/>
        </p:nvSpPr>
        <p:spPr>
          <a:xfrm>
            <a:off x="694944" y="1444752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Held-out file: data/test.xlsx.</a:t>
            </a:r>
          </a:p>
        </p:txBody>
      </p:sp>
      <p:sp>
        <p:nvSpPr>
          <p:cNvPr id="313" name="Oval 312"/>
          <p:cNvSpPr/>
          <p:nvPr/>
        </p:nvSpPr>
        <p:spPr>
          <a:xfrm>
            <a:off x="402336" y="15453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TextBox 313"/>
          <p:cNvSpPr txBox="1"/>
          <p:nvPr/>
        </p:nvSpPr>
        <p:spPr>
          <a:xfrm>
            <a:off x="694944" y="1732788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10 unseen questions covering cancellation, discounts, room occupancy, accessibility, parking, breakfast, rate changes, checkout, pets, and incidental holds.</a:t>
            </a:r>
          </a:p>
        </p:txBody>
      </p:sp>
      <p:sp>
        <p:nvSpPr>
          <p:cNvPr id="315" name="Oval 314"/>
          <p:cNvSpPr/>
          <p:nvPr/>
        </p:nvSpPr>
        <p:spPr>
          <a:xfrm>
            <a:off x="402336" y="18333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TextBox 315"/>
          <p:cNvSpPr txBox="1"/>
          <p:nvPr/>
        </p:nvSpPr>
        <p:spPr>
          <a:xfrm>
            <a:off x="694944" y="24140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Sample question: How many people can stay in a Double Queen room?</a:t>
            </a:r>
          </a:p>
        </p:txBody>
      </p:sp>
      <p:sp>
        <p:nvSpPr>
          <p:cNvPr id="317" name="Oval 316"/>
          <p:cNvSpPr/>
          <p:nvPr/>
        </p:nvSpPr>
        <p:spPr>
          <a:xfrm>
            <a:off x="402336" y="25146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TextBox 317"/>
          <p:cNvSpPr txBox="1"/>
          <p:nvPr/>
        </p:nvSpPr>
        <p:spPr>
          <a:xfrm>
            <a:off x="694944" y="2894076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Expected answer: Up to 4 guests, subject to fire-code and property occupancy limits; recheck the room and rate if the group size changes.</a:t>
            </a:r>
          </a:p>
        </p:txBody>
      </p:sp>
      <p:sp>
        <p:nvSpPr>
          <p:cNvPr id="319" name="Oval 318"/>
          <p:cNvSpPr/>
          <p:nvPr/>
        </p:nvSpPr>
        <p:spPr>
          <a:xfrm>
            <a:off x="402336" y="29946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TextBox 319"/>
          <p:cNvSpPr txBox="1"/>
          <p:nvPr/>
        </p:nvSpPr>
        <p:spPr>
          <a:xfrm>
            <a:off x="694944" y="357530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held-out set is used only for final comparison and selection of the baseline.</a:t>
            </a:r>
          </a:p>
        </p:txBody>
      </p:sp>
      <p:sp>
        <p:nvSpPr>
          <p:cNvPr id="321" name="Oval 320"/>
          <p:cNvSpPr/>
          <p:nvPr/>
        </p:nvSpPr>
        <p:spPr>
          <a:xfrm>
            <a:off x="402336" y="367588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TextBox 32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54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Build and Run the Evaluation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20" name="Table 319"/>
          <p:cNvGraphicFramePr>
            <a:graphicFrameLocks noGrp="1"/>
          </p:cNvGraphicFramePr>
          <p:nvPr/>
        </p:nvGraphicFramePr>
        <p:xfrm>
          <a:off x="438912" y="1207008"/>
          <a:ext cx="6821424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768"/>
                <a:gridCol w="2743200"/>
                <a:gridCol w="530352"/>
                <a:gridCol w="530352"/>
                <a:gridCol w="530352"/>
                <a:gridCol w="530352"/>
                <a:gridCol w="777240"/>
                <a:gridCol w="749808"/>
              </a:tblGrid>
              <a:tr h="290945">
                <a:tc>
                  <a:txBody>
                    <a:bodyPr/>
                    <a:lstStyle/>
                    <a:p>
                      <a:r>
                        <a:t>Case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Test case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AR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Composite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Result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OTA cancellation/refund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0.977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0.901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0.771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0.978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0.917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Member discount/cancellation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0.997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0.967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0.797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0.995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0.949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Double Queen occupancy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1.000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0.986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0.950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0.998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0.986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Accessible King inclusions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0.985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0.887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0.384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0.601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0.764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FAIL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Atlanta/Miami parking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1.000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0.961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0.673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0.871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0.899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FAIL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Miami breakfast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0.991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0.003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0.000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0.259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0.399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FAIL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Advance Purchase change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0.980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0.991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0.887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0.984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0.965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Denver late checkout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1.000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1.000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0.820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0.885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0.941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ASH-CHI pet fee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0.995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0.861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0.766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1.000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0.917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</a:tr>
              <a:tr h="290950">
                <a:tc>
                  <a:txBody>
                    <a:bodyPr tIns="22860" bIns="22860"/>
                    <a:lstStyle/>
                    <a:p>
                      <a:r>
                        <a:rPr sz="700"/>
                        <a:t>10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 tIns="22860" bIns="22860"/>
                    <a:lstStyle/>
                    <a:p>
                      <a:r>
                        <a:rPr sz="700"/>
                        <a:t>Card-hold difference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 tIns="22860" bIns="22860"/>
                    <a:lstStyle/>
                    <a:p>
                      <a:r>
                        <a:rPr sz="700"/>
                        <a:t>0.992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 tIns="22860" bIns="22860"/>
                    <a:lstStyle/>
                    <a:p>
                      <a:r>
                        <a:rPr sz="700"/>
                        <a:t>0.946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 tIns="22860" bIns="22860"/>
                    <a:lstStyle/>
                    <a:p>
                      <a:r>
                        <a:rPr sz="700"/>
                        <a:t>0.814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 tIns="22860" bIns="22860"/>
                    <a:lstStyle/>
                    <a:p>
                      <a:r>
                        <a:rPr sz="700"/>
                        <a:t>0.930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 tIns="22860" bIns="22860"/>
                    <a:lstStyle/>
                    <a:p>
                      <a:r>
                        <a:rPr sz="700"/>
                        <a:t>0.933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 tIns="22860" bIns="22860"/>
                    <a:lstStyle/>
                    <a:p>
                      <a:r>
                        <a:rPr sz="700"/>
                        <a:t>PASS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</a:tr>
            </a:tbl>
          </a:graphicData>
        </a:graphic>
      </p:graphicFrame>
      <p:sp>
        <p:nvSpPr>
          <p:cNvPr id="321" name="TextBox 320"/>
          <p:cNvSpPr txBox="1"/>
          <p:nvPr/>
        </p:nvSpPr>
        <p:spPr>
          <a:xfrm>
            <a:off x="502920" y="4480560"/>
            <a:ext cx="8138160" cy="219456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r>
              <a:t>Transparent 120/16 result: 7/10 passed; weighted composite .867. Failed cases are Accessible King, Atlanta/Miami parking, and Miami breakfast.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502920" y="4727448"/>
            <a:ext cx="8138160" cy="219456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 i="1">
                <a:solidFill>
                  <a:srgbClr val="505050"/>
                </a:solidFill>
                <a:latin typeface="Montserrat"/>
              </a:rPr>
              <a:t>F = Faithfulness | R = Contextual Recall | P = Contextual Precision | AR = Answer Relevancy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55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Backend - Serialize the Vector Database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TextBox 327"/>
          <p:cNvSpPr txBox="1"/>
          <p:nvPr/>
        </p:nvSpPr>
        <p:spPr>
          <a:xfrm>
            <a:off x="694944" y="1325880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Backend artifact: backend/faiss_index/index.faiss.</a:t>
            </a:r>
          </a:p>
        </p:txBody>
      </p:sp>
      <p:sp>
        <p:nvSpPr>
          <p:cNvPr id="329" name="Oval 328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TextBox 329"/>
          <p:cNvSpPr txBox="1"/>
          <p:nvPr/>
        </p:nvSpPr>
        <p:spPr>
          <a:xfrm>
            <a:off x="694944" y="161391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Metadata and document store: backend/faiss_index/index.pkl.</a:t>
            </a:r>
          </a:p>
        </p:txBody>
      </p:sp>
      <p:sp>
        <p:nvSpPr>
          <p:cNvPr id="331" name="Oval 330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TextBox 331"/>
          <p:cNvSpPr txBox="1"/>
          <p:nvPr/>
        </p:nvSpPr>
        <p:spPr>
          <a:xfrm>
            <a:off x="694944" y="209397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r>
              <a:t>The persisted FAISS index contains 178 normalized vectors from the policy knowledge base.</a:t>
            </a:r>
          </a:p>
        </p:txBody>
      </p:sp>
      <p:sp>
        <p:nvSpPr>
          <p:cNvPr id="333" name="Oval 332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TextBox 333"/>
          <p:cNvSpPr txBox="1"/>
          <p:nvPr/>
        </p:nvSpPr>
        <p:spPr>
          <a:xfrm>
            <a:off x="694944" y="2574036"/>
            <a:ext cx="6080760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backend loads the trusted local artifact at startup; the Docker image copies the index into /app/faiss_index.</a:t>
            </a:r>
          </a:p>
        </p:txBody>
      </p:sp>
      <p:sp>
        <p:nvSpPr>
          <p:cNvPr id="335" name="Oval 334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TextBox 335"/>
          <p:cNvSpPr txBox="1"/>
          <p:nvPr/>
        </p:nvSpPr>
        <p:spPr>
          <a:xfrm>
            <a:off x="694944" y="3255264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artifact must be rebuilt whenever source documents, chunking, or embeddings change.</a:t>
            </a:r>
          </a:p>
        </p:txBody>
      </p:sp>
      <p:sp>
        <p:nvSpPr>
          <p:cNvPr id="337" name="Oval 336"/>
          <p:cNvSpPr/>
          <p:nvPr/>
        </p:nvSpPr>
        <p:spPr>
          <a:xfrm>
            <a:off x="402336" y="335584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ounded Rectangle 337"/>
          <p:cNvSpPr/>
          <p:nvPr/>
        </p:nvSpPr>
        <p:spPr>
          <a:xfrm>
            <a:off x="6967728" y="1783080"/>
            <a:ext cx="1627632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TextBox 338"/>
          <p:cNvSpPr txBox="1"/>
          <p:nvPr/>
        </p:nvSpPr>
        <p:spPr>
          <a:xfrm>
            <a:off x="7040880" y="1856231"/>
            <a:ext cx="14813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IMPLEMENTATION</a:t>
            </a:r>
          </a:p>
        </p:txBody>
      </p:sp>
      <p:sp>
        <p:nvSpPr>
          <p:cNvPr id="340" name="Rounded Rectangle 339"/>
          <p:cNvSpPr/>
          <p:nvPr/>
        </p:nvSpPr>
        <p:spPr>
          <a:xfrm>
            <a:off x="7114032" y="2295144"/>
            <a:ext cx="530352" cy="438912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FAISS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index</a:t>
            </a:r>
          </a:p>
        </p:txBody>
      </p:sp>
      <p:sp>
        <p:nvSpPr>
          <p:cNvPr id="341" name="Chevron 340"/>
          <p:cNvSpPr/>
          <p:nvPr/>
        </p:nvSpPr>
        <p:spPr>
          <a:xfrm>
            <a:off x="7680960" y="2432304"/>
            <a:ext cx="164592" cy="164592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ounded Rectangle 341"/>
          <p:cNvSpPr/>
          <p:nvPr/>
        </p:nvSpPr>
        <p:spPr>
          <a:xfrm>
            <a:off x="7882128" y="2295144"/>
            <a:ext cx="530352" cy="438912"/>
          </a:xfrm>
          <a:prstGeom prst="roundRect">
            <a:avLst/>
          </a:prstGeom>
          <a:solidFill>
            <a:srgbClr val="E6F7F6"/>
          </a:solidFill>
          <a:ln w="1016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Flask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API</a:t>
            </a:r>
          </a:p>
        </p:txBody>
      </p:sp>
      <p:sp>
        <p:nvSpPr>
          <p:cNvPr id="343" name="Chevron 342"/>
          <p:cNvSpPr/>
          <p:nvPr/>
        </p:nvSpPr>
        <p:spPr>
          <a:xfrm>
            <a:off x="7680960" y="2944368"/>
            <a:ext cx="164592" cy="164592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ounded Rectangle 343"/>
          <p:cNvSpPr/>
          <p:nvPr/>
        </p:nvSpPr>
        <p:spPr>
          <a:xfrm>
            <a:off x="7516368" y="3218688"/>
            <a:ext cx="713232" cy="438912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Streamlit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UI</a:t>
            </a:r>
          </a:p>
        </p:txBody>
      </p:sp>
      <p:sp>
        <p:nvSpPr>
          <p:cNvPr id="345" name="Rounded Rectangle 344"/>
          <p:cNvSpPr/>
          <p:nvPr/>
        </p:nvSpPr>
        <p:spPr>
          <a:xfrm>
            <a:off x="7333488" y="3886200"/>
            <a:ext cx="896112" cy="347472"/>
          </a:xfrm>
          <a:prstGeom prst="roundRect">
            <a:avLst/>
          </a:prstGeom>
          <a:solidFill>
            <a:srgbClr val="FFF5E0"/>
          </a:solidFill>
          <a:ln w="10160">
            <a:solidFill>
              <a:srgbClr val="CA9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Docker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Codespaces</a:t>
            </a:r>
          </a:p>
        </p:txBody>
      </p:sp>
      <p:sp>
        <p:nvSpPr>
          <p:cNvPr id="346" name="TextBox 345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56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Backend - Define the Flask Application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TextBox 335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Service entry point: backend/app.py; production command uses Gunicorn and app:rag_api.</a:t>
            </a:r>
          </a:p>
        </p:txBody>
      </p:sp>
      <p:sp>
        <p:nvSpPr>
          <p:cNvPr id="337" name="Oval 33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TextBox 337"/>
          <p:cNvSpPr txBox="1"/>
          <p:nvPr/>
        </p:nvSpPr>
        <p:spPr>
          <a:xfrm>
            <a:off x="694944" y="1805940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POST /v1/relevant_chunks returns the top-k retrieved policy chunks; answer endpoints return generated output with optional evidence.</a:t>
            </a:r>
          </a:p>
        </p:txBody>
      </p:sp>
      <p:sp>
        <p:nvSpPr>
          <p:cNvPr id="339" name="Oval 338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TextBox 339"/>
          <p:cNvSpPr txBox="1"/>
          <p:nvPr/>
        </p:nvSpPr>
        <p:spPr>
          <a:xfrm>
            <a:off x="694944" y="2487168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Request validation rejects missing/non-JSON bodies, blank queries, invalid k, and out-of-range generation parameters with JSON HTTP 400 responses.</a:t>
            </a:r>
          </a:p>
        </p:txBody>
      </p:sp>
      <p:sp>
        <p:nvSpPr>
          <p:cNvPr id="341" name="Oval 340"/>
          <p:cNvSpPr/>
          <p:nvPr/>
        </p:nvSpPr>
        <p:spPr>
          <a:xfrm>
            <a:off x="402336" y="258775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TextBox 341"/>
          <p:cNvSpPr txBox="1"/>
          <p:nvPr/>
        </p:nvSpPr>
        <p:spPr>
          <a:xfrm>
            <a:off x="694944" y="3168396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Unexpected inference failures are logged server-side and returned as a generic JSON HTTP 500 response; 404/405 errors also use JSON responses.</a:t>
            </a:r>
          </a:p>
        </p:txBody>
      </p:sp>
      <p:sp>
        <p:nvSpPr>
          <p:cNvPr id="343" name="Oval 342"/>
          <p:cNvSpPr/>
          <p:nvPr/>
        </p:nvSpPr>
        <p:spPr>
          <a:xfrm>
            <a:off x="402336" y="326898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694944" y="384962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GET / returns a readiness message; container binding is 0.0.0.0:7860 and local smoke tests use port 5000.</a:t>
            </a:r>
          </a:p>
        </p:txBody>
      </p:sp>
      <p:sp>
        <p:nvSpPr>
          <p:cNvPr id="345" name="Oval 344"/>
          <p:cNvSpPr/>
          <p:nvPr/>
        </p:nvSpPr>
        <p:spPr>
          <a:xfrm>
            <a:off x="402336" y="395020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TextBox 345"/>
          <p:cNvSpPr txBox="1"/>
          <p:nvPr/>
        </p:nvSpPr>
        <p:spPr>
          <a:xfrm>
            <a:off x="694944" y="4329684"/>
            <a:ext cx="6729984" cy="352043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Defaults: k=5, gpt-4o-mini, temperature=0.0, top_p=1.0, max_tokens=512.</a:t>
            </a:r>
          </a:p>
        </p:txBody>
      </p:sp>
      <p:sp>
        <p:nvSpPr>
          <p:cNvPr id="347" name="Oval 346"/>
          <p:cNvSpPr/>
          <p:nvPr/>
        </p:nvSpPr>
        <p:spPr>
          <a:xfrm>
            <a:off x="402336" y="443026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57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Backend - Define the Dependencies</a:t>
            </a:r>
          </a:p>
        </p:txBody>
      </p:sp>
      <p:sp>
        <p:nvSpPr>
          <p:cNvPr id="343" name="Rectangle 34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All runtime dependencies are version-pinned in backend/requirements.txt.</a:t>
            </a:r>
          </a:p>
        </p:txBody>
      </p:sp>
      <p:sp>
        <p:nvSpPr>
          <p:cNvPr id="345" name="Oval 34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TextBox 345"/>
          <p:cNvSpPr txBox="1"/>
          <p:nvPr/>
        </p:nvSpPr>
        <p:spPr>
          <a:xfrm>
            <a:off x="694944" y="18059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Flask 3.1.3, Werkzeug 3.1.8, requests 2.34.2, Gunicorn 26.2.0, and uvicorn 0.52.3.</a:t>
            </a:r>
          </a:p>
        </p:txBody>
      </p:sp>
      <p:sp>
        <p:nvSpPr>
          <p:cNvPr id="347" name="Oval 346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694944" y="2286000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LangChain HuggingFace 1.2.2, Community 0.4.2, OpenAI 1.6.1, sentence-transformers 6.1.0, faiss-cpu 1.15.0, truststore 0.10.4.</a:t>
            </a:r>
          </a:p>
        </p:txBody>
      </p:sp>
      <p:sp>
        <p:nvSpPr>
          <p:cNvPr id="349" name="Oval 348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TextBox 349"/>
          <p:cNvSpPr txBox="1"/>
          <p:nvPr/>
        </p:nvSpPr>
        <p:spPr>
          <a:xfrm>
            <a:off x="694944" y="296722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Docker pins torch 2.14.0 from the CPU-only PyTorch index before installing the requirements file.</a:t>
            </a:r>
          </a:p>
        </p:txBody>
      </p:sp>
      <p:sp>
        <p:nvSpPr>
          <p:cNvPr id="351" name="Oval 350"/>
          <p:cNvSpPr/>
          <p:nvPr/>
        </p:nvSpPr>
        <p:spPr>
          <a:xfrm>
            <a:off x="402336" y="306781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694944" y="344728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The embedding model is cached during image build so runtime can use offline mode.</a:t>
            </a:r>
          </a:p>
        </p:txBody>
      </p:sp>
      <p:sp>
        <p:nvSpPr>
          <p:cNvPr id="353" name="Oval 352"/>
          <p:cNvSpPr/>
          <p:nvPr/>
        </p:nvSpPr>
        <p:spPr>
          <a:xfrm>
            <a:off x="402336" y="35478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TextBox 353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8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Backend - Define the Dockerfile</a:t>
            </a:r>
          </a:p>
        </p:txBody>
      </p:sp>
      <p:sp>
        <p:nvSpPr>
          <p:cNvPr id="351" name="Rectangle 35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Base image: python:3.13.15-slim; copies the backend application, FAISS artifact, and pinned requirements into /app.</a:t>
            </a:r>
          </a:p>
        </p:txBody>
      </p:sp>
      <p:sp>
        <p:nvSpPr>
          <p:cNvPr id="353" name="Oval 35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TextBox 353"/>
          <p:cNvSpPr txBox="1"/>
          <p:nvPr/>
        </p:nvSpPr>
        <p:spPr>
          <a:xfrm>
            <a:off x="694944" y="18059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Installs pinned CPU-only torch 2.14.0 and all pinned backend dependencies without pip cache.</a:t>
            </a:r>
          </a:p>
        </p:txBody>
      </p:sp>
      <p:sp>
        <p:nvSpPr>
          <p:cNvPr id="355" name="Oval 354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694944" y="228600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Downloads HarishMaths/Hotel-Policy-Embedding at build time and sets HF_HOME=/app/huggingface.</a:t>
            </a:r>
          </a:p>
        </p:txBody>
      </p:sp>
      <p:sp>
        <p:nvSpPr>
          <p:cNvPr id="357" name="Oval 356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TextBox 357"/>
          <p:cNvSpPr txBox="1"/>
          <p:nvPr/>
        </p:nvSpPr>
        <p:spPr>
          <a:xfrm>
            <a:off x="694944" y="276606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TRANSFORMERS_OFFLINE=1 and HF_HUB_OFFLINE=1 prevent runtime model downloads; EXPOSE 7860 receives Codespaces traffic.</a:t>
            </a:r>
          </a:p>
        </p:txBody>
      </p:sp>
      <p:sp>
        <p:nvSpPr>
          <p:cNvPr id="359" name="Oval 358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694944" y="324612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Docker command: gunicorn -w 1 --timeout 120 -b 0.0.0.0:7860 app:rag_api.</a:t>
            </a:r>
          </a:p>
        </p:txBody>
      </p:sp>
      <p:sp>
        <p:nvSpPr>
          <p:cNvPr id="361" name="Oval 360"/>
          <p:cNvSpPr/>
          <p:nvPr/>
        </p:nvSpPr>
        <p:spPr>
          <a:xfrm>
            <a:off x="402336" y="334670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TextBox 36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9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Frontend - Define the Streamlit App</a:t>
            </a:r>
          </a:p>
        </p:txBody>
      </p:sp>
      <p:sp>
        <p:nvSpPr>
          <p:cNvPr id="359" name="Rectangle 35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694944" y="132588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Frontend entry point: frontend/app.py; it provides the Aurora Stays question-and-answer interface.</a:t>
            </a:r>
          </a:p>
        </p:txBody>
      </p:sp>
      <p:sp>
        <p:nvSpPr>
          <p:cNvPr id="361" name="Oval 360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TextBox 361"/>
          <p:cNvSpPr txBox="1"/>
          <p:nvPr/>
        </p:nvSpPr>
        <p:spPr>
          <a:xfrm>
            <a:off x="694944" y="180594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Sidebar controls: k from 1 to 10, temperature from 0.0 to 1.0, and max_tokens from 64 to 2048.</a:t>
            </a:r>
          </a:p>
        </p:txBody>
      </p:sp>
      <p:sp>
        <p:nvSpPr>
          <p:cNvPr id="363" name="Oval 362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694944" y="228600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Users can select Answer only or Answer + Relevant Chunks.</a:t>
            </a:r>
          </a:p>
        </p:txBody>
      </p:sp>
      <p:sp>
        <p:nvSpPr>
          <p:cNvPr id="365" name="Oval 364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TextBox 365"/>
          <p:cNvSpPr txBox="1"/>
          <p:nvPr/>
        </p:nvSpPr>
        <p:spPr>
          <a:xfrm>
            <a:off x="694944" y="276606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backend address is supplied through BACKEND_URL; Docker uses port 7860 while local smoke tests may use port 5000.</a:t>
            </a:r>
          </a:p>
        </p:txBody>
      </p:sp>
      <p:sp>
        <p:nvSpPr>
          <p:cNvPr id="367" name="Oval 366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694944" y="3246120"/>
            <a:ext cx="6080760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interface displays the answer, retrieved evidence, and a clear API connectivity error when the backend is unavailable.</a:t>
            </a:r>
          </a:p>
        </p:txBody>
      </p:sp>
      <p:sp>
        <p:nvSpPr>
          <p:cNvPr id="369" name="Oval 368"/>
          <p:cNvSpPr/>
          <p:nvPr/>
        </p:nvSpPr>
        <p:spPr>
          <a:xfrm>
            <a:off x="402336" y="334670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TextBox 369"/>
          <p:cNvSpPr txBox="1"/>
          <p:nvPr/>
        </p:nvSpPr>
        <p:spPr>
          <a:xfrm>
            <a:off x="694944" y="3927348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Validated in Codespaces with Streamlit on port 8501 and the Dockerized Flask API on port 7860.</a:t>
            </a:r>
          </a:p>
        </p:txBody>
      </p:sp>
      <p:sp>
        <p:nvSpPr>
          <p:cNvPr id="371" name="Oval 370"/>
          <p:cNvSpPr/>
          <p:nvPr/>
        </p:nvSpPr>
        <p:spPr>
          <a:xfrm>
            <a:off x="402336" y="40279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2" name="Picture 371" descr="team_collaboration_faces.jpg"/>
          <p:cNvPicPr>
            <a:picLocks noChangeAspect="1"/>
          </p:cNvPicPr>
          <p:nvPr/>
        </p:nvPicPr>
        <p:blipFill>
          <a:blip r:embed="rId3"/>
          <a:srcRect l="7574" r="7574"/>
          <a:stretch>
            <a:fillRect/>
          </a:stretch>
        </p:blipFill>
        <p:spPr>
          <a:xfrm>
            <a:off x="6967728" y="3346704"/>
            <a:ext cx="1627632" cy="1078992"/>
          </a:xfrm>
          <a:prstGeom prst="rect">
            <a:avLst/>
          </a:prstGeom>
          <a:ln w="12700">
            <a:solidFill>
              <a:srgbClr val="BECBE8"/>
            </a:solidFill>
          </a:ln>
        </p:spPr>
      </p:pic>
      <p:sp>
        <p:nvSpPr>
          <p:cNvPr id="373" name="TextBox 372"/>
          <p:cNvSpPr txBox="1"/>
          <p:nvPr/>
        </p:nvSpPr>
        <p:spPr>
          <a:xfrm>
            <a:off x="6830568" y="4453128"/>
            <a:ext cx="1764792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80" i="1">
                <a:solidFill>
                  <a:srgbClr val="6E6E6E"/>
                </a:solidFill>
                <a:latin typeface="Montserrat"/>
              </a:rPr>
              <a:t>Photo: Unsplash</a:t>
            </a:r>
          </a:p>
        </p:txBody>
      </p:sp>
      <p:sp>
        <p:nvSpPr>
          <p:cNvPr id="374" name="TextBox 373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60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Frontend - Define the Dockerfile</a:t>
            </a:r>
          </a:p>
        </p:txBody>
      </p:sp>
      <p:sp>
        <p:nvSpPr>
          <p:cNvPr id="367" name="Rectangle 36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Base image: python:3.13.15-slim.</a:t>
            </a:r>
          </a:p>
        </p:txBody>
      </p:sp>
      <p:sp>
        <p:nvSpPr>
          <p:cNvPr id="369" name="Oval 368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TextBox 369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Copies the Streamlit application and installs requests 2.34.2 and streamlit 1.64.0.</a:t>
            </a:r>
          </a:p>
        </p:txBody>
      </p:sp>
      <p:sp>
        <p:nvSpPr>
          <p:cNvPr id="371" name="Oval 370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TextBox 371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Binds Streamlit to 0.0.0.0:8501 for Codespaces or container access; EXPOSE 8501 makes the service discoverable.</a:t>
            </a:r>
          </a:p>
        </p:txBody>
      </p:sp>
      <p:sp>
        <p:nvSpPr>
          <p:cNvPr id="373" name="Oval 372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TextBox 373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Docker command: streamlit run app.py --server.port=8501 --server.address=0.0.0.0.</a:t>
            </a:r>
          </a:p>
        </p:txBody>
      </p:sp>
      <p:sp>
        <p:nvSpPr>
          <p:cNvPr id="375" name="Oval 374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694944" y="3054096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Clarification: 0.0.0.0:8501 is the container bind address; users open the browser-facing Codespaces/public forwarded URL, not 0.0.0.0 directly.</a:t>
            </a:r>
          </a:p>
        </p:txBody>
      </p:sp>
      <p:sp>
        <p:nvSpPr>
          <p:cNvPr id="377" name="Oval 376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TextBox 377"/>
          <p:cNvSpPr txBox="1"/>
          <p:nvPr/>
        </p:nvSpPr>
        <p:spPr>
          <a:xfrm>
            <a:off x="694944" y="373532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XSRF protection is disabled in the supplied deployment command to simplify external access.</a:t>
            </a:r>
          </a:p>
        </p:txBody>
      </p:sp>
      <p:sp>
        <p:nvSpPr>
          <p:cNvPr id="379" name="Oval 378"/>
          <p:cNvSpPr/>
          <p:nvPr/>
        </p:nvSpPr>
        <p:spPr>
          <a:xfrm>
            <a:off x="402336" y="383590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TextBox 379"/>
          <p:cNvSpPr txBox="1"/>
          <p:nvPr/>
        </p:nvSpPr>
        <p:spPr>
          <a:xfrm>
            <a:off x="694944" y="421538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image defaults BACKEND_URL to http://host.docker.internal:7860; override it with the backend Codespace URL when needed.</a:t>
            </a:r>
          </a:p>
        </p:txBody>
      </p:sp>
      <p:sp>
        <p:nvSpPr>
          <p:cNvPr id="381" name="Oval 380"/>
          <p:cNvSpPr/>
          <p:nvPr/>
        </p:nvSpPr>
        <p:spPr>
          <a:xfrm>
            <a:off x="402336" y="431596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TextBox 38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61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Frontend - Push the Files to GitHub</a:t>
            </a:r>
          </a:p>
        </p:txBody>
      </p:sp>
      <p:sp>
        <p:nvSpPr>
          <p:cNvPr id="375" name="Rectangle 37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694944" y="1325880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Repository: github.com/raovutukoor1/aurora-stay-qna-120-token-option.</a:t>
            </a:r>
          </a:p>
        </p:txBody>
      </p:sp>
      <p:sp>
        <p:nvSpPr>
          <p:cNvPr id="377" name="Oval 37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TextBox 377"/>
          <p:cNvSpPr txBox="1"/>
          <p:nvPr/>
        </p:nvSpPr>
        <p:spPr>
          <a:xfrm>
            <a:off x="694944" y="161391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Current deployment commit: d7a7e3f — fixed the 120-token Docker runtime configuration.</a:t>
            </a:r>
          </a:p>
        </p:txBody>
      </p:sp>
      <p:sp>
        <p:nvSpPr>
          <p:cNvPr id="379" name="Oval 378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TextBox 379"/>
          <p:cNvSpPr txBox="1"/>
          <p:nvPr/>
        </p:nvSpPr>
        <p:spPr>
          <a:xfrm>
            <a:off x="694944" y="2093976"/>
            <a:ext cx="6080760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Reproducible tree: backend/app.py, rag_utils.py, Dockerfile, backend/requirements.txt, and FAISS artifacts; frontend/app.py, Dockerfile, and its dependency manifest.</a:t>
            </a:r>
          </a:p>
        </p:txBody>
      </p:sp>
      <p:sp>
        <p:nvSpPr>
          <p:cNvPr id="381" name="Oval 380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TextBox 381"/>
          <p:cNvSpPr txBox="1"/>
          <p:nvPr/>
        </p:nvSpPr>
        <p:spPr>
          <a:xfrm>
            <a:off x="694944" y="2775204"/>
            <a:ext cx="6080760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r>
              <a:t>Evaluation artifacts: executed 120/16 notebook and reports/notebook_120_16_token_safe_test_cases.csv; presentation source and generated PPTX/PDF are retained.</a:t>
            </a:r>
          </a:p>
        </p:txBody>
      </p:sp>
      <p:sp>
        <p:nvSpPr>
          <p:cNvPr id="383" name="Oval 382"/>
          <p:cNvSpPr/>
          <p:nvPr/>
        </p:nvSpPr>
        <p:spPr>
          <a:xfrm>
            <a:off x="402336" y="287578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TextBox 383"/>
          <p:cNvSpPr txBox="1"/>
          <p:nvPr/>
        </p:nvSpPr>
        <p:spPr>
          <a:xfrm>
            <a:off x="694944" y="3456432"/>
            <a:ext cx="6080760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Runtime configuration: OPENAI_API_KEY and OPENAI_BASE_URL come from Codespaces Secrets or a private local config; credentials are not tracked.</a:t>
            </a:r>
          </a:p>
        </p:txBody>
      </p:sp>
      <p:sp>
        <p:nvSpPr>
          <p:cNvPr id="385" name="Oval 384"/>
          <p:cNvSpPr/>
          <p:nvPr/>
        </p:nvSpPr>
        <p:spPr>
          <a:xfrm>
            <a:off x="402336" y="355701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TextBox 385"/>
          <p:cNvSpPr txBox="1"/>
          <p:nvPr/>
        </p:nvSpPr>
        <p:spPr>
          <a:xfrm>
            <a:off x="694944" y="4137660"/>
            <a:ext cx="6080760" cy="544067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A fresh deployment can therefore rebuild the index-backed backend and Streamlit frontend without missing code, artifacts, or configuration guidance.</a:t>
            </a:r>
          </a:p>
        </p:txBody>
      </p:sp>
      <p:sp>
        <p:nvSpPr>
          <p:cNvPr id="387" name="Oval 386"/>
          <p:cNvSpPr/>
          <p:nvPr/>
        </p:nvSpPr>
        <p:spPr>
          <a:xfrm>
            <a:off x="402336" y="42382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ounded Rectangle 387"/>
          <p:cNvSpPr/>
          <p:nvPr/>
        </p:nvSpPr>
        <p:spPr>
          <a:xfrm>
            <a:off x="6903720" y="1783080"/>
            <a:ext cx="1700784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6976872" y="1856231"/>
            <a:ext cx="1554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DEPLOYMENT FLOW</a:t>
            </a:r>
          </a:p>
        </p:txBody>
      </p:sp>
      <p:sp>
        <p:nvSpPr>
          <p:cNvPr id="390" name="Rounded Rectangle 389"/>
          <p:cNvSpPr/>
          <p:nvPr/>
        </p:nvSpPr>
        <p:spPr>
          <a:xfrm>
            <a:off x="7242048" y="2203704"/>
            <a:ext cx="1024128" cy="393192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GitHub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repository</a:t>
            </a:r>
          </a:p>
        </p:txBody>
      </p:sp>
      <p:sp>
        <p:nvSpPr>
          <p:cNvPr id="391" name="Chevron 390"/>
          <p:cNvSpPr/>
          <p:nvPr/>
        </p:nvSpPr>
        <p:spPr>
          <a:xfrm>
            <a:off x="7671816" y="2660904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Rounded Rectangle 391"/>
          <p:cNvSpPr/>
          <p:nvPr/>
        </p:nvSpPr>
        <p:spPr>
          <a:xfrm>
            <a:off x="7242048" y="2834639"/>
            <a:ext cx="1024128" cy="393192"/>
          </a:xfrm>
          <a:prstGeom prst="roundRect">
            <a:avLst/>
          </a:prstGeom>
          <a:solidFill>
            <a:srgbClr val="E6F7F6"/>
          </a:solidFill>
          <a:ln w="1016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Codespace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container</a:t>
            </a:r>
          </a:p>
        </p:txBody>
      </p:sp>
      <p:sp>
        <p:nvSpPr>
          <p:cNvPr id="393" name="Chevron 392"/>
          <p:cNvSpPr/>
          <p:nvPr/>
        </p:nvSpPr>
        <p:spPr>
          <a:xfrm>
            <a:off x="7671816" y="3291839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Rounded Rectangle 393"/>
          <p:cNvSpPr/>
          <p:nvPr/>
        </p:nvSpPr>
        <p:spPr>
          <a:xfrm>
            <a:off x="7242048" y="3465576"/>
            <a:ext cx="1024128" cy="393192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Streamlit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UI</a:t>
            </a:r>
          </a:p>
        </p:txBody>
      </p:sp>
      <p:sp>
        <p:nvSpPr>
          <p:cNvPr id="395" name="Chevron 394"/>
          <p:cNvSpPr/>
          <p:nvPr/>
        </p:nvSpPr>
        <p:spPr>
          <a:xfrm>
            <a:off x="7671816" y="3922776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Rounded Rectangle 395"/>
          <p:cNvSpPr/>
          <p:nvPr/>
        </p:nvSpPr>
        <p:spPr>
          <a:xfrm>
            <a:off x="7242048" y="4059936"/>
            <a:ext cx="1024128" cy="292608"/>
          </a:xfrm>
          <a:prstGeom prst="roundRect">
            <a:avLst/>
          </a:prstGeom>
          <a:solidFill>
            <a:srgbClr val="FFF5E0"/>
          </a:solidFill>
          <a:ln w="10160">
            <a:solidFill>
              <a:srgbClr val="CA9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90" b="1">
                <a:solidFill>
                  <a:srgbClr val="000000"/>
                </a:solidFill>
                <a:latin typeface="Montserrat"/>
              </a:rPr>
              <a:t>Forwarded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90" b="1">
                <a:solidFill>
                  <a:srgbClr val="000000"/>
                </a:solidFill>
                <a:latin typeface="Montserrat"/>
              </a:rPr>
              <a:t>port 8501</a:t>
            </a:r>
          </a:p>
        </p:txBody>
      </p:sp>
      <p:sp>
        <p:nvSpPr>
          <p:cNvPr id="397" name="TextBox 396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62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Inference - Define the Forwarded URL</a:t>
            </a:r>
          </a:p>
        </p:txBody>
      </p:sp>
      <p:sp>
        <p:nvSpPr>
          <p:cNvPr id="383" name="Rectangle 38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TextBox 383"/>
          <p:cNvSpPr txBox="1"/>
          <p:nvPr/>
        </p:nvSpPr>
        <p:spPr>
          <a:xfrm>
            <a:off x="694944" y="132588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In GitHub Codespaces, open the Ports panel and forward the Streamlit port 8501.</a:t>
            </a:r>
          </a:p>
        </p:txBody>
      </p:sp>
      <p:sp>
        <p:nvSpPr>
          <p:cNvPr id="385" name="Oval 38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TextBox 385"/>
          <p:cNvSpPr txBox="1"/>
          <p:nvPr/>
        </p:nvSpPr>
        <p:spPr>
          <a:xfrm>
            <a:off x="694944" y="180594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public URL is generated per Codespace session; it is not hard-coded in the repository.</a:t>
            </a:r>
          </a:p>
        </p:txBody>
      </p:sp>
      <p:sp>
        <p:nvSpPr>
          <p:cNvPr id="387" name="Oval 386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TextBox 387"/>
          <p:cNvSpPr txBox="1"/>
          <p:nvPr/>
        </p:nvSpPr>
        <p:spPr>
          <a:xfrm>
            <a:off x="694944" y="228600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Set BACKEND_URL to the backend service URL or its forwarded port before starting Streamlit.</a:t>
            </a:r>
          </a:p>
        </p:txBody>
      </p:sp>
      <p:sp>
        <p:nvSpPr>
          <p:cNvPr id="389" name="Oval 388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TextBox 389"/>
          <p:cNvSpPr txBox="1"/>
          <p:nvPr/>
        </p:nvSpPr>
        <p:spPr>
          <a:xfrm>
            <a:off x="694944" y="276606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Validated public endpoints: frontend port 8501 and backend port 7860; both returned HTTP 200.</a:t>
            </a:r>
          </a:p>
        </p:txBody>
      </p:sp>
      <p:sp>
        <p:nvSpPr>
          <p:cNvPr id="391" name="Oval 390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TextBox 391"/>
          <p:cNvSpPr txBox="1"/>
          <p:nvPr/>
        </p:nvSpPr>
        <p:spPr>
          <a:xfrm>
            <a:off x="694944" y="324612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Production smoke tests used the parking-fee query and the ASH-CHI Loop pet-charge query.</a:t>
            </a:r>
          </a:p>
        </p:txBody>
      </p:sp>
      <p:sp>
        <p:nvSpPr>
          <p:cNvPr id="393" name="Oval 392"/>
          <p:cNvSpPr/>
          <p:nvPr/>
        </p:nvSpPr>
        <p:spPr>
          <a:xfrm>
            <a:off x="402336" y="334670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TextBox 393"/>
          <p:cNvSpPr txBox="1"/>
          <p:nvPr/>
        </p:nvSpPr>
        <p:spPr>
          <a:xfrm>
            <a:off x="694944" y="372618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API keys belong in Codespaces Secrets or a private local config file, never in the forwarded URL or source code.</a:t>
            </a:r>
          </a:p>
        </p:txBody>
      </p:sp>
      <p:sp>
        <p:nvSpPr>
          <p:cNvPr id="395" name="Oval 394"/>
          <p:cNvSpPr/>
          <p:nvPr/>
        </p:nvSpPr>
        <p:spPr>
          <a:xfrm>
            <a:off x="402336" y="38267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6" name="Picture 395" descr="deployment_professional.jpg"/>
          <p:cNvPicPr>
            <a:picLocks noChangeAspect="1"/>
          </p:cNvPicPr>
          <p:nvPr/>
        </p:nvPicPr>
        <p:blipFill>
          <a:blip r:embed="rId3"/>
          <a:srcRect l="7574" r="7574"/>
          <a:stretch>
            <a:fillRect/>
          </a:stretch>
        </p:blipFill>
        <p:spPr>
          <a:xfrm>
            <a:off x="6967728" y="3291840"/>
            <a:ext cx="1627632" cy="1078992"/>
          </a:xfrm>
          <a:prstGeom prst="rect">
            <a:avLst/>
          </a:prstGeom>
          <a:ln w="12700">
            <a:solidFill>
              <a:srgbClr val="BECBE8"/>
            </a:solidFill>
          </a:ln>
        </p:spPr>
      </p:pic>
      <p:sp>
        <p:nvSpPr>
          <p:cNvPr id="397" name="TextBox 396"/>
          <p:cNvSpPr txBox="1"/>
          <p:nvPr/>
        </p:nvSpPr>
        <p:spPr>
          <a:xfrm>
            <a:off x="6830568" y="4398264"/>
            <a:ext cx="1764792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80" i="1">
                <a:solidFill>
                  <a:srgbClr val="6E6E6E"/>
                </a:solidFill>
                <a:latin typeface="Montserrat"/>
              </a:rPr>
              <a:t>Photo: Unsplash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63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Inference - Relevant Chunks</a:t>
            </a:r>
          </a:p>
        </p:txBody>
      </p:sp>
      <p:sp>
        <p:nvSpPr>
          <p:cNvPr id="391" name="Rectangle 39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TextBox 391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Endpoint: POST {BACKEND_URL}/v1/relevant_chunks.</a:t>
            </a:r>
          </a:p>
        </p:txBody>
      </p:sp>
      <p:sp>
        <p:nvSpPr>
          <p:cNvPr id="393" name="Oval 39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TextBox 393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Payload: {"query": "What are the parking fees at the Atlanta and Miami hotels?", "k": 5}.</a:t>
            </a:r>
          </a:p>
        </p:txBody>
      </p:sp>
      <p:sp>
        <p:nvSpPr>
          <p:cNvPr id="395" name="Oval 394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TextBox 395"/>
          <p:cNvSpPr txBox="1"/>
          <p:nvPr/>
        </p:nvSpPr>
        <p:spPr>
          <a:xfrm>
            <a:off x="694944" y="209397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Response fields: query, k, and relevant_chunks.</a:t>
            </a:r>
          </a:p>
        </p:txBody>
      </p:sp>
      <p:sp>
        <p:nvSpPr>
          <p:cNvPr id="397" name="Oval 396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TextBox 397"/>
          <p:cNvSpPr txBox="1"/>
          <p:nvPr/>
        </p:nvSpPr>
        <p:spPr>
          <a:xfrm>
            <a:off x="694944" y="2382012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Response excerpt: relevant_chunks include ASH-ATL Midtown self parking at $28 per night and ASH-MIA Brickell valet at $55 per night.</a:t>
            </a:r>
          </a:p>
        </p:txBody>
      </p:sp>
      <p:sp>
        <p:nvSpPr>
          <p:cNvPr id="399" name="Oval 398"/>
          <p:cNvSpPr/>
          <p:nvPr/>
        </p:nvSpPr>
        <p:spPr>
          <a:xfrm>
            <a:off x="402336" y="248259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TextBox 399"/>
          <p:cNvSpPr txBox="1"/>
          <p:nvPr/>
        </p:nvSpPr>
        <p:spPr>
          <a:xfrm>
            <a:off x="694944" y="30632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This endpoint is useful for checking retrieval quality before evaluating the generated answer.</a:t>
            </a:r>
          </a:p>
        </p:txBody>
      </p:sp>
      <p:sp>
        <p:nvSpPr>
          <p:cNvPr id="401" name="Oval 400"/>
          <p:cNvSpPr/>
          <p:nvPr/>
        </p:nvSpPr>
        <p:spPr>
          <a:xfrm>
            <a:off x="402336" y="31638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TextBox 40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64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Inference - Answer with Relevant Chunks</a:t>
            </a:r>
          </a:p>
        </p:txBody>
      </p:sp>
      <p:sp>
        <p:nvSpPr>
          <p:cNvPr id="399" name="Rectangle 39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TextBox 399"/>
          <p:cNvSpPr txBox="1"/>
          <p:nvPr/>
        </p:nvSpPr>
        <p:spPr>
          <a:xfrm>
            <a:off x="694944" y="1325880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Endpoint: POST {BACKEND_URL}/v1/answer_with_relevant_chunks; payload includes query, k=5, temperature=0.0, and max_tokens=512.</a:t>
            </a:r>
          </a:p>
        </p:txBody>
      </p:sp>
      <p:sp>
        <p:nvSpPr>
          <p:cNvPr id="401" name="Oval 400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TextBox 401"/>
          <p:cNvSpPr txBox="1"/>
          <p:nvPr/>
        </p:nvSpPr>
        <p:spPr>
          <a:xfrm>
            <a:off x="694944" y="200710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Response includes the answer, model name, parameters, and supporting evidence chunks.</a:t>
            </a:r>
          </a:p>
        </p:txBody>
      </p:sp>
      <p:sp>
        <p:nvSpPr>
          <p:cNvPr id="403" name="Oval 402"/>
          <p:cNvSpPr/>
          <p:nvPr/>
        </p:nvSpPr>
        <p:spPr>
          <a:xfrm>
            <a:off x="402336" y="210769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TextBox 403"/>
          <p:cNvSpPr txBox="1"/>
          <p:nvPr/>
        </p:nvSpPr>
        <p:spPr>
          <a:xfrm>
            <a:off x="694944" y="248716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Live Codespaces smoke tests: frontend HTTP 200, backend readiness HTTP 200, answer HTTP 200, and answer-with-evidence HTTP 200 with 3 evidence chunks.</a:t>
            </a:r>
          </a:p>
        </p:txBody>
      </p:sp>
      <p:sp>
        <p:nvSpPr>
          <p:cNvPr id="405" name="Oval 404"/>
          <p:cNvSpPr/>
          <p:nvPr/>
        </p:nvSpPr>
        <p:spPr>
          <a:xfrm>
            <a:off x="402336" y="258775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TextBox 405"/>
          <p:cNvSpPr txBox="1"/>
          <p:nvPr/>
        </p:nvSpPr>
        <p:spPr>
          <a:xfrm>
            <a:off x="694944" y="296722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Parking: Atlanta self-parking $28/night and Miami valet $55/night; evidence returned.</a:t>
            </a:r>
          </a:p>
        </p:txBody>
      </p:sp>
      <p:sp>
        <p:nvSpPr>
          <p:cNvPr id="407" name="Oval 406"/>
          <p:cNvSpPr/>
          <p:nvPr/>
        </p:nvSpPr>
        <p:spPr>
          <a:xfrm>
            <a:off x="402336" y="306781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TextBox 407"/>
          <p:cNvSpPr txBox="1"/>
          <p:nvPr/>
        </p:nvSpPr>
        <p:spPr>
          <a:xfrm>
            <a:off x="694944" y="344728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ASH-CHI pet charge: $50/night with a $150 stay cap; flexible cancellation: 6:00 PM local-property-time deadline.</a:t>
            </a:r>
          </a:p>
        </p:txBody>
      </p:sp>
      <p:sp>
        <p:nvSpPr>
          <p:cNvPr id="409" name="Oval 408"/>
          <p:cNvSpPr/>
          <p:nvPr/>
        </p:nvSpPr>
        <p:spPr>
          <a:xfrm>
            <a:off x="402336" y="35478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TextBox 409"/>
          <p:cNvSpPr txBox="1"/>
          <p:nvPr/>
        </p:nvSpPr>
        <p:spPr>
          <a:xfrm>
            <a:off x="694944" y="3927348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Online/offline consistency check: these policy values and evidence selections matched the corresponding offline evaluation checks; no endpoint-specific answer drift was observed.</a:t>
            </a:r>
          </a:p>
        </p:txBody>
      </p:sp>
      <p:sp>
        <p:nvSpPr>
          <p:cNvPr id="411" name="Oval 410"/>
          <p:cNvSpPr/>
          <p:nvPr/>
        </p:nvSpPr>
        <p:spPr>
          <a:xfrm>
            <a:off x="402336" y="40279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TextBox 41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8046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Montserrat"/>
              </a:rPr>
              <a:t>Deployment - Live Streamlit Webpage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urora_streamlit_deplo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98448"/>
            <a:ext cx="5074920" cy="3877056"/>
          </a:xfrm>
          <a:prstGeom prst="rect">
            <a:avLst/>
          </a:prstGeom>
          <a:ln w="12700">
            <a:solidFill>
              <a:srgbClr val="BECBE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502920" y="5230368"/>
            <a:ext cx="50749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i="1">
                <a:solidFill>
                  <a:srgbClr val="5F5F5F"/>
                </a:solidFill>
                <a:latin typeface="Montserrat"/>
              </a:rPr>
              <a:t>Full-page capture from the public Codespaces 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1389888"/>
            <a:ext cx="2788920" cy="3611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0E39A9"/>
                </a:solidFill>
                <a:latin typeface="Montserrat"/>
              </a:rPr>
              <a:t>Public frontend URL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000000"/>
                </a:solidFill>
                <a:latin typeface="Montserrat"/>
              </a:rPr>
              <a:t>https://turbo-zebra-4qqj6wr7pv573xpr-8501.app.github.dev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000000"/>
                </a:solidFill>
                <a:latin typeface="Montserrat"/>
              </a:rPr>
              <a:t>Backend API URL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0E39A9"/>
                </a:solidFill>
                <a:latin typeface="Montserrat"/>
              </a:rPr>
              <a:t>https://turbo-zebra-4qqj6wr7pv573xpr-7860.app.github.dev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830" b="0">
                <a:solidFill>
                  <a:srgbClr val="000000"/>
                </a:solidFill>
                <a:latin typeface="Montserrat"/>
              </a:rPr>
              <a:t>Status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830" b="0">
                <a:solidFill>
                  <a:srgbClr val="000000"/>
                </a:solidFill>
                <a:latin typeface="Montserrat"/>
              </a:rPr>
              <a:t>Frontend loaded with HTTP 200.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050" b="0">
                <a:solidFill>
                  <a:srgbClr val="000000"/>
                </a:solidFill>
                <a:latin typeface="Montserrat"/>
              </a:rPr>
              <a:t>Backend readiness returned HTTP 200.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830" b="0">
                <a:solidFill>
                  <a:srgbClr val="000000"/>
                </a:solidFill>
                <a:latin typeface="Montserrat"/>
              </a:rPr>
              <a:t>Captured: 20 October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8046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Montserrat"/>
              </a:rPr>
              <a:t>Deployment - Live Smoke-Test 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325880"/>
            <a:ext cx="4160520" cy="31089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Montserrat"/>
              </a:rPr>
              <a:t>Validated public Codespaces deployment — 20 October 2026.</a:t>
            </a:r>
          </a:p>
        </p:txBody>
      </p:sp>
      <p:sp>
        <p:nvSpPr>
          <p:cNvPr id="7" name="Oval 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673352"/>
            <a:ext cx="4160520" cy="43891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Montserrat"/>
              </a:rPr>
              <a:t>Frontend + backend: HTTP 200; Streamlit UI and readiness response returned.</a:t>
            </a:r>
          </a:p>
        </p:txBody>
      </p:sp>
      <p:sp>
        <p:nvSpPr>
          <p:cNvPr id="9" name="Oval 8"/>
          <p:cNvSpPr/>
          <p:nvPr/>
        </p:nvSpPr>
        <p:spPr>
          <a:xfrm>
            <a:off x="402336" y="17739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148840"/>
            <a:ext cx="4160520" cy="43891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Montserrat"/>
              </a:rPr>
              <a:t>Answer only: HTTP 200; grounded parking answer; chunks omitted by design.</a:t>
            </a:r>
          </a:p>
        </p:txBody>
      </p:sp>
      <p:sp>
        <p:nvSpPr>
          <p:cNvPr id="11" name="Oval 10"/>
          <p:cNvSpPr/>
          <p:nvPr/>
        </p:nvSpPr>
        <p:spPr>
          <a:xfrm>
            <a:off x="402336" y="22494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2624328"/>
            <a:ext cx="4160520" cy="31089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Montserrat"/>
              </a:rPr>
              <a:t>Answer + chunks: HTTP 200; same answer plus 3 evidence chunks.</a:t>
            </a:r>
          </a:p>
        </p:txBody>
      </p:sp>
      <p:sp>
        <p:nvSpPr>
          <p:cNvPr id="13" name="Oval 12"/>
          <p:cNvSpPr/>
          <p:nvPr/>
        </p:nvSpPr>
        <p:spPr>
          <a:xfrm>
            <a:off x="402336" y="272491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2971800"/>
            <a:ext cx="4160520" cy="31089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Montserrat"/>
              </a:rPr>
              <a:t>Parking: Atlanta $28/night self-parking; Miami $55/night valet.</a:t>
            </a:r>
          </a:p>
        </p:txBody>
      </p:sp>
      <p:sp>
        <p:nvSpPr>
          <p:cNvPr id="15" name="Oval 14"/>
          <p:cNvSpPr/>
          <p:nvPr/>
        </p:nvSpPr>
        <p:spPr>
          <a:xfrm>
            <a:off x="402336" y="30723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319272"/>
            <a:ext cx="4160520" cy="31089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Montserrat"/>
              </a:rPr>
              <a:t>ASH-CHI pet: $50/night; $150/stay cap; 3 evidence chunks.</a:t>
            </a:r>
          </a:p>
        </p:txBody>
      </p:sp>
      <p:sp>
        <p:nvSpPr>
          <p:cNvPr id="17" name="Oval 16"/>
          <p:cNvSpPr/>
          <p:nvPr/>
        </p:nvSpPr>
        <p:spPr>
          <a:xfrm>
            <a:off x="402336" y="341985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" y="3666744"/>
            <a:ext cx="4160520" cy="31089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Montserrat"/>
              </a:rPr>
              <a:t>Flexible cancellation: 6:00 PM deadline; 5 evidence chunks.</a:t>
            </a:r>
          </a:p>
        </p:txBody>
      </p:sp>
      <p:sp>
        <p:nvSpPr>
          <p:cNvPr id="19" name="Oval 18"/>
          <p:cNvSpPr/>
          <p:nvPr/>
        </p:nvSpPr>
        <p:spPr>
          <a:xfrm>
            <a:off x="402336" y="376732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74920" y="1088136"/>
            <a:ext cx="352044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0E39A9"/>
                </a:solidFill>
                <a:latin typeface="Montserrat"/>
              </a:rPr>
              <a:t>Answer only — supplied smoke-test capture</a:t>
            </a:r>
          </a:p>
        </p:txBody>
      </p:sp>
      <p:pic>
        <p:nvPicPr>
          <p:cNvPr id="21" name="Picture 20" descr="smoke_test_answer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261872"/>
            <a:ext cx="3520440" cy="1901952"/>
          </a:xfrm>
          <a:prstGeom prst="rect">
            <a:avLst/>
          </a:prstGeom>
          <a:ln w="10160">
            <a:solidFill>
              <a:srgbClr val="BECBE8"/>
            </a:solidFill>
          </a:ln>
        </p:spPr>
      </p:pic>
      <p:sp>
        <p:nvSpPr>
          <p:cNvPr id="22" name="TextBox 21"/>
          <p:cNvSpPr txBox="1"/>
          <p:nvPr/>
        </p:nvSpPr>
        <p:spPr>
          <a:xfrm>
            <a:off x="5074920" y="3081528"/>
            <a:ext cx="352044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0E39A9"/>
                </a:solidFill>
                <a:latin typeface="Montserrat"/>
              </a:rPr>
              <a:t>Answer + Relevant Chunks — supplied smoke-test capture</a:t>
            </a:r>
          </a:p>
        </p:txBody>
      </p:sp>
      <p:pic>
        <p:nvPicPr>
          <p:cNvPr id="23" name="Picture 22" descr="smoke_test_answer_plus_chun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3255264"/>
            <a:ext cx="3520440" cy="1901952"/>
          </a:xfrm>
          <a:prstGeom prst="rect">
            <a:avLst/>
          </a:prstGeom>
          <a:ln w="10160">
            <a:solidFill>
              <a:srgbClr val="BECBE8"/>
            </a:solidFill>
          </a:ln>
        </p:spPr>
      </p:pic>
      <p:sp>
        <p:nvSpPr>
          <p:cNvPr id="24" name="TextBox 23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66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Insights from Analysis</a:t>
            </a:r>
          </a:p>
        </p:txBody>
      </p:sp>
      <p:sp>
        <p:nvSpPr>
          <p:cNvPr id="413" name="Rectangle 41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TextBox 413"/>
          <p:cNvSpPr txBox="1"/>
          <p:nvPr/>
        </p:nvSpPr>
        <p:spPr>
          <a:xfrm>
            <a:off x="594360" y="1170432"/>
            <a:ext cx="795527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55555"/>
                </a:solidFill>
                <a:latin typeface="Montserrat"/>
              </a:rPr>
              <a:t>What the analysis means for the business</a:t>
            </a:r>
          </a:p>
        </p:txBody>
      </p:sp>
      <p:sp>
        <p:nvSpPr>
          <p:cNvPr id="415" name="Rounded Rectangle 414"/>
          <p:cNvSpPr/>
          <p:nvPr/>
        </p:nvSpPr>
        <p:spPr>
          <a:xfrm>
            <a:off x="594360" y="1627632"/>
            <a:ext cx="7360920" cy="932688"/>
          </a:xfrm>
          <a:prstGeom prst="roundRect">
            <a:avLst/>
          </a:prstGeom>
          <a:solidFill>
            <a:srgbClr val="E8EFFF"/>
          </a:solidFill>
          <a:ln w="1397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54864"/>
          <a:lstStyle/>
          <a:p>
            <a:r>
              <a:rPr sz="1120" b="1">
                <a:solidFill>
                  <a:srgbClr val="0E39A9"/>
                </a:solidFill>
                <a:latin typeface="Montserrat"/>
              </a:rPr>
              <a:t>PERFORMANCE SIGNAL</a:t>
            </a:r>
          </a:p>
          <a:p>
            <a:r>
              <a:rPr sz="1050" b="0">
                <a:solidFill>
                  <a:srgbClr val="1F2937"/>
                </a:solidFill>
                <a:latin typeface="Montserrat"/>
              </a:rPr>
              <a:t>7/10 held-out cases passed with a weighted composite of .867 using 120/16 token-safe chunking. This is a quality signal for fewer manual policy lookups; HTTP 200 smoke tests support service readiness.</a:t>
            </a:r>
          </a:p>
        </p:txBody>
      </p:sp>
      <p:sp>
        <p:nvSpPr>
          <p:cNvPr id="416" name="Rounded Rectangle 415"/>
          <p:cNvSpPr/>
          <p:nvPr/>
        </p:nvSpPr>
        <p:spPr>
          <a:xfrm>
            <a:off x="594360" y="2770632"/>
            <a:ext cx="7360920" cy="932688"/>
          </a:xfrm>
          <a:prstGeom prst="roundRect">
            <a:avLst/>
          </a:prstGeom>
          <a:solidFill>
            <a:srgbClr val="FFF5E0"/>
          </a:solidFill>
          <a:ln w="13970">
            <a:solidFill>
              <a:srgbClr val="B97D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54864"/>
          <a:lstStyle/>
          <a:p>
            <a:r>
              <a:rPr sz="1120" b="1">
                <a:solidFill>
                  <a:srgbClr val="B97D18"/>
                </a:solidFill>
                <a:latin typeface="Montserrat"/>
              </a:rPr>
              <a:t>RISK TO MANAGE</a:t>
            </a:r>
          </a:p>
          <a:p>
            <a:r>
              <a:rPr sz="1050" b="0">
                <a:solidFill>
                  <a:srgbClr val="1F2937"/>
                </a:solidFill>
                <a:latin typeface="Montserrat"/>
              </a:rPr>
              <a:t>Three cases failed: Accessible King (precision=.384), Atlanta/Miami parking (precision=.673), and Miami breakfast (recall=.003; precision=0.000).</a:t>
            </a:r>
          </a:p>
        </p:txBody>
      </p:sp>
      <p:sp>
        <p:nvSpPr>
          <p:cNvPr id="417" name="Rounded Rectangle 416"/>
          <p:cNvSpPr/>
          <p:nvPr/>
        </p:nvSpPr>
        <p:spPr>
          <a:xfrm>
            <a:off x="594360" y="3913632"/>
            <a:ext cx="7360920" cy="932688"/>
          </a:xfrm>
          <a:prstGeom prst="roundRect">
            <a:avLst/>
          </a:prstGeom>
          <a:solidFill>
            <a:srgbClr val="ECF8F0"/>
          </a:solidFill>
          <a:ln w="1397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54864"/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20" b="1">
                <a:solidFill>
                  <a:srgbClr val="1F7752"/>
                </a:solidFill>
                <a:latin typeface="Montserrat"/>
              </a:rPr>
              <a:t>BUSINESS IMPLICATION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Montserrat"/>
              </a:rPr>
              <a:t>Pilot success should be measured through handling time, first-contact resolution, escalation rate, evidence clicks, latency, and availability. Evidence display plus assisted review protects quality while adoption grows.</a:t>
            </a:r>
          </a:p>
        </p:txBody>
      </p:sp>
      <p:sp>
        <p:nvSpPr>
          <p:cNvPr id="418" name="TextBox 417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8046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Montserrat"/>
              </a:rPr>
              <a:t>Actionable Recommendations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70432"/>
            <a:ext cx="795527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55555"/>
                </a:solidFill>
                <a:latin typeface="Montserrat"/>
              </a:rPr>
              <a:t>Logical next steps for a controlled business pilot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627632"/>
            <a:ext cx="3429000" cy="987552"/>
          </a:xfrm>
          <a:prstGeom prst="roundRect">
            <a:avLst/>
          </a:prstGeom>
          <a:solidFill>
            <a:srgbClr val="E8EFFF"/>
          </a:solidFill>
          <a:ln w="1397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40664" y="1792224"/>
            <a:ext cx="393192" cy="393192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52728" y="1773936"/>
            <a:ext cx="25786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0E39A9"/>
                </a:solidFill>
                <a:latin typeface="Montserrat"/>
              </a:rPr>
              <a:t>PILOT THE 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2728" y="2066543"/>
            <a:ext cx="2578608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000000"/>
                </a:solidFill>
                <a:latin typeface="Montserrat"/>
              </a:rPr>
              <a:t>Use k=5 with evidence display enabled for support staff.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1627632"/>
            <a:ext cx="3429000" cy="987552"/>
          </a:xfrm>
          <a:prstGeom prst="roundRect">
            <a:avLst/>
          </a:prstGeom>
          <a:solidFill>
            <a:srgbClr val="E6F7F6"/>
          </a:solidFill>
          <a:ln w="1397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72584" y="1792224"/>
            <a:ext cx="393192" cy="393192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84648" y="1773936"/>
            <a:ext cx="25786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009CA6"/>
                </a:solidFill>
                <a:latin typeface="Montserrat"/>
              </a:rPr>
              <a:t>MONITOR QUALITY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84648" y="2066543"/>
            <a:ext cx="2578608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000000"/>
                </a:solidFill>
                <a:latin typeface="Montserrat"/>
              </a:rPr>
              <a:t>Track pass rate, precision, latency, escalation rate, and evidence clicks.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2907792"/>
            <a:ext cx="3429000" cy="987552"/>
          </a:xfrm>
          <a:prstGeom prst="roundRect">
            <a:avLst/>
          </a:prstGeom>
          <a:solidFill>
            <a:srgbClr val="FFF5E0"/>
          </a:solidFill>
          <a:ln w="13970">
            <a:solidFill>
              <a:srgbClr val="B97D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40664" y="3072384"/>
            <a:ext cx="393192" cy="393192"/>
          </a:xfrm>
          <a:prstGeom prst="ellipse">
            <a:avLst/>
          </a:prstGeom>
          <a:solidFill>
            <a:srgbClr val="B97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2728" y="3054096"/>
            <a:ext cx="25786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B97D18"/>
                </a:solidFill>
                <a:latin typeface="Montserrat"/>
              </a:rPr>
              <a:t>ESCALATE AMBIGUITY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2728" y="3346704"/>
            <a:ext cx="2578608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000000"/>
                </a:solidFill>
                <a:latin typeface="Montserrat"/>
              </a:rPr>
              <a:t>Route low-confidence or underspecified questions to assisted review.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26280" y="2907792"/>
            <a:ext cx="3429000" cy="987552"/>
          </a:xfrm>
          <a:prstGeom prst="roundRect">
            <a:avLst/>
          </a:prstGeom>
          <a:solidFill>
            <a:srgbClr val="ECF8F0"/>
          </a:solidFill>
          <a:ln w="1397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672584" y="3072384"/>
            <a:ext cx="393192" cy="393192"/>
          </a:xfrm>
          <a:prstGeom prst="ellipse">
            <a:avLst/>
          </a:prstGeom>
          <a:solidFill>
            <a:srgbClr val="1F77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84648" y="3054096"/>
            <a:ext cx="25786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1F7752"/>
                </a:solidFill>
                <a:latin typeface="Montserrat"/>
              </a:rPr>
              <a:t>REVIEW BEFORE SCALE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4648" y="3346704"/>
            <a:ext cx="2578608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000000"/>
                </a:solidFill>
                <a:latin typeface="Montserrat"/>
              </a:rPr>
              <a:t>Investigate the Accessible King failure during the pilot before wider release.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315968"/>
            <a:ext cx="7360920" cy="566928"/>
          </a:xfrm>
          <a:prstGeom prst="roundRect">
            <a:avLst/>
          </a:prstGeom>
          <a:solidFill>
            <a:srgbClr val="F2F6FF"/>
          </a:solidFill>
          <a:ln w="1524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E39A9"/>
                </a:solidFill>
                <a:latin typeface="Montserrat"/>
              </a:rPr>
              <a:t>DECISION: proceed with a controlled pilot; review the known Accessible King failure before wider release.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1664208"/>
            <a:ext cx="74980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E39A9"/>
                </a:solidFill>
                <a:latin typeface="Montserrat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578608"/>
            <a:ext cx="7498079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00000"/>
                </a:solidFill>
                <a:latin typeface="Montserrat"/>
              </a:rPr>
              <a:t>Evaluation transparency, development workflow,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00000"/>
                </a:solidFill>
                <a:latin typeface="Montserrat"/>
              </a:rPr>
              <a:t>deployment workflow, and operating measures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13632"/>
            <a:ext cx="7040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D2DCEB"/>
                </a:solidFill>
                <a:latin typeface="Montserrat"/>
              </a:rPr>
              <a:t>Reference section for implementation, auditability, and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" y="3456432"/>
            <a:ext cx="1417320" cy="64008"/>
          </a:xfrm>
          <a:prstGeom prst="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65"/>
          <p:cNvSpPr txBox="1"/>
          <p:nvPr/>
        </p:nvSpPr>
        <p:spPr>
          <a:xfrm>
            <a:off x="32525" y="292608"/>
            <a:ext cx="44187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Evidence</a:t>
            </a:r>
          </a:p>
        </p:txBody>
      </p:sp>
      <p:sp>
        <p:nvSpPr>
          <p:cNvPr id="408" name="Rectangle 407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TextBox 408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Production checklist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Create config/config.json locally or set Codespaces Secrets for OPENAI_API_KEY and OPENAI_BASE_URL.</a:t>
            </a:r>
          </a:p>
        </p:txBody>
      </p:sp>
      <p:sp>
        <p:nvSpPr>
          <p:cNvPr id="411" name="Oval 410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TextBox 411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Start the backend first, confirm the readiness response, then start Streamlit on port 8501.</a:t>
            </a:r>
          </a:p>
        </p:txBody>
      </p:sp>
      <p:sp>
        <p:nvSpPr>
          <p:cNvPr id="413" name="Oval 412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TextBox 413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Run a property-specific query and an evidence-display query before wider use.</a:t>
            </a:r>
          </a:p>
        </p:txBody>
      </p:sp>
      <p:sp>
        <p:nvSpPr>
          <p:cNvPr id="415" name="Oval 414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TextBox 415"/>
          <p:cNvSpPr txBox="1"/>
          <p:nvPr/>
        </p:nvSpPr>
        <p:spPr>
          <a:xfrm>
            <a:off x="694944" y="305409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Known limitation</a:t>
            </a:r>
          </a:p>
        </p:txBody>
      </p:sp>
      <p:sp>
        <p:nvSpPr>
          <p:cNvPr id="417" name="TextBox 416"/>
          <p:cNvSpPr txBox="1"/>
          <p:nvPr/>
        </p:nvSpPr>
        <p:spPr>
          <a:xfrm>
            <a:off x="694944" y="3342132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r>
              <a:t>The Accessible King case has Contextual Precision=.384 because the benchmark question is underspecified for the auto-answer strategy.</a:t>
            </a:r>
          </a:p>
        </p:txBody>
      </p:sp>
      <p:sp>
        <p:nvSpPr>
          <p:cNvPr id="418" name="Oval 417"/>
          <p:cNvSpPr/>
          <p:nvPr/>
        </p:nvSpPr>
        <p:spPr>
          <a:xfrm>
            <a:off x="402336" y="3442715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TextBox 418"/>
          <p:cNvSpPr txBox="1"/>
          <p:nvPr/>
        </p:nvSpPr>
        <p:spPr>
          <a:xfrm>
            <a:off x="694944" y="4023360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000000"/>
                </a:solidFill>
                <a:latin typeface="Montserrat"/>
              </a:rPr>
              <a:t>The focused clarification experiment reached Precision=.961; the benchmark question and retrieval baseline remain unchanged.</a:t>
            </a:r>
          </a:p>
          <a:p>
            <a:r>
              <a:rPr sz="1050" b="1">
                <a:solidFill>
                  <a:srgbClr val="0E39A9"/>
                </a:solidFill>
                <a:latin typeface="Montserrat"/>
              </a:rPr>
              <a:t>See Appendix slide 40: Failed Case Analysis.</a:t>
            </a:r>
          </a:p>
        </p:txBody>
      </p:sp>
      <p:sp>
        <p:nvSpPr>
          <p:cNvPr id="420" name="Oval 419"/>
          <p:cNvSpPr/>
          <p:nvPr/>
        </p:nvSpPr>
        <p:spPr>
          <a:xfrm>
            <a:off x="402336" y="41239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Rounded Rectangle 420"/>
          <p:cNvSpPr/>
          <p:nvPr/>
        </p:nvSpPr>
        <p:spPr>
          <a:xfrm>
            <a:off x="6876288" y="219456"/>
            <a:ext cx="841248" cy="219456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Montserrat"/>
              </a:rPr>
              <a:t>APPENDIX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80467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39A9"/>
                </a:solidFill>
                <a:latin typeface="Montserrat"/>
              </a:rPr>
              <a:t>Development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51560"/>
            <a:ext cx="7909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555555"/>
                </a:solidFill>
                <a:latin typeface="Montserrat"/>
              </a:rPr>
              <a:t>Reproducible path from source policy documents to evaluated RAG artifacts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01</a:t>
            </a:r>
          </a:p>
        </p:txBody>
      </p:sp>
      <p:sp>
        <p:nvSpPr>
          <p:cNvPr id="6" name="Chevron 5"/>
          <p:cNvSpPr/>
          <p:nvPr/>
        </p:nvSpPr>
        <p:spPr>
          <a:xfrm>
            <a:off x="1161288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44752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02</a:t>
            </a:r>
          </a:p>
        </p:txBody>
      </p:sp>
      <p:sp>
        <p:nvSpPr>
          <p:cNvPr id="8" name="Chevron 7"/>
          <p:cNvSpPr/>
          <p:nvPr/>
        </p:nvSpPr>
        <p:spPr>
          <a:xfrm>
            <a:off x="1947672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231136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03</a:t>
            </a:r>
          </a:p>
        </p:txBody>
      </p:sp>
      <p:sp>
        <p:nvSpPr>
          <p:cNvPr id="10" name="Chevron 9"/>
          <p:cNvSpPr/>
          <p:nvPr/>
        </p:nvSpPr>
        <p:spPr>
          <a:xfrm>
            <a:off x="2734056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017520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04</a:t>
            </a:r>
          </a:p>
        </p:txBody>
      </p:sp>
      <p:sp>
        <p:nvSpPr>
          <p:cNvPr id="12" name="Chevron 11"/>
          <p:cNvSpPr/>
          <p:nvPr/>
        </p:nvSpPr>
        <p:spPr>
          <a:xfrm>
            <a:off x="3520439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803904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05</a:t>
            </a:r>
          </a:p>
        </p:txBody>
      </p:sp>
      <p:sp>
        <p:nvSpPr>
          <p:cNvPr id="14" name="Chevron 13"/>
          <p:cNvSpPr/>
          <p:nvPr/>
        </p:nvSpPr>
        <p:spPr>
          <a:xfrm>
            <a:off x="4306824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90288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06</a:t>
            </a:r>
          </a:p>
        </p:txBody>
      </p:sp>
      <p:sp>
        <p:nvSpPr>
          <p:cNvPr id="16" name="Chevron 15"/>
          <p:cNvSpPr/>
          <p:nvPr/>
        </p:nvSpPr>
        <p:spPr>
          <a:xfrm>
            <a:off x="5093207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76672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07</a:t>
            </a:r>
          </a:p>
        </p:txBody>
      </p:sp>
      <p:sp>
        <p:nvSpPr>
          <p:cNvPr id="18" name="Chevron 17"/>
          <p:cNvSpPr/>
          <p:nvPr/>
        </p:nvSpPr>
        <p:spPr>
          <a:xfrm>
            <a:off x="5879592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63055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08</a:t>
            </a:r>
          </a:p>
        </p:txBody>
      </p:sp>
      <p:sp>
        <p:nvSpPr>
          <p:cNvPr id="20" name="Chevron 19"/>
          <p:cNvSpPr/>
          <p:nvPr/>
        </p:nvSpPr>
        <p:spPr>
          <a:xfrm>
            <a:off x="6665975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949440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09</a:t>
            </a:r>
          </a:p>
        </p:txBody>
      </p:sp>
      <p:sp>
        <p:nvSpPr>
          <p:cNvPr id="22" name="Chevron 21"/>
          <p:cNvSpPr/>
          <p:nvPr/>
        </p:nvSpPr>
        <p:spPr>
          <a:xfrm>
            <a:off x="7452360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735824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10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144475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8368" y="154533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" y="150876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Source ingestion — load four policy PDFs with Docling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208483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58368" y="218541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" y="214884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Structure — normalize Markdown; preserve headings and tables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272491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58368" y="282549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" y="278892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t>Chunk + enrich — 120/16 token chunks, atomic rows, metadata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3364991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58368" y="3465575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" y="3428999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Embed + index — domain embeddings stored in FAISS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400507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58368" y="410565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" y="406908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Retrieve — MMR, topic/property routing, CrossEncoder reranking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617720" y="144475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709159" y="154533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84648" y="150876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Generate — GPT-4o-mini answers from retrieved evidence only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617720" y="208483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709159" y="218541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84648" y="214884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Evaluate — DeepEval scores faithfulness, recall, precision, relevancy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617720" y="272491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709159" y="282549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84648" y="278892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Tune + repair — diagnostics drive focused retrieval improvements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617720" y="3364991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709159" y="3465575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84648" y="3428999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Package — persist index, notebook outputs, CSV reports, prompts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617720" y="400507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709159" y="410565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184648" y="406908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Version — commit code, artifacts, configuration guidance, and deck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" y="4754880"/>
            <a:ext cx="80467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i="1">
                <a:solidFill>
                  <a:srgbClr val="5F5F5F"/>
                </a:solidFill>
                <a:latin typeface="Montserrat"/>
              </a:rPr>
              <a:t>Aurora Stays RAG | Appendix workflow | source → evidence → grounded answer → monitored service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876288" y="219456"/>
            <a:ext cx="841248" cy="219456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Montserrat"/>
              </a:rPr>
              <a:t>APPENDIX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80467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39A9"/>
                </a:solidFill>
                <a:latin typeface="Montserrat"/>
              </a:rPr>
              <a:t>Deployment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51560"/>
            <a:ext cx="7909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555555"/>
                </a:solidFill>
                <a:latin typeface="Montserrat"/>
              </a:rPr>
              <a:t>Runtime path from container startup to monitored, evidence-backed responses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01</a:t>
            </a:r>
          </a:p>
        </p:txBody>
      </p:sp>
      <p:sp>
        <p:nvSpPr>
          <p:cNvPr id="6" name="Chevron 5"/>
          <p:cNvSpPr/>
          <p:nvPr/>
        </p:nvSpPr>
        <p:spPr>
          <a:xfrm>
            <a:off x="1161288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44752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02</a:t>
            </a:r>
          </a:p>
        </p:txBody>
      </p:sp>
      <p:sp>
        <p:nvSpPr>
          <p:cNvPr id="8" name="Chevron 7"/>
          <p:cNvSpPr/>
          <p:nvPr/>
        </p:nvSpPr>
        <p:spPr>
          <a:xfrm>
            <a:off x="1947672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231136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03</a:t>
            </a:r>
          </a:p>
        </p:txBody>
      </p:sp>
      <p:sp>
        <p:nvSpPr>
          <p:cNvPr id="10" name="Chevron 9"/>
          <p:cNvSpPr/>
          <p:nvPr/>
        </p:nvSpPr>
        <p:spPr>
          <a:xfrm>
            <a:off x="2734056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017520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04</a:t>
            </a:r>
          </a:p>
        </p:txBody>
      </p:sp>
      <p:sp>
        <p:nvSpPr>
          <p:cNvPr id="12" name="Chevron 11"/>
          <p:cNvSpPr/>
          <p:nvPr/>
        </p:nvSpPr>
        <p:spPr>
          <a:xfrm>
            <a:off x="3520439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803904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05</a:t>
            </a:r>
          </a:p>
        </p:txBody>
      </p:sp>
      <p:sp>
        <p:nvSpPr>
          <p:cNvPr id="14" name="Chevron 13"/>
          <p:cNvSpPr/>
          <p:nvPr/>
        </p:nvSpPr>
        <p:spPr>
          <a:xfrm>
            <a:off x="4306824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90288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06</a:t>
            </a:r>
          </a:p>
        </p:txBody>
      </p:sp>
      <p:sp>
        <p:nvSpPr>
          <p:cNvPr id="16" name="Chevron 15"/>
          <p:cNvSpPr/>
          <p:nvPr/>
        </p:nvSpPr>
        <p:spPr>
          <a:xfrm>
            <a:off x="5093207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76672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07</a:t>
            </a:r>
          </a:p>
        </p:txBody>
      </p:sp>
      <p:sp>
        <p:nvSpPr>
          <p:cNvPr id="18" name="Chevron 17"/>
          <p:cNvSpPr/>
          <p:nvPr/>
        </p:nvSpPr>
        <p:spPr>
          <a:xfrm>
            <a:off x="5879592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63055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08</a:t>
            </a:r>
          </a:p>
        </p:txBody>
      </p:sp>
      <p:sp>
        <p:nvSpPr>
          <p:cNvPr id="20" name="Chevron 19"/>
          <p:cNvSpPr/>
          <p:nvPr/>
        </p:nvSpPr>
        <p:spPr>
          <a:xfrm>
            <a:off x="6665975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949440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09</a:t>
            </a:r>
          </a:p>
        </p:txBody>
      </p:sp>
      <p:sp>
        <p:nvSpPr>
          <p:cNvPr id="22" name="Chevron 21"/>
          <p:cNvSpPr/>
          <p:nvPr/>
        </p:nvSpPr>
        <p:spPr>
          <a:xfrm>
            <a:off x="7452360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735824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10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144475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8368" y="154533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" y="150876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Backend load — Flask loads FAISS, metadata, and cached embedding model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208483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58368" y="218541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" y="214884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API surface — answer, answer-with-chunks, and relevant-chunks endpoints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272491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58368" y="282549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" y="278892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Backend container — Gunicorn on 0.0.0.0:7860; readiness endpoint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3364991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58368" y="3465575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" y="3428999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Frontend app — Streamlit sends query, k, temperature, and token limits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400507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58368" y="410565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" y="406908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Frontend container — Streamlit binds to 0.0.0.0:8501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617720" y="144475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709159" y="154533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84648" y="150876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Configuration — secrets provide API key, base URL, and BACKEND_URL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617720" y="208483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709159" y="218541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84648" y="214884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Network — ports are forwarded; users open the public/browser URL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617720" y="272491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709159" y="282549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84648" y="278892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Smoke test — validate HTTP 200, answers, evidence, and policy values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617720" y="3364991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709159" y="3465575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84648" y="3428999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Monitor — track pass rate, precision, latency, escalation, evidence clicks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617720" y="400507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709159" y="410565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184648" y="406908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Handoff — retain logs/artifacts and the operational runbook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" y="4754880"/>
            <a:ext cx="80467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i="1">
                <a:solidFill>
                  <a:srgbClr val="5F5F5F"/>
                </a:solidFill>
                <a:latin typeface="Montserrat"/>
              </a:rPr>
              <a:t>Aurora Stays RAG | Appendix workflow | source → evidence → grounded answer → monitored service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876288" y="219456"/>
            <a:ext cx="841248" cy="219456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Montserrat"/>
              </a:rPr>
              <a:t>APPENDIX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80467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39A9"/>
                </a:solidFill>
                <a:latin typeface="Montserrat"/>
              </a:rPr>
              <a:t>Rubric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24128"/>
            <a:ext cx="78181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555555"/>
                </a:solidFill>
                <a:latin typeface="Montserrat"/>
              </a:rPr>
              <a:t>Project Evaluation Rubric areas → implementation evidence → verified artifact or outcome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75488" y="1417320"/>
          <a:ext cx="8193024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8448"/>
                <a:gridCol w="621792"/>
                <a:gridCol w="3035808"/>
                <a:gridCol w="3236976"/>
              </a:tblGrid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Montserrat"/>
                        </a:rPr>
                        <a:t>Rubric area</a:t>
                      </a:r>
                    </a:p>
                  </a:txBody>
                  <a:tcPr marL="45720" marR="45720" marT="18288" marB="18288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Montserrat"/>
                        </a:rPr>
                        <a:t>Slide(s)</a:t>
                      </a:r>
                    </a:p>
                  </a:txBody>
                  <a:tcPr marL="45720" marR="45720" marT="18288" marB="18288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Montserrat"/>
                        </a:rPr>
                        <a:t>Implementation evidence</a:t>
                      </a:r>
                    </a:p>
                  </a:txBody>
                  <a:tcPr marL="45720" marR="45720" marT="18288" marB="18288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Montserrat"/>
                        </a:rPr>
                        <a:t>Artifact / outcome</a:t>
                      </a:r>
                    </a:p>
                  </a:txBody>
                  <a:tcPr marL="45720" marR="45720" marT="18288" marB="18288">
                    <a:solidFill>
                      <a:srgbClr val="0E39A9"/>
                    </a:solidFill>
                  </a:tcPr>
                </a:tc>
              </a:tr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1">
                          <a:solidFill>
                            <a:srgbClr val="000000"/>
                          </a:solidFill>
                          <a:latin typeface="Montserrat"/>
                        </a:rPr>
                        <a:t>Data understanding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5–6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Four policy PDFs converted to structured Markdown; headings and tables preserved.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Markdown/table evidence slide; source files retained.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1">
                          <a:solidFill>
                            <a:srgbClr val="000000"/>
                          </a:solidFill>
                          <a:latin typeface="Montserrat"/>
                        </a:rPr>
                        <a:t>Retrieval Augmented Generation System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7–14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5" b="0">
                          <a:latin typeface="Montserrat"/>
                        </a:rPr>
                        <a:t>Token-safe 120/16 chunks, metadata, FAISS, MMR, routing, reranking, and grounded generation.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Backend retrieval module, indexed artifacts, and evidence-backed responses.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</a:tr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1">
                          <a:solidFill>
                            <a:srgbClr val="000000"/>
                          </a:solidFill>
                          <a:latin typeface="Montserrat"/>
                        </a:rPr>
                        <a:t>Evaluation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15–20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Four DeepEval gates with explicit thresholds; initial 7/10 baseline retained for comparison.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5" b="0">
                          <a:latin typeface="Montserrat"/>
                        </a:rPr>
                        <a:t>Final selected run: 7/10 passed; composite .867.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1">
                          <a:solidFill>
                            <a:srgbClr val="000000"/>
                          </a:solidFill>
                          <a:latin typeface="Montserrat"/>
                        </a:rPr>
                        <a:t>Deployment - Backend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21–24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Flask API, FAISS/model loading, pinned dependencies, Docker, and Gunicorn readiness service.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HTTP 200 readiness and answer/evidence endpoints.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</a:tr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1">
                          <a:solidFill>
                            <a:srgbClr val="000000"/>
                          </a:solidFill>
                          <a:latin typeface="Montserrat"/>
                        </a:rPr>
                        <a:t>Deployment - Frontend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25–26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Streamlit UI, parameter controls, answer/evidence display, and frontend container binding.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Browser-facing application on the forwarded Streamlit port.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1">
                          <a:solidFill>
                            <a:srgbClr val="000000"/>
                          </a:solidFill>
                          <a:latin typeface="Montserrat"/>
                        </a:rPr>
                        <a:t>Deployment - Inference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28–32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Forwarded URL configuration, relevant-chunks and answer-with-chunks requests, and smoke tests.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HTTP 200 inference checks with policy values and evidence returned.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</a:tr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1">
                          <a:solidFill>
                            <a:srgbClr val="000000"/>
                          </a:solidFill>
                          <a:latin typeface="Montserrat"/>
                        </a:rPr>
                        <a:t>Actionable Insights and Recommendations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33–34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Business implications, pilot controls, monitoring measures, and next-step recommendations.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Controlled-pilot recommendation with quality and operating measures.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4901184"/>
            <a:ext cx="7955279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6876288" y="219456"/>
            <a:ext cx="841248" cy="219456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Montserrat"/>
              </a:rPr>
              <a:t>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182880"/>
            <a:ext cx="621792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100" b="1">
                <a:solidFill>
                  <a:srgbClr val="0E39A9"/>
                </a:solidFill>
                <a:latin typeface="Aptos"/>
              </a:rPr>
              <a:t>Failed Case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40080"/>
            <a:ext cx="822960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50" b="0">
                <a:solidFill>
                  <a:srgbClr val="566275"/>
                </a:solidFill>
                <a:latin typeface="Aptos"/>
              </a:rPr>
              <a:t>120/16 token-safe held-out run | 7/10 passed | failures are retrieval-focused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170432"/>
            <a:ext cx="2670048" cy="3246120"/>
          </a:xfrm>
          <a:prstGeom prst="roundRect">
            <a:avLst/>
          </a:prstGeom>
          <a:solidFill>
            <a:srgbClr val="FFEBEB"/>
          </a:solidFill>
          <a:ln w="10160">
            <a:solidFill>
              <a:srgbClr val="F4B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9768" y="1325880"/>
            <a:ext cx="2450592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50" b="1">
                <a:solidFill>
                  <a:srgbClr val="B22D2D"/>
                </a:solidFill>
                <a:latin typeface="Aptos"/>
              </a:rPr>
              <a:t>Case 4 · Accessible 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1847088"/>
            <a:ext cx="245059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0E39A9"/>
                </a:solidFill>
                <a:latin typeface="Aptos"/>
              </a:rPr>
              <a:t>P .384 | AR .601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" y="2267712"/>
            <a:ext cx="2450592" cy="9601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1F2937"/>
                </a:solidFill>
                <a:latin typeface="Aptos"/>
              </a:rPr>
              <a:t>CAUSE
Ambiguous property/feature leads to broad room and accessibility context.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3456432"/>
            <a:ext cx="2450592" cy="7498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566275"/>
                </a:solidFill>
                <a:latin typeface="Aptos"/>
              </a:rPr>
              <a:t>FIX
Clarify the property/feature and route to the exact room row.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36976" y="1170432"/>
            <a:ext cx="2670048" cy="3246120"/>
          </a:xfrm>
          <a:prstGeom prst="roundRect">
            <a:avLst/>
          </a:prstGeom>
          <a:solidFill>
            <a:srgbClr val="FFEBEB"/>
          </a:solidFill>
          <a:ln w="10160">
            <a:solidFill>
              <a:srgbClr val="F4B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46704" y="1325880"/>
            <a:ext cx="2450592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50" b="1">
                <a:solidFill>
                  <a:srgbClr val="B22D2D"/>
                </a:solidFill>
                <a:latin typeface="Aptos"/>
              </a:rPr>
              <a:t>Case 5 · Parking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46704" y="1847088"/>
            <a:ext cx="245059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0E39A9"/>
                </a:solidFill>
                <a:latin typeface="Aptos"/>
              </a:rPr>
              <a:t>P .673 | R .961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46704" y="2267712"/>
            <a:ext cx="2450592" cy="9601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1F2937"/>
                </a:solidFill>
                <a:latin typeface="Aptos"/>
              </a:rPr>
              <a:t>CAUSE
Two-property request mixes parking rows with unrelated chunks.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6704" y="3456432"/>
            <a:ext cx="2450592" cy="7498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566275"/>
                </a:solidFill>
                <a:latin typeface="Aptos"/>
              </a:rPr>
              <a:t>FIX
Map both entities and retrieve only the Atlanta/Miami parking rows.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3912" y="1170432"/>
            <a:ext cx="2670048" cy="3246120"/>
          </a:xfrm>
          <a:prstGeom prst="roundRect">
            <a:avLst/>
          </a:prstGeom>
          <a:solidFill>
            <a:srgbClr val="FFEBEB"/>
          </a:solidFill>
          <a:ln w="10160">
            <a:solidFill>
              <a:srgbClr val="F4B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1325880"/>
            <a:ext cx="2450592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50" b="1">
                <a:solidFill>
                  <a:srgbClr val="B22D2D"/>
                </a:solidFill>
                <a:latin typeface="Aptos"/>
              </a:rPr>
              <a:t>Case 6 · Breakfast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847088"/>
            <a:ext cx="245059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0E39A9"/>
                </a:solidFill>
                <a:latin typeface="Aptos"/>
              </a:rPr>
              <a:t>R .003 | P 0.000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267712"/>
            <a:ext cx="2450592" cy="9601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1F2937"/>
                </a:solidFill>
                <a:latin typeface="Aptos"/>
              </a:rPr>
              <a:t>CAUSE
“Miami Brickell” is not normalized to ASH-MIA; the row is split.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3456432"/>
            <a:ext cx="2450592" cy="7498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566275"/>
                </a:solidFill>
                <a:latin typeface="Aptos"/>
              </a:rPr>
              <a:t>FIX
Add alias mapping and preserve complete property rows.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" y="4608576"/>
            <a:ext cx="8503920" cy="274320"/>
          </a:xfrm>
          <a:prstGeom prst="roundRect">
            <a:avLst/>
          </a:prstGeom>
          <a:solidFill>
            <a:srgbClr val="EEF3FF"/>
          </a:solidFill>
          <a:ln>
            <a:solidFill>
              <a:srgbClr val="BEC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" y="4654296"/>
            <a:ext cx="82753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50" b="1">
                <a:solidFill>
                  <a:srgbClr val="0E39A9"/>
                </a:solidFill>
                <a:latin typeface="Aptos"/>
              </a:rPr>
              <a:t>Generation tuning: keep temperature=0.0 and top_p=1.0; tuning cannot repair missing retrieval evidence.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4892040"/>
            <a:ext cx="2743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50" b="0">
                <a:solidFill>
                  <a:srgbClr val="566275"/>
                </a:solidFill>
                <a:latin typeface="Aptos"/>
              </a:rPr>
              <a:t>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Just Logo">
  <a:themeElements>
    <a:clrScheme name="Simple Light">
      <a:dk1>
        <a:srgbClr val="222222"/>
      </a:dk1>
      <a:lt1>
        <a:srgbClr val="FFFFFF"/>
      </a:lt1>
      <a:dk2>
        <a:srgbClr val="222222"/>
      </a:dk2>
      <a:lt2>
        <a:srgbClr val="0E39A9"/>
      </a:lt2>
      <a:accent1>
        <a:srgbClr val="FFAB40"/>
      </a:accent1>
      <a:accent2>
        <a:srgbClr val="6F4294"/>
      </a:accent2>
      <a:accent3>
        <a:srgbClr val="FFA000"/>
      </a:accent3>
      <a:accent4>
        <a:srgbClr val="FFAB40"/>
      </a:accent4>
      <a:accent5>
        <a:srgbClr val="FFDF00"/>
      </a:accent5>
      <a:accent6>
        <a:srgbClr val="1974D5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Just Logo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