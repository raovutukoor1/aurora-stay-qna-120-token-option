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7" r:id="rId39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9" r:id="rId59"/>
    <p:sldId id="288" r:id="rId58"/>
    <p:sldId id="286" r:id="rId38"/>
    <p:sldId id="290" r:id="rId60"/>
    <p:sldId id="291" r:id="rId61"/>
    <p:sldId id="285" r:id="rId37"/>
    <p:sldId id="292" r:id="rId62"/>
    <p:sldId id="293" r:id="rId63"/>
    <p:sldId id="294" r:id="rId64"/>
    <p:sldId id="295" r:id="rId65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6.xml"/><Relationship Id="rId38" Type="http://schemas.openxmlformats.org/officeDocument/2006/relationships/slide" Target="slides/slide33.xml"/><Relationship Id="rId39" Type="http://schemas.openxmlformats.org/officeDocument/2006/relationships/slide" Target="slides/slide6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Relationship Id="rId58" Type="http://schemas.openxmlformats.org/officeDocument/2006/relationships/slide" Target="slides/slide32.xml"/><Relationship Id="rId59" Type="http://schemas.openxmlformats.org/officeDocument/2006/relationships/slide" Target="slides/slide31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7.xml"/><Relationship Id="rId63" Type="http://schemas.openxmlformats.org/officeDocument/2006/relationships/slide" Target="slides/slide38.xml"/><Relationship Id="rId64" Type="http://schemas.openxmlformats.org/officeDocument/2006/relationships/slide" Target="slides/slide39.xml"/><Relationship Id="rId65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489204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48006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384048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  <p:pic>
        <p:nvPicPr>
          <p:cNvPr id="169" name="Picture 168" descr="hotel_lobby.jpg"/>
          <p:cNvPicPr>
            <a:picLocks noChangeAspect="1"/>
          </p:cNvPicPr>
          <p:nvPr/>
        </p:nvPicPr>
        <p:blipFill>
          <a:blip r:embed="rId3"/>
          <a:srcRect l="15573" r="15573"/>
          <a:stretch>
            <a:fillRect/>
          </a:stretch>
        </p:blipFill>
        <p:spPr>
          <a:xfrm>
            <a:off x="6446520" y="475488"/>
            <a:ext cx="2148840" cy="4160520"/>
          </a:xfrm>
          <a:prstGeom prst="rect">
            <a:avLst/>
          </a:prstGeom>
          <a:ln w="15875">
            <a:solidFill>
              <a:srgbClr val="BECBE8"/>
            </a:solidFill>
          </a:ln>
        </p:spPr>
      </p:pic>
      <p:sp>
        <p:nvSpPr>
          <p:cNvPr id="170" name="TextBox 169"/>
          <p:cNvSpPr txBox="1"/>
          <p:nvPr/>
        </p:nvSpPr>
        <p:spPr>
          <a:xfrm>
            <a:off x="5989320" y="4727448"/>
            <a:ext cx="2606040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 free-use stock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Oval 185"/>
          <p:cNvSpPr/>
          <p:nvPr/>
        </p:nvSpPr>
        <p:spPr>
          <a:xfrm>
            <a:off x="365760" y="4114800"/>
            <a:ext cx="182880" cy="182880"/>
          </a:xfrm>
          <a:prstGeom prst="ellipse">
            <a:avLst/>
          </a:prstGeom>
          <a:noFill/>
          <a:ln w="279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31520" y="4005072"/>
            <a:ext cx="50749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Montserrat"/>
              </a:rPr>
              <a:t>Appendix — evaluation, workflows and operating measures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6272784" y="1463040"/>
            <a:ext cx="2359152" cy="3456432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473952" y="1627632"/>
            <a:ext cx="195681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E39A9"/>
                </a:solidFill>
                <a:latin typeface="Montserrat"/>
              </a:rPr>
              <a:t>STORY ARC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510528" y="1975104"/>
            <a:ext cx="1883664" cy="49377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01  Discover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Problem + data</a:t>
            </a:r>
          </a:p>
        </p:txBody>
      </p:sp>
      <p:sp>
        <p:nvSpPr>
          <p:cNvPr id="192" name="Chevron 191"/>
          <p:cNvSpPr/>
          <p:nvPr/>
        </p:nvSpPr>
        <p:spPr>
          <a:xfrm>
            <a:off x="7333488" y="2505456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6510528" y="2688336"/>
            <a:ext cx="1883664" cy="493776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02  Build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RAG + LLM</a:t>
            </a:r>
          </a:p>
        </p:txBody>
      </p:sp>
      <p:sp>
        <p:nvSpPr>
          <p:cNvPr id="194" name="Chevron 193"/>
          <p:cNvSpPr/>
          <p:nvPr/>
        </p:nvSpPr>
        <p:spPr>
          <a:xfrm>
            <a:off x="7333488" y="3218688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6510528" y="3401568"/>
            <a:ext cx="1883664" cy="493776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03  Prove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7333488" y="3931920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6510528" y="4114800"/>
            <a:ext cx="1883664" cy="493776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04  Operate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Deploy + inference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473952" y="4800600"/>
            <a:ext cx="195681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i="1">
                <a:solidFill>
                  <a:srgbClr val="5A5A5A"/>
                </a:solidFill>
                <a:latin typeface="Montserrat"/>
              </a:rPr>
              <a:t>from question to production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48640" y="1188720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Design stages translated into a production-ready hotel policy assistant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50292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594360" y="1883664"/>
            <a:ext cx="329184" cy="329184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1264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Source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policies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PDFs → Markdown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196596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214884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9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240280" y="1883664"/>
            <a:ext cx="329184" cy="329184"/>
          </a:xfrm>
          <a:prstGeom prst="ellipse">
            <a:avLst/>
          </a:prstGeom>
          <a:solidFill>
            <a:srgbClr val="296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225856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latin typeface="Montserrat"/>
              </a:rPr>
              <a:t>Structure</a:t>
            </a:r>
          </a:p>
          <a:p>
            <a:pPr algn="l"/>
            <a:r>
              <a:rPr sz="750" b="0">
                <a:latin typeface="Montserrat"/>
              </a:rPr>
              <a:t>&amp; chunk</a:t>
            </a:r>
          </a:p>
          <a:p>
            <a:pPr algn="l"/>
            <a:r>
              <a:rPr sz="750" b="0">
                <a:latin typeface="Montserrat"/>
              </a:rPr>
              <a:t>120 / 16 + metadata</a:t>
            </a:r>
          </a:p>
        </p:txBody>
      </p:sp>
      <p:sp>
        <p:nvSpPr>
          <p:cNvPr id="200" name="Chevron 199"/>
          <p:cNvSpPr/>
          <p:nvPr/>
        </p:nvSpPr>
        <p:spPr>
          <a:xfrm>
            <a:off x="361188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379476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08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3886200" y="1883664"/>
            <a:ext cx="329184" cy="329184"/>
          </a:xfrm>
          <a:prstGeom prst="ellipse">
            <a:avLst/>
          </a:prstGeom>
          <a:solidFill>
            <a:srgbClr val="008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90448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Retrieve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rerank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FAISS + MMR + CrossEncoder</a:t>
            </a:r>
          </a:p>
        </p:txBody>
      </p:sp>
      <p:sp>
        <p:nvSpPr>
          <p:cNvPr id="204" name="Chevron 203"/>
          <p:cNvSpPr/>
          <p:nvPr/>
        </p:nvSpPr>
        <p:spPr>
          <a:xfrm>
            <a:off x="525780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4068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C7D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532120" y="1883664"/>
            <a:ext cx="329184" cy="329184"/>
          </a:xfrm>
          <a:prstGeom prst="ellipse">
            <a:avLst/>
          </a:prstGeom>
          <a:solidFill>
            <a:srgbClr val="0C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5040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Generate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evaluate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GPT-4o-mini + DeepEval</a:t>
            </a:r>
          </a:p>
        </p:txBody>
      </p:sp>
      <p:sp>
        <p:nvSpPr>
          <p:cNvPr id="208" name="Chevron 207"/>
          <p:cNvSpPr/>
          <p:nvPr/>
        </p:nvSpPr>
        <p:spPr>
          <a:xfrm>
            <a:off x="690372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708660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36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7178040" y="1883664"/>
            <a:ext cx="329184" cy="329184"/>
          </a:xfrm>
          <a:prstGeom prst="ellipse">
            <a:avLst/>
          </a:prstGeom>
          <a:solidFill>
            <a:srgbClr val="236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19632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Flask + Streamlit + Codespaces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8580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7724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178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36245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indexed chunks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269748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278892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39A9"/>
                </a:solidFill>
                <a:latin typeface="Montserrat"/>
              </a:rPr>
              <a:t>k=5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37413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selected baseline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70916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480060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538581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pass rate / 10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672084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81228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.867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39749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weighted composite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960120" y="4599432"/>
            <a:ext cx="1353312" cy="28346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Guest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25" name="Chevron 224"/>
          <p:cNvSpPr/>
          <p:nvPr/>
        </p:nvSpPr>
        <p:spPr>
          <a:xfrm>
            <a:off x="239572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ounded Rectangle 225"/>
          <p:cNvSpPr/>
          <p:nvPr/>
        </p:nvSpPr>
        <p:spPr>
          <a:xfrm>
            <a:off x="2834639" y="4599432"/>
            <a:ext cx="1353312" cy="283464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Relevant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evidence</a:t>
            </a:r>
          </a:p>
        </p:txBody>
      </p:sp>
      <p:sp>
        <p:nvSpPr>
          <p:cNvPr id="227" name="Chevron 226"/>
          <p:cNvSpPr/>
          <p:nvPr/>
        </p:nvSpPr>
        <p:spPr>
          <a:xfrm>
            <a:off x="427024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ounded Rectangle 227"/>
          <p:cNvSpPr/>
          <p:nvPr/>
        </p:nvSpPr>
        <p:spPr>
          <a:xfrm>
            <a:off x="4709159" y="4599432"/>
            <a:ext cx="1353312" cy="283464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29" name="Chevron 228"/>
          <p:cNvSpPr/>
          <p:nvPr/>
        </p:nvSpPr>
        <p:spPr>
          <a:xfrm>
            <a:off x="614476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583679" y="4599432"/>
            <a:ext cx="1353312" cy="283464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Assisted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review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05409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342132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3822191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302252"/>
            <a:ext cx="6080760" cy="37947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4028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3" name="Picture 212" descr="professional_support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214" name="TextBox 213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8" name="Table 207"/>
          <p:cNvGraphicFramePr>
            <a:graphicFrameLocks noGrp="1"/>
          </p:cNvGraphicFramePr>
          <p:nvPr/>
        </p:nvGraphicFramePr>
        <p:xfrm>
          <a:off x="694944" y="1307592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530352"/>
                <a:gridCol w="2697480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Source PDF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Pages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Structure / coverage observed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aurorastay_room_and_property_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information.pdf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Policy prose + six-property matrix; property-specific rows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aurorastay_booking_terms_and_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cancellation_policy.pdf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Rates, cancellation, check-in/out, reservation conditions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aurorastay_refunds_and_additional_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charges_guide.pdf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Refund rules, fees, exceptions, and conditional charges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aurorastay_guest_conduct_accessibility_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and_resolution_guidelines.pdf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Conduct, accessibility, eligibility, and resolution guidance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209" name="TextBox 208"/>
          <p:cNvSpPr txBox="1"/>
          <p:nvPr/>
        </p:nvSpPr>
        <p:spPr>
          <a:xfrm>
            <a:off x="694944" y="3493008"/>
            <a:ext cx="60807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E39A9"/>
                </a:solidFill>
                <a:latin typeface="Montserrat"/>
              </a:rPr>
              <a:t>Verification: all four PDFs loaded successfully; selectable text made OCR unnecessary. Docling preserved headings, lists, tables, and property rows.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94944" y="4078224"/>
            <a:ext cx="6080760" cy="475488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73152" rIns="54864">
            <a:normAutofit/>
          </a:bodyPr>
          <a:lstStyle/>
          <a:p>
            <a:r>
              <a:t>DESIGN IMPLICATION: preserve headings/tables, isolate property rows, and retain source/section/property/topic metadata. Supports domain embeddings and 120/16 token chunking.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DATA PIPELINE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7114032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7598664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8083296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6" name="Chevron 215"/>
          <p:cNvSpPr/>
          <p:nvPr/>
        </p:nvSpPr>
        <p:spPr>
          <a:xfrm>
            <a:off x="7690104" y="2670048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7351776" y="2862072"/>
            <a:ext cx="859536" cy="41148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Markdown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+ headings</a:t>
            </a:r>
          </a:p>
        </p:txBody>
      </p:sp>
      <p:sp>
        <p:nvSpPr>
          <p:cNvPr id="218" name="Chevron 217"/>
          <p:cNvSpPr/>
          <p:nvPr/>
        </p:nvSpPr>
        <p:spPr>
          <a:xfrm>
            <a:off x="7690104" y="3364991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ounded Rectangle 218"/>
          <p:cNvSpPr/>
          <p:nvPr/>
        </p:nvSpPr>
        <p:spPr>
          <a:xfrm>
            <a:off x="7351776" y="3557015"/>
            <a:ext cx="859536" cy="41148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metadata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077456" y="4032504"/>
            <a:ext cx="140817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i="1">
                <a:solidFill>
                  <a:srgbClr val="5A5A5A"/>
                </a:solidFill>
                <a:latin typeface="Montserrat"/>
              </a:rPr>
              <a:t>4 source guides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 - Markdown / Table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261872"/>
            <a:ext cx="7936992" cy="1444752"/>
          </a:xfrm>
          <a:prstGeom prst="roundRect">
            <a:avLst/>
          </a:prstGeom>
          <a:solidFill>
            <a:srgbClr val="F5F8FD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E39A9"/>
                </a:solidFill>
                <a:latin typeface="Montserrat"/>
              </a:rPr>
              <a:t>Converted Markdown | source: aurorastay_room_and_property_information.pdf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591055"/>
            <a:ext cx="7479792" cy="1033272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Room and Property Information Guide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Policy code | AS-02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Effective date | January 1, 2026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5. Property-specific matrix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889504"/>
            <a:ext cx="7936992" cy="1481328"/>
          </a:xfrm>
          <a:prstGeom prst="roundRect">
            <a:avLst/>
          </a:prstGeom>
          <a:solidFill>
            <a:srgbClr val="F0FAF8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80944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9CA6"/>
                </a:solidFill>
                <a:latin typeface="Montserrat"/>
              </a:rPr>
              <a:t>Extracted Markdown table | preserved rows and property-specific values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218688"/>
            <a:ext cx="7479792" cy="1069848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Property | Check-in / out | Parking | Pets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ASH-ATL Midtown | 3:00 PM / 11:00 AM | Self parking, $28/night | $75/stay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ASH-CHI Loop | 3:00 PM / 12:00 PM | Self parking, $42/night | $50/night; $150 cap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ASH-MIA Brickell | 4:00 PM / 11:00 AM | Valet, $55/night | $100/stay 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457200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7752"/>
                </a:solidFill>
                <a:latin typeface="Montserrat"/>
              </a:rPr>
              <a:t>Why it matters: headings retain semantic context; table rows preserve exact property values for focused retrieval.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Tokenizer maximum length: 128 tokens; token-safe chunk size: 120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3054096"/>
            <a:ext cx="6080760" cy="649224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F7752"/>
                </a:solidFill>
                <a:latin typeface="Montserrat"/>
              </a:rPr>
              <a:t>MODEL SELECTION RATIONALE: the corpus is hotel-policy text with repeated property codes, fees, exceptions, and room-feature terms.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373532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domain-trained encoder should preserve these policy distinctions more directly than a generic embedding model.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421538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document inspection therefore supports HarishMaths/Hotel-Policy-Embedding as the fit-for-purpose choice.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EMBEDDING FLOW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7333488" y="2221991"/>
            <a:ext cx="896112" cy="34747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Policy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text</a:t>
            </a:r>
          </a:p>
        </p:txBody>
      </p:sp>
      <p:sp>
        <p:nvSpPr>
          <p:cNvPr id="233" name="Chevron 232"/>
          <p:cNvSpPr/>
          <p:nvPr/>
        </p:nvSpPr>
        <p:spPr>
          <a:xfrm>
            <a:off x="7699248" y="262432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ounded Rectangle 233"/>
          <p:cNvSpPr/>
          <p:nvPr/>
        </p:nvSpPr>
        <p:spPr>
          <a:xfrm>
            <a:off x="7333488" y="2816352"/>
            <a:ext cx="896112" cy="34747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Token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</a:t>
            </a:r>
          </a:p>
        </p:txBody>
      </p:sp>
      <p:sp>
        <p:nvSpPr>
          <p:cNvPr id="235" name="Chevron 234"/>
          <p:cNvSpPr/>
          <p:nvPr/>
        </p:nvSpPr>
        <p:spPr>
          <a:xfrm>
            <a:off x="7699248" y="321868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7333488" y="3447288"/>
            <a:ext cx="713232" cy="82296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7333488" y="3593592"/>
            <a:ext cx="530352" cy="82296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7333488" y="3739896"/>
            <a:ext cx="832104" cy="82296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ounded Rectangle 238"/>
          <p:cNvSpPr/>
          <p:nvPr/>
        </p:nvSpPr>
        <p:spPr>
          <a:xfrm>
            <a:off x="7333488" y="3922776"/>
            <a:ext cx="896112" cy="34747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Chunk size: 120 tokens; overlap: 16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r>
              <a:t>CHUNKING RATIONALE: 120/16 stays within the 128-token tokenizer limit while retaining local policy context; overlap protects rules at boundaries.</a:t>
            </a:r>
          </a:p>
        </p:txBody>
      </p:sp>
      <p:sp>
        <p:nvSpPr>
          <p:cNvPr id="235" name="Oval 234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Total chunks created: 178,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150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2506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Vector database: FAISS with 178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228600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Top-k trade-off: larger k improves retrieval recall but increases context noise; k=5 was selected as the best balance on held-out evaluation.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3255264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35433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36438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RAG FLOW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7114032" y="2011680"/>
            <a:ext cx="1335024" cy="201168"/>
          </a:xfrm>
          <a:prstGeom prst="roundRect">
            <a:avLst/>
          </a:prstGeom>
          <a:solidFill>
            <a:srgbClr val="F8FAFE"/>
          </a:solidFill>
          <a:ln w="10160">
            <a:solidFill>
              <a:srgbClr val="788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000000"/>
                </a:solidFill>
                <a:latin typeface="Montserrat"/>
              </a:rPr>
              <a:t>property/topic metadata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7296912" y="2194560"/>
            <a:ext cx="969264" cy="32918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56" name="Chevron 255"/>
          <p:cNvSpPr/>
          <p:nvPr/>
        </p:nvSpPr>
        <p:spPr>
          <a:xfrm>
            <a:off x="7699248" y="2587752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ounded Rectangle 256"/>
          <p:cNvSpPr/>
          <p:nvPr/>
        </p:nvSpPr>
        <p:spPr>
          <a:xfrm>
            <a:off x="7296912" y="2770632"/>
            <a:ext cx="969264" cy="36576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retrieve</a:t>
            </a:r>
          </a:p>
        </p:txBody>
      </p:sp>
      <p:sp>
        <p:nvSpPr>
          <p:cNvPr id="258" name="Chevron 257"/>
          <p:cNvSpPr/>
          <p:nvPr/>
        </p:nvSpPr>
        <p:spPr>
          <a:xfrm>
            <a:off x="7699248" y="320954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ounded Rectangle 258"/>
          <p:cNvSpPr/>
          <p:nvPr/>
        </p:nvSpPr>
        <p:spPr>
          <a:xfrm>
            <a:off x="7296912" y="3392424"/>
            <a:ext cx="969264" cy="365760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MMR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rerank</a:t>
            </a:r>
          </a:p>
        </p:txBody>
      </p:sp>
      <p:sp>
        <p:nvSpPr>
          <p:cNvPr id="260" name="Chevron 259"/>
          <p:cNvSpPr/>
          <p:nvPr/>
        </p:nvSpPr>
        <p:spPr>
          <a:xfrm>
            <a:off x="7699248" y="383133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ounded Rectangle 260"/>
          <p:cNvSpPr/>
          <p:nvPr/>
        </p:nvSpPr>
        <p:spPr>
          <a:xfrm>
            <a:off x="7296912" y="4005072"/>
            <a:ext cx="969264" cy="36576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07899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1795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5590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6596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0391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Property/topic routing filters candidates before reranking when focused matches exist, with global fallback for ambiguous questions.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1396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7203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retained for source traceability and evidence display.</a:t>
            </a:r>
          </a:p>
        </p:txBody>
      </p:sp>
      <p:sp>
        <p:nvSpPr>
          <p:cNvPr id="255" name="Oval 254"/>
          <p:cNvSpPr/>
          <p:nvPr/>
        </p:nvSpPr>
        <p:spPr>
          <a:xfrm>
            <a:off x="402336" y="28209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32004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33009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36804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94944" y="39684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40690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694944" y="425653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62" name="Oval 261"/>
          <p:cNvSpPr/>
          <p:nvPr/>
        </p:nvSpPr>
        <p:spPr>
          <a:xfrm>
            <a:off x="402336" y="43571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94944" y="4544568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4" name="Oval 263"/>
          <p:cNvSpPr/>
          <p:nvPr/>
        </p:nvSpPr>
        <p:spPr>
          <a:xfrm>
            <a:off x="402336" y="46451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1391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01952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18998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6700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ounded Rectangle 265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68" name="Rounded Rectangle 267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69" name="Chevron 268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71" name="Chevron 270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excerpt: "You are the Aurora Stays policy assistant. Use only the retrieved policy context to answer."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372618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4407408"/>
            <a:ext cx="6080760" cy="274319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45079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ounded Rectangle 27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81" name="Chevron 280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83" name="Chevron 282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286000"/>
            <a:ext cx="6729984" cy="8503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1683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2689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7327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2128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separate, stronger judge model reduces self-evaluation bias and provides a more independent assessment of generated answers.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3134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28940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judge scores factual support, retrieval coverage, retrieval focus, and answer relevance.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33741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34747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Faithfulness &gt;= 0.85: actual answer + retrieved context; every important claim must be supported.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Recall &gt;= 0.80: expected answer + retrieved context; required evidence must be present.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Precision &gt;= 0.75: question + retrieved context; relevant evidence must be prioritized over noise.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Relevancy &gt;= 0.75: question + generated answer; the answer must directly address the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ounded Rectangle 30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EVALUATION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7077456" y="2240280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E39A9"/>
                </a:solidFill>
                <a:latin typeface="Montserrat"/>
              </a:rPr>
              <a:t>F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388352" y="2267712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388352" y="2267712"/>
            <a:ext cx="980639" cy="109728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412480" y="2231136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0.99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7077456" y="2633472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09CA6"/>
                </a:solidFill>
                <a:latin typeface="Montserrat"/>
              </a:rPr>
              <a:t>R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388352" y="2660904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8352" y="2660904"/>
            <a:ext cx="944099" cy="10972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8412480" y="2624328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0.96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7077456" y="3026664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CA9128"/>
                </a:solidFill>
                <a:latin typeface="Montserrat"/>
              </a:rPr>
              <a:t>P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388352" y="3054096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7388352" y="3054096"/>
            <a:ext cx="771278" cy="109728"/>
          </a:xfrm>
          <a:prstGeom prst="rect">
            <a:avLst/>
          </a:prstGeom>
          <a:solidFill>
            <a:srgbClr val="CA9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412480" y="3017520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0.78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077456" y="3419856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1F7752"/>
                </a:solidFill>
                <a:latin typeface="Montserrat"/>
              </a:rPr>
              <a:t>AR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88352" y="3447288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388352" y="3447288"/>
            <a:ext cx="918423" cy="109728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8412480" y="3410712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0.93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7077456" y="3904487"/>
            <a:ext cx="14081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0E39A9"/>
                </a:solidFill>
                <a:latin typeface="Montserrat"/>
              </a:rPr>
              <a:t>Held-out averages | 4 gates → pass / review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04" name="Table 303"/>
          <p:cNvGraphicFramePr>
            <a:graphicFrameLocks noGrp="1"/>
          </p:cNvGraphicFramePr>
          <p:nvPr/>
        </p:nvGraphicFramePr>
        <p:xfrm>
          <a:off x="530352" y="1261872"/>
          <a:ext cx="808329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6208776"/>
              </a:tblGrid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ontserrat"/>
                        </a:rPr>
                        <a:t>Evidence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Evaluation progression and final 120/16 run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Initial baseline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passed | 120/16 token-safe chunking run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Improvement path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120/16 chunks | MMR 0.50 | CrossEncoder | property/topic routing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Notebook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Aurora_Stays_RAG_POC_Local_120_16_token_safe_executed.ipynb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Cases loaded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10 held-out cases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Pass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(70%)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Weighted composite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0.867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Configuration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k=5 | chunk 120/16 | MMR 0.50 | fetch_k=20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Evaluation loop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Each case runs retrieve → generate; all four metrics are computed per case, then aggregated.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Recorded artifact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reports/notebook_120_16_token_safe_test_cases.csv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5" name="TextBox 304"/>
          <p:cNvSpPr txBox="1"/>
          <p:nvPr/>
        </p:nvSpPr>
        <p:spPr>
          <a:xfrm>
            <a:off x="566928" y="4443984"/>
            <a:ext cx="7955279" cy="42062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The executed 120/16 token-safe run is the final held-out result shown in the case-level table: 7/10 passed.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3278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4140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28940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5753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6758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20" name="Table 319"/>
          <p:cNvGraphicFramePr>
            <a:graphicFrameLocks noGrp="1"/>
          </p:cNvGraphicFramePr>
          <p:nvPr/>
        </p:nvGraphicFramePr>
        <p:xfrm>
          <a:off x="438912" y="1207008"/>
          <a:ext cx="682142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"/>
                <a:gridCol w="2743200"/>
                <a:gridCol w="530352"/>
                <a:gridCol w="530352"/>
                <a:gridCol w="530352"/>
                <a:gridCol w="530352"/>
                <a:gridCol w="777240"/>
                <a:gridCol w="749808"/>
              </a:tblGrid>
              <a:tr h="290945">
                <a:tc>
                  <a:txBody>
                    <a:bodyPr/>
                    <a:lstStyle/>
                    <a:p>
                      <a:r>
                        <a:t>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Test 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Composite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OTA cancellation/refund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0.901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0.771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Member discount/cancellation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0.949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Double Queen occupancy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0.950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Accessible King inclusions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0.384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0.601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Atlanta/Miami parking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0.673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0.871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Miami breakfast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0.259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Advance Purchase change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0.984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Denver late checkout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0.820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0.941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ASH-CHI pet fee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50">
                <a:tc>
                  <a:txBody>
                    <a:bodyPr tIns="22860" bIns="22860"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Card-hold difference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0.992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0.946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0.814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0.933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321" name="TextBox 320"/>
          <p:cNvSpPr txBox="1"/>
          <p:nvPr/>
        </p:nvSpPr>
        <p:spPr>
          <a:xfrm>
            <a:off x="502920" y="4480560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Transparent 120/16 result: 7/10 passed; weighted composite .867. Failed cases are Accessible King, Atlanta/Miami parking, and Miami breakfast.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02920" y="4727448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 i="1">
                <a:solidFill>
                  <a:srgbClr val="505050"/>
                </a:solidFill>
                <a:latin typeface="Montserrat"/>
              </a:rPr>
              <a:t>F = Faithfulness | R = Contextual Recall | P = Contextual Precision | AR = Answer Relevancy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persisted FAISS index contains 178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325526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ounded Rectangle 33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IMPLEMENTATION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7114032" y="2295144"/>
            <a:ext cx="530352" cy="43891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341" name="Chevron 340"/>
          <p:cNvSpPr/>
          <p:nvPr/>
        </p:nvSpPr>
        <p:spPr>
          <a:xfrm>
            <a:off x="7680960" y="2432304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ounded Rectangle 341"/>
          <p:cNvSpPr/>
          <p:nvPr/>
        </p:nvSpPr>
        <p:spPr>
          <a:xfrm>
            <a:off x="7882128" y="2295144"/>
            <a:ext cx="530352" cy="43891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Flask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API</a:t>
            </a:r>
          </a:p>
        </p:txBody>
      </p:sp>
      <p:sp>
        <p:nvSpPr>
          <p:cNvPr id="343" name="Chevron 342"/>
          <p:cNvSpPr/>
          <p:nvPr/>
        </p:nvSpPr>
        <p:spPr>
          <a:xfrm>
            <a:off x="7680960" y="2944368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7516368" y="3218688"/>
            <a:ext cx="713232" cy="43891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7333488" y="3886200"/>
            <a:ext cx="896112" cy="347472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Docker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Codespaces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0594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/v1/relevant_chunks returns the top-k retrieved policy chunks; answer endpoints return generated output with optional evidence.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48716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Request validation rejects missing/non-JSON bodies, blank queries, invalid k, and out-of-range generation parameters with JSON HTTP 400 responses.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31683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Unexpected inference failures are logged server-side and returned as a generic JSON HTTP 500 response; 404/405 errors also use JSON responses.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32689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8496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GET / returns a readiness message; container binding is 0.0.0.0:7860 and local smoke tests use port 5000.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9502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4329684"/>
            <a:ext cx="6729984" cy="352043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44302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All runtime dependencies are version-pinned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Flask 3.1.3, Werkzeug 3.1.8, requests 2.34.2, Gunicorn 26.2.0, and uvicorn 0.52.3.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28600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LangChain HuggingFace 1.2.2, Community 0.4.2, OpenAI 1.6.1, sentence-transformers 6.1.0, faiss-cpu 1.15.0, truststore 0.10.4.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Docker pins torch 2.14.0 from the CPU-only PyTorch index before installing the requirements file.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Base image: python:3.13.15-slim; copies the backend application, FAISS artifact, and pinned requirements into /app.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Installs pinned CPU-only torch 2.14.0 and all pinned backend dependencies without pip cache.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Downloads the Hugging Face embedding model at build time and stores it under HF_HOME=/app/huggingface for reuse.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Transformers loads the cached embedding model; offline flags avoid runtime downloads.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backend API is exposed on port 7860 for Codespaces traffic.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uses BACKEND_URL; API keys remain backend-only. Docker backend: 7860; local tests: 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24612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39273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in Codespaces with Streamlit on port 8501 and the Dockerized Flask API on port 7860.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2" name="Picture 371" descr="team_collaboration_faces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346704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73" name="TextBox 372"/>
          <p:cNvSpPr txBox="1"/>
          <p:nvPr/>
        </p:nvSpPr>
        <p:spPr>
          <a:xfrm>
            <a:off x="6830568" y="4453128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Binds Streamlit to 0.0.0.0:8501 for Codespaces or container access; EXPOSE 8501 makes the service discoverable.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Docker command: streamlit run app.py --server.port=8501 --server.address=0.0.0.0.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0540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Clarification: 0.0.0.0:8501 is the container bind address; users open the browser-facing Codespaces/public forwarded URL, not 0.0.0.0 directly.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37353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XSRF protection is disabled for this POC only; enable it in production deployments.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421538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image defaults BACKEND_URL to http://host.docker.internal:7860; override it with the backend Codespace URL when needed.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Repository: github.com/raovutukoor1/aurora-stay-qna-120-token-option.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Current deployment commit: d7a7e3f — fixed the 120-token Docker runtime configuration.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09397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Reproducible tree: backend/app.py, rag_utils.py, Dockerfile, backend/requirements.txt, and FAISS artifacts; frontend/app.py, Dockerfile, and its dependency manifest.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775204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Evaluation artifacts: executed 120/16 notebook and reports/notebook_120_16_token_safe_test_cases.csv; presentation source and generated PPTX/PDF are retained.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28757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456432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Runtime configuration: OPENAI_API_KEY and OPENAI_BASE_URL come from Codespaces Secrets or a private local config; credentials are not tracked.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5570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4137660"/>
            <a:ext cx="6080760" cy="544067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 fresh deployment can therefore rebuild the index-backed backend and Streamlit frontend without missing code, artifacts, or configuration guidance.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42382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ounded Rectangle 387"/>
          <p:cNvSpPr/>
          <p:nvPr/>
        </p:nvSpPr>
        <p:spPr>
          <a:xfrm>
            <a:off x="6903720" y="1783080"/>
            <a:ext cx="1700784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6976872" y="1856231"/>
            <a:ext cx="1554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DEPLOYMENT FLOW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7242048" y="2203704"/>
            <a:ext cx="1024128" cy="39319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repository</a:t>
            </a:r>
          </a:p>
        </p:txBody>
      </p:sp>
      <p:sp>
        <p:nvSpPr>
          <p:cNvPr id="391" name="Chevron 390"/>
          <p:cNvSpPr/>
          <p:nvPr/>
        </p:nvSpPr>
        <p:spPr>
          <a:xfrm>
            <a:off x="7671816" y="266090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ounded Rectangle 391"/>
          <p:cNvSpPr/>
          <p:nvPr/>
        </p:nvSpPr>
        <p:spPr>
          <a:xfrm>
            <a:off x="7242048" y="2834639"/>
            <a:ext cx="1024128" cy="39319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Codespace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container</a:t>
            </a:r>
          </a:p>
        </p:txBody>
      </p:sp>
      <p:sp>
        <p:nvSpPr>
          <p:cNvPr id="393" name="Chevron 392"/>
          <p:cNvSpPr/>
          <p:nvPr/>
        </p:nvSpPr>
        <p:spPr>
          <a:xfrm>
            <a:off x="7671816" y="3291839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ounded Rectangle 393"/>
          <p:cNvSpPr/>
          <p:nvPr/>
        </p:nvSpPr>
        <p:spPr>
          <a:xfrm>
            <a:off x="7242048" y="3465576"/>
            <a:ext cx="1024128" cy="39319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95" name="Chevron 394"/>
          <p:cNvSpPr/>
          <p:nvPr/>
        </p:nvSpPr>
        <p:spPr>
          <a:xfrm>
            <a:off x="7671816" y="392277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ounded Rectangle 395"/>
          <p:cNvSpPr/>
          <p:nvPr/>
        </p:nvSpPr>
        <p:spPr>
          <a:xfrm>
            <a:off x="7242048" y="4059936"/>
            <a:ext cx="1024128" cy="292608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Forwarded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port 8501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public endpoints: frontend port 8501 and backend port 7860; both returned HTTP 200.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6" name="Picture 395" descr="deployment_professional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97" name="TextBox 396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09397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3820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excerpt: relevant_chunks include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30632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31638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Endpoint: POST {BACKEND_URL}/v1/answer_with_relevant_chunks; payload includes query, k=5, temperature=0.0, and max_tokens=512.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2007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Response includes the answer, model name, parameters, and supporting evidence chunks.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21076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48716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Live Codespaces smoke tests: frontend HTTP 200, backend readiness HTTP 200, answer HTTP 200, and answer-with-evidence HTTP 200 with 3 evidence chunks.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Parking: Atlanta self-parking $28/night and Miami valet $55/night; evidence returned.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ASH-CHI pet charge: $50/night with a $150 stay cap; flexible cancellation: 6:00 PM local-property-time deadline.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694944" y="39273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Online/offline consistency check: these policy values and evidence selections matched the corresponding offline evaluation checks; no endpoint-specific answer drift was observed.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Streamlit Webpage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rora_streamlit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5074920" cy="3877056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5230368"/>
            <a:ext cx="5074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Full-page capture from the public Codespaces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389888"/>
            <a:ext cx="2788920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Public frontend URL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https://turbo-zebra-4qqj6wr7pv573xpr-8501.app.github.dev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Backend API URL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https://turbo-zebra-4qqj6wr7pv573xpr-7860.app.github.dev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Status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Frontend loaded with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Backend readiness returned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Captured: 20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Smoke-Test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2588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Validated public Codespaces deployment — 20 October 2026.</a:t>
            </a:r>
          </a:p>
        </p:txBody>
      </p:sp>
      <p:sp>
        <p:nvSpPr>
          <p:cNvPr id="7" name="Oval 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73352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Frontend + backend: HTTP 200; Streamlit UI and readiness response returned.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7739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48840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only: HTTP 200; grounded parking answer; chunks omitted by design.</a:t>
            </a:r>
          </a:p>
        </p:txBody>
      </p:sp>
      <p:sp>
        <p:nvSpPr>
          <p:cNvPr id="11" name="Oval 10"/>
          <p:cNvSpPr/>
          <p:nvPr/>
        </p:nvSpPr>
        <p:spPr>
          <a:xfrm>
            <a:off x="402336" y="22494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24328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+ chunks: HTTP 200; same answer plus 3 evidence chunks.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" y="27249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97180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Parking: Atlanta $28/night self-parking; Miami $55/night valet.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30723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319272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ASH-CHI pet: $50/night; $150/stay cap; 3 evidence chunks.</a:t>
            </a:r>
          </a:p>
        </p:txBody>
      </p:sp>
      <p:sp>
        <p:nvSpPr>
          <p:cNvPr id="17" name="Oval 16"/>
          <p:cNvSpPr/>
          <p:nvPr/>
        </p:nvSpPr>
        <p:spPr>
          <a:xfrm>
            <a:off x="402336" y="34198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666744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Flexible cancellation: 6:00 PM deadline; 5 evidence chunks.</a:t>
            </a:r>
          </a:p>
        </p:txBody>
      </p:sp>
      <p:sp>
        <p:nvSpPr>
          <p:cNvPr id="19" name="Oval 18"/>
          <p:cNvSpPr/>
          <p:nvPr/>
        </p:nvSpPr>
        <p:spPr>
          <a:xfrm>
            <a:off x="402336" y="37673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88136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only — supplied smoke-test capture</a:t>
            </a:r>
          </a:p>
        </p:txBody>
      </p:sp>
      <p:pic>
        <p:nvPicPr>
          <p:cNvPr id="21" name="Picture 20" descr="smoke_test_answer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61872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5074920" y="3081528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+ Relevant Chunks — supplied smoke-test capture</a:t>
            </a:r>
          </a:p>
        </p:txBody>
      </p:sp>
      <p:pic>
        <p:nvPicPr>
          <p:cNvPr id="23" name="Picture 22" descr="smoke_test_answer_plus_chu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255264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Insights from Analysis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What the analysis means for the business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594360" y="1627632"/>
            <a:ext cx="7360920" cy="932688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0E39A9"/>
                </a:solidFill>
                <a:latin typeface="Montserrat"/>
              </a:rPr>
              <a:t>PERFORMANCE SIGNAL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7/10 held-out cases passed with a weighted composite of .867 using 120/16 token-safe chunking. This is a quality signal for fewer manual policy lookups; HTTP 200 smoke tests support service readiness.</a:t>
            </a:r>
          </a:p>
        </p:txBody>
      </p:sp>
      <p:sp>
        <p:nvSpPr>
          <p:cNvPr id="416" name="Rounded Rectangle 415"/>
          <p:cNvSpPr/>
          <p:nvPr/>
        </p:nvSpPr>
        <p:spPr>
          <a:xfrm>
            <a:off x="594360" y="2770632"/>
            <a:ext cx="7360920" cy="932688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B97D18"/>
                </a:solidFill>
                <a:latin typeface="Montserrat"/>
              </a:rPr>
              <a:t>RISK TO MANAGE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Three cases failed: Accessible King (precision=.384), Atlanta/Miami parking (precision=.673), and Miami breakfast (recall=.003; precision=0.000).</a:t>
            </a:r>
          </a:p>
        </p:txBody>
      </p:sp>
      <p:sp>
        <p:nvSpPr>
          <p:cNvPr id="417" name="Rounded Rectangle 416"/>
          <p:cNvSpPr/>
          <p:nvPr/>
        </p:nvSpPr>
        <p:spPr>
          <a:xfrm>
            <a:off x="594360" y="3913632"/>
            <a:ext cx="7360920" cy="932688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20" b="1">
                <a:solidFill>
                  <a:srgbClr val="1F7752"/>
                </a:solidFill>
                <a:latin typeface="Montserrat"/>
              </a:rPr>
              <a:t>BUSINESS IMPLICATION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Pilot success should be measured through handling time, first-contact resolution, escalation rate, evidence clicks, latency, and availability. Evidence display plus assisted review protects quality while adoption grows.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Actionable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Logical next steps for a controlled business 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27632"/>
            <a:ext cx="3429000" cy="987552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0664" y="1792224"/>
            <a:ext cx="393192" cy="393192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PILOT THE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Use k=5 with evidence display enabled for support staff.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627632"/>
            <a:ext cx="3429000" cy="987552"/>
          </a:xfrm>
          <a:prstGeom prst="roundRect">
            <a:avLst/>
          </a:prstGeom>
          <a:solidFill>
            <a:srgbClr val="E6F7F6"/>
          </a:solidFill>
          <a:ln w="1397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2584" y="1792224"/>
            <a:ext cx="393192" cy="393192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64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09CA6"/>
                </a:solidFill>
                <a:latin typeface="Montserrat"/>
              </a:rPr>
              <a:t>MONITOR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Track pass rate, precision, latency, escalation rate, and evidence clicks.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907792"/>
            <a:ext cx="3429000" cy="987552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0664" y="3072384"/>
            <a:ext cx="393192" cy="393192"/>
          </a:xfrm>
          <a:prstGeom prst="ellipse">
            <a:avLst/>
          </a:prstGeom>
          <a:solidFill>
            <a:srgbClr val="B97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B97D18"/>
                </a:solidFill>
                <a:latin typeface="Montserrat"/>
              </a:rPr>
              <a:t>ESCALATE AMBIGUITY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Route low-confidence or underspecified questions to assisted review.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907792"/>
            <a:ext cx="3429000" cy="987552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72584" y="3072384"/>
            <a:ext cx="393192" cy="393192"/>
          </a:xfrm>
          <a:prstGeom prst="ellipse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7752"/>
                </a:solidFill>
                <a:latin typeface="Montserrat"/>
              </a:rPr>
              <a:t>REVIEW BEFORE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Investigate the Accessible King failure during the pilot before wider release.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315968"/>
            <a:ext cx="7360920" cy="566928"/>
          </a:xfrm>
          <a:prstGeom prst="roundRect">
            <a:avLst/>
          </a:prstGeom>
          <a:solidFill>
            <a:srgbClr val="F2F6FF"/>
          </a:solidFill>
          <a:ln w="152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39A9"/>
                </a:solidFill>
                <a:latin typeface="Montserrat"/>
              </a:rPr>
              <a:t>DECISION: proceed with a controlled pilot; review the known Accessible King failure before wider release.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166420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578608"/>
            <a:ext cx="7498079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Evaluation transparency, development workflow,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deployment workflow, and operating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3632"/>
            <a:ext cx="7040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D2DCEB"/>
                </a:solidFill>
                <a:latin typeface="Montserrat"/>
              </a:rPr>
              <a:t>Reference section for implementation, auditability, and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3456432"/>
            <a:ext cx="1417320" cy="6400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Evidence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34213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Accessible King case has Contextual Precision=.384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0233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  <a:p>
            <a:r>
              <a:rPr sz="1050" b="1">
                <a:solidFill>
                  <a:srgbClr val="0E39A9"/>
                </a:solidFill>
                <a:latin typeface="Montserrat"/>
              </a:rPr>
              <a:t>See Appendix slide 40: Failed Case Analysis.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1239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ounded Rectangle 420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Development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Reproducible path from source policy documents to evaluated RAG artifacts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Source ingestion — load four policy PDFs with Docling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Structure — normalize Markdown; preserve headings and tables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t>Chunk + enrich — 120/16 token chunks, atomic rows, metadata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Embed + index — domain embeddings stored in FAISS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Retrieve — MMR, topic/property routing, CrossEncoder reranking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Generate — GPT-4o-mini answers from retrieved evidence only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Evaluate — DeepEval scores faithfulness, recall, precision, relevancy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Tune + repair — diagnostics drive focused retrieval improvements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Package — persist index, notebook outputs, CSV reports, prompts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Version — commit code, artifacts, configuration guidance, and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Deployment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Runtime path from container startup to monitored, evidence-backed responses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load — Flask loads FAISS, metadata, and cached embedding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API surface — answer, answer-with-chunks, and relevant-chunks endpoints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container — Gunicorn on 0.0.0.0:7860; readiness endpoint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app — Streamlit sends query, k, temperature, and token limits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container — Streamlit binds to 0.0.0.0:8501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Configuration — secrets provide API key, base URL, and BACKEND_URL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Network — ports are forwarded; users open the public/browser URL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Smoke test — validate HTTP 200, answers, evidence, and policy values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Monitor — track pass rate, precision, latency, escalation, evidence clicks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Handoff — retain logs/artifacts and the operational runbook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Rubric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7818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Project Evaluation Rubric areas → implementation evidence → verified artifact or outcome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417320"/>
          <a:ext cx="8193024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/>
                <a:gridCol w="621792"/>
                <a:gridCol w="3035808"/>
                <a:gridCol w="3236976"/>
              </a:tblGrid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Rubric area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Slide(s)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Implementation evidence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Artifact / outcome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Data understanding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policy PDFs converted to structured Markdown; headings and tables preserved.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Markdown/table evidence slide; source files retained.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Retrieval Augmented Generation System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7–14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Token-safe 120/16 chunks, metadata, FAISS, MMR, routing, reranking, and grounded generation.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Backend retrieval module, indexed artifacts, and evidence-backed responses.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Evaluation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15–20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DeepEval gates with explicit thresholds; initial 7/10 baseline retained for comparison.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Final selected run: 7/10 passed; composite .867.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Backend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21–24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Flask API, FAISS/model loading, pinned dependencies, Docker, and Gunicorn readiness service.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readiness and answer/evidence endpoints.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Frontend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25–26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Streamlit UI, parameter controls, answer/evidence display, and frontend container binding.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Browser-facing application on the forwarded Streamlit port.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Inference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28–32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Forwarded URL configuration, relevant-chunks and answer-with-chunks requests, and smoke tests.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inference checks with policy values and evidence returned.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Actionable Insights and Recommendations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33–34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Business implications, pilot controls, monitoring measures, and next-step recommendations.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Controlled-pilot recommendation with quality and operating measures.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901184"/>
            <a:ext cx="7955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62179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100" b="1">
                <a:solidFill>
                  <a:srgbClr val="0E39A9"/>
                </a:solidFill>
                <a:latin typeface="Aptos"/>
              </a:rPr>
              <a:t>Failed Case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40080"/>
            <a:ext cx="82296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566275"/>
                </a:solidFill>
                <a:latin typeface="Aptos"/>
              </a:rPr>
              <a:t>120/16 token-safe held-out run | 7/10 passed | failures are retrieval-focused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4 · Accessible 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.384 | AR .601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Ambiguous property/feature leads to broad room and accessibility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Clarify the property/feature and route to the exact room row.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36976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46704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5 · Parking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.673 | R .961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Two-property request mixes parking rows with unrelated chunks.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Map both entities and retrieve only the Atlanta/Miami parking rows.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6 · Breakfast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R .003 | P 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“Miami Brickell” is not normalized to ASH-MIA; the row is split.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Add alias mapping and preserve complete property rows.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608576"/>
            <a:ext cx="8503920" cy="274320"/>
          </a:xfrm>
          <a:prstGeom prst="roundRect">
            <a:avLst/>
          </a:prstGeom>
          <a:solidFill>
            <a:srgbClr val="EEF3FF"/>
          </a:solidFill>
          <a:ln>
            <a:solidFill>
              <a:srgbClr val="BEC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4654296"/>
            <a:ext cx="8275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1">
                <a:solidFill>
                  <a:srgbClr val="0E39A9"/>
                </a:solidFill>
                <a:latin typeface="Aptos"/>
              </a:rPr>
              <a:t>Generation tuning: keep temperature=0.0 and top_p=1.0; tuning cannot repair missing retrieval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4892040"/>
            <a:ext cx="274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0">
                <a:solidFill>
                  <a:srgbClr val="566275"/>
                </a:solidFill>
                <a:latin typeface="Aptos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