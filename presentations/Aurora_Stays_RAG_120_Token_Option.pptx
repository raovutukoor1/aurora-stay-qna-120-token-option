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87" r:id="rId39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9" r:id="rId59"/>
    <p:sldId id="288" r:id="rId58"/>
    <p:sldId id="286" r:id="rId38"/>
    <p:sldId id="290" r:id="rId60"/>
    <p:sldId id="291" r:id="rId61"/>
    <p:sldId id="285" r:id="rId37"/>
    <p:sldId id="292" r:id="rId62"/>
    <p:sldId id="293" r:id="rId63"/>
    <p:sldId id="294" r:id="rId64"/>
    <p:sldId id="295" r:id="rId65"/>
  </p:sldIdLst>
  <p:sldSz cy="5143500" cx="9144000"/>
  <p:notesSz cx="6858000" cy="9144000"/>
  <p:embeddedFontLst>
    <p:embeddedFont>
      <p:font typeface="Nunito SemiBold"/>
      <p:regular r:id="rId40"/>
      <p:bold r:id="rId41"/>
      <p:italic r:id="rId42"/>
      <p:boldItalic r:id="rId43"/>
    </p:embeddedFont>
    <p:embeddedFont>
      <p:font typeface="Nunito"/>
      <p:regular r:id="rId44"/>
      <p:bold r:id="rId45"/>
      <p:italic r:id="rId46"/>
      <p:boldItalic r:id="rId47"/>
    </p:embeddedFont>
    <p:embeddedFont>
      <p:font typeface="Montserrat"/>
      <p:regular r:id="rId48"/>
      <p:bold r:id="rId49"/>
      <p:italic r:id="rId50"/>
      <p:boldItalic r:id="rId51"/>
    </p:embeddedFont>
    <p:embeddedFont>
      <p:font typeface="Nunito ExtraBold"/>
      <p:bold r:id="rId52"/>
      <p:boldItalic r:id="rId53"/>
    </p:embeddedFont>
    <p:embeddedFont>
      <p:font typeface="Century Gothic"/>
      <p:regular r:id="rId54"/>
      <p:bold r:id="rId55"/>
      <p:italic r:id="rId56"/>
      <p:boldItalic r:id="rId5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698273-5225-4557-BD2E-0B8C5CF09AB3}">
  <a:tblStyle styleId="{A5698273-5225-4557-BD2E-0B8C5CF09A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5B9BD5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5B9BD5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6.xml"/><Relationship Id="rId38" Type="http://schemas.openxmlformats.org/officeDocument/2006/relationships/slide" Target="slides/slide33.xml"/><Relationship Id="rId39" Type="http://schemas.openxmlformats.org/officeDocument/2006/relationships/slide" Target="slides/slide6.xml"/><Relationship Id="rId40" Type="http://schemas.openxmlformats.org/officeDocument/2006/relationships/font" Target="fonts/NunitoSemiBold-regular.fntdata"/><Relationship Id="rId41" Type="http://schemas.openxmlformats.org/officeDocument/2006/relationships/font" Target="fonts/NunitoSemiBold-bold.fntdata"/><Relationship Id="rId42" Type="http://schemas.openxmlformats.org/officeDocument/2006/relationships/font" Target="fonts/NunitoSemiBold-italic.fntdata"/><Relationship Id="rId43" Type="http://schemas.openxmlformats.org/officeDocument/2006/relationships/font" Target="fonts/NunitoSemiBold-boldItalic.fntdata"/><Relationship Id="rId44" Type="http://schemas.openxmlformats.org/officeDocument/2006/relationships/font" Target="fonts/Nunito-regular.fntdata"/><Relationship Id="rId45" Type="http://schemas.openxmlformats.org/officeDocument/2006/relationships/font" Target="fonts/Nunito-bold.fntdata"/><Relationship Id="rId46" Type="http://schemas.openxmlformats.org/officeDocument/2006/relationships/font" Target="fonts/Nunito-italic.fntdata"/><Relationship Id="rId47" Type="http://schemas.openxmlformats.org/officeDocument/2006/relationships/font" Target="fonts/Nunito-boldItalic.fntdata"/><Relationship Id="rId48" Type="http://schemas.openxmlformats.org/officeDocument/2006/relationships/font" Target="fonts/Montserrat-regular.fntdata"/><Relationship Id="rId49" Type="http://schemas.openxmlformats.org/officeDocument/2006/relationships/font" Target="fonts/Montserrat-bold.fntdata"/><Relationship Id="rId50" Type="http://schemas.openxmlformats.org/officeDocument/2006/relationships/font" Target="fonts/Montserrat-italic.fntdata"/><Relationship Id="rId51" Type="http://schemas.openxmlformats.org/officeDocument/2006/relationships/font" Target="fonts/Montserrat-boldItalic.fntdata"/><Relationship Id="rId52" Type="http://schemas.openxmlformats.org/officeDocument/2006/relationships/font" Target="fonts/NunitoExtraBold-bold.fntdata"/><Relationship Id="rId53" Type="http://schemas.openxmlformats.org/officeDocument/2006/relationships/font" Target="fonts/NunitoExtraBold-boldItalic.fntdata"/><Relationship Id="rId54" Type="http://schemas.openxmlformats.org/officeDocument/2006/relationships/font" Target="fonts/CenturyGothic-regular.fntdata"/><Relationship Id="rId55" Type="http://schemas.openxmlformats.org/officeDocument/2006/relationships/font" Target="fonts/CenturyGothic-bold.fntdata"/><Relationship Id="rId56" Type="http://schemas.openxmlformats.org/officeDocument/2006/relationships/font" Target="fonts/CenturyGothic-italic.fntdata"/><Relationship Id="rId57" Type="http://schemas.openxmlformats.org/officeDocument/2006/relationships/font" Target="fonts/CenturyGothic-boldItalic.fntdata"/><Relationship Id="rId58" Type="http://schemas.openxmlformats.org/officeDocument/2006/relationships/slide" Target="slides/slide32.xml"/><Relationship Id="rId59" Type="http://schemas.openxmlformats.org/officeDocument/2006/relationships/slide" Target="slides/slide31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7.xml"/><Relationship Id="rId63" Type="http://schemas.openxmlformats.org/officeDocument/2006/relationships/slide" Target="slides/slide38.xml"/><Relationship Id="rId64" Type="http://schemas.openxmlformats.org/officeDocument/2006/relationships/slide" Target="slides/slide39.xml"/><Relationship Id="rId65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c275fce4fb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g3c275fce4fb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h1ee84572765e4f1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h1ee84572765e4f1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h1ee84572765e4f1b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h1ee84572765e4f1b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h1ee84572765e4f1b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h1ee84572765e4f1b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h1ee84572765e4f1b_1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h1ee84572765e4f1b_1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h1ee84572765e4f1b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h1ee84572765e4f1b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1ee84572765e4f1b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h1ee84572765e4f1b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h1ee84572765e4f1b_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h1ee84572765e4f1b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h1ee84572765e4f1b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h1ee84572765e4f1b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h1ee84572765e4f1b_1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h1ee84572765e4f1b_1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h1ee84572765e4f1b_1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h1ee84572765e4f1b_1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h1ee84572765e4f1b_1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h1ee84572765e4f1b_1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h1ee84572765e4f1b_1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h1ee84572765e4f1b_1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1ee84572765e4f1b_1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" name="Google Shape;316;h1ee84572765e4f1b_1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h1ee84572765e4f1b_1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h1ee84572765e4f1b_1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h1ee84572765e4f1b_1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h1ee84572765e4f1b_1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h1ee84572765e4f1b_1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h1ee84572765e4f1b_1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h1ee84572765e4f1b_1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h1ee84572765e4f1b_1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h1ee84572765e4f1b_1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h1ee84572765e4f1b_1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h1ee84572765e4f1b_1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" name="Google Shape;364;h1ee84572765e4f1b_1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h1ee84572765e4f1b_1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h1ee84572765e4f1b_1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h1ee84572765e4f1b_1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0" name="Google Shape;380;h1ee84572765e4f1b_1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h1ee84572765e4f1b_1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h1ee84572765e4f1b_1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h1ee84572765e4f1b_1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h1ee84572765e4f1b_1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2210208" y="744575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2210202" y="2834125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26" name="Google Shape;26;p5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9" name="Google Shape;49;p11"/>
          <p:cNvPicPr preferRelativeResize="0"/>
          <p:nvPr/>
        </p:nvPicPr>
        <p:blipFill rotWithShape="1">
          <a:blip r:embed="rId2">
            <a:alphaModFix/>
          </a:blip>
          <a:srcRect b="19149" l="42816" r="37294" t="1835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1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52" name="Google Shape;5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5874" y="683275"/>
            <a:ext cx="3757725" cy="8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type="title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1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9pPr>
          </a:lstStyle>
          <a:p/>
        </p:txBody>
      </p:sp>
      <p:sp>
        <p:nvSpPr>
          <p:cNvPr id="55" name="Google Shape;55;p12"/>
          <p:cNvSpPr txBox="1"/>
          <p:nvPr>
            <p:ph idx="1" type="body"/>
          </p:nvPr>
        </p:nvSpPr>
        <p:spPr>
          <a:xfrm>
            <a:off x="457200" y="1021842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10" type="dt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2"/>
          <p:cNvSpPr txBox="1"/>
          <p:nvPr>
            <p:ph idx="11" type="ftr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3"/>
          <p:cNvSpPr txBox="1"/>
          <p:nvPr>
            <p:ph idx="10" type="dt"/>
          </p:nvPr>
        </p:nvSpPr>
        <p:spPr>
          <a:xfrm>
            <a:off x="457200" y="4857749"/>
            <a:ext cx="2133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3"/>
          <p:cNvSpPr txBox="1"/>
          <p:nvPr>
            <p:ph idx="11" type="ftr"/>
          </p:nvPr>
        </p:nvSpPr>
        <p:spPr>
          <a:xfrm>
            <a:off x="2640596" y="4857749"/>
            <a:ext cx="550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idx="12" type="sldNum"/>
          </p:nvPr>
        </p:nvSpPr>
        <p:spPr>
          <a:xfrm>
            <a:off x="8204396" y="4857749"/>
            <a:ext cx="73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transition spd="med">
    <p:fade thruBlk="1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>
            <p:ph type="title"/>
          </p:nvPr>
        </p:nvSpPr>
        <p:spPr>
          <a:xfrm>
            <a:off x="569519" y="142741"/>
            <a:ext cx="8004900" cy="9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1412081" y="930269"/>
            <a:ext cx="6319800" cy="23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66" name="Google Shape;66;p14"/>
          <p:cNvSpPr txBox="1"/>
          <p:nvPr>
            <p:ph idx="11" type="ftr"/>
          </p:nvPr>
        </p:nvSpPr>
        <p:spPr>
          <a:xfrm>
            <a:off x="1574006" y="4988871"/>
            <a:ext cx="55650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7" name="Google Shape;67;p14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4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 Only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p15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p15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 Only_2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6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16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 Only_3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90424" y="497078"/>
            <a:ext cx="83631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7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17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OBJECT_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ctrTitle"/>
          </p:nvPr>
        </p:nvSpPr>
        <p:spPr>
          <a:xfrm>
            <a:off x="2938259" y="1851799"/>
            <a:ext cx="3267600" cy="8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5200">
                <a:solidFill>
                  <a:srgbClr val="365F9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1" type="subTitle"/>
          </p:nvPr>
        </p:nvSpPr>
        <p:spPr>
          <a:xfrm>
            <a:off x="1371600" y="2880360"/>
            <a:ext cx="64008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OBJECT_2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3" name="Google Shape;93;p19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20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3" name="Google Shape;103;p21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1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 1">
  <p:cSld name="OBJECT_1_1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2936867" y="2199322"/>
            <a:ext cx="3275400" cy="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43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8" name="Google Shape;108;p22"/>
          <p:cNvSpPr txBox="1"/>
          <p:nvPr>
            <p:ph idx="11" type="ftr"/>
          </p:nvPr>
        </p:nvSpPr>
        <p:spPr>
          <a:xfrm>
            <a:off x="708292" y="4920311"/>
            <a:ext cx="6447300" cy="1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22"/>
          <p:cNvSpPr txBox="1"/>
          <p:nvPr>
            <p:ph idx="10" type="dt"/>
          </p:nvPr>
        </p:nvSpPr>
        <p:spPr>
          <a:xfrm>
            <a:off x="457452" y="4783454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2"/>
          <p:cNvSpPr txBox="1"/>
          <p:nvPr>
            <p:ph idx="12" type="sldNum"/>
          </p:nvPr>
        </p:nvSpPr>
        <p:spPr>
          <a:xfrm>
            <a:off x="7529030" y="4838548"/>
            <a:ext cx="188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 sz="800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 ">
  <p:cSld name="TITLE_AND_BODY_1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 1">
  <p:cSld name="Blank 2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6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25" name="Google Shape;125;p26"/>
          <p:cNvPicPr preferRelativeResize="0"/>
          <p:nvPr/>
        </p:nvPicPr>
        <p:blipFill rotWithShape="1">
          <a:blip r:embed="rId2">
            <a:alphaModFix/>
          </a:blip>
          <a:srcRect b="19147" l="42816" r="37294" t="18360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6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6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Power Ahead!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128" name="Google Shape;12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875" y="769949"/>
            <a:ext cx="3071452" cy="126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7"/>
          <p:cNvSpPr txBox="1"/>
          <p:nvPr>
            <p:ph type="ctrTitle"/>
          </p:nvPr>
        </p:nvSpPr>
        <p:spPr>
          <a:xfrm>
            <a:off x="1260908" y="717750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1" name="Google Shape;131;p27"/>
          <p:cNvSpPr txBox="1"/>
          <p:nvPr>
            <p:ph idx="1" type="subTitle"/>
          </p:nvPr>
        </p:nvSpPr>
        <p:spPr>
          <a:xfrm>
            <a:off x="1260902" y="2770350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134" name="Google Shape;134;p2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37" name="Google Shape;137;p29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8" name="Google Shape;138;p2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141" name="Google Shape;141;p30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142" name="Google Shape;142;p3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45" name="Google Shape;145;p3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6" name="Google Shape;146;p3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7" name="Google Shape;147;p3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50" name="Google Shape;150;p3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3" name="Google Shape;153;p33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7" name="Google Shape;157;p3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58" name="Google Shape;158;p3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159" name="Google Shape;159;p3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" name="Google Shape;9;p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6" cy="5727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p1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" name="Google Shape;12;p1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116" name="Google Shape;116;p25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17" name="Google Shape;117;p25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8" name="Google Shape;118;p2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2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5" cy="572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25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1" name="Google Shape;121;p25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25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6"/>
          <p:cNvSpPr txBox="1"/>
          <p:nvPr/>
        </p:nvSpPr>
        <p:spPr>
          <a:xfrm>
            <a:off x="1627632" y="1227550"/>
            <a:ext cx="489204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4100" b="1">
                <a:solidFill>
                  <a:srgbClr val="0E39A9"/>
                </a:solidFill>
                <a:latin typeface="Nunito"/>
              </a:rPr>
              <a:t>Aurora Stays Q&amp;A</a:t>
            </a:r>
          </a:p>
        </p:txBody>
      </p:sp>
      <p:sp>
        <p:nvSpPr>
          <p:cNvPr id="167" name="Google Shape;167;p36"/>
          <p:cNvSpPr txBox="1"/>
          <p:nvPr/>
        </p:nvSpPr>
        <p:spPr>
          <a:xfrm>
            <a:off x="1627632" y="1940550"/>
            <a:ext cx="48006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300">
                <a:solidFill>
                  <a:srgbClr val="0E39A9"/>
                </a:solidFill>
                <a:latin typeface="Nunito"/>
              </a:rPr>
              <a:t>Retrieval-Augmented Generation (RAG) POC</a:t>
            </a:r>
          </a:p>
        </p:txBody>
      </p:sp>
      <p:sp>
        <p:nvSpPr>
          <p:cNvPr id="168" name="Google Shape;168;p36"/>
          <p:cNvSpPr txBox="1"/>
          <p:nvPr/>
        </p:nvSpPr>
        <p:spPr>
          <a:xfrm>
            <a:off x="1627632" y="2586175"/>
            <a:ext cx="384048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>
                <a:solidFill>
                  <a:srgbClr val="0E39A9"/>
                </a:solidFill>
                <a:latin typeface="Nunito"/>
              </a:rPr>
              <a:t>14 October 2026</a:t>
            </a:r>
          </a:p>
        </p:txBody>
      </p:sp>
      <p:pic>
        <p:nvPicPr>
          <p:cNvPr id="169" name="Picture 168" descr="hotel_lobby.jpg"/>
          <p:cNvPicPr>
            <a:picLocks noChangeAspect="1"/>
          </p:cNvPicPr>
          <p:nvPr/>
        </p:nvPicPr>
        <p:blipFill>
          <a:blip r:embed="rId3"/>
          <a:srcRect l="15573" r="15573"/>
          <a:stretch>
            <a:fillRect/>
          </a:stretch>
        </p:blipFill>
        <p:spPr>
          <a:xfrm>
            <a:off x="6446520" y="475488"/>
            <a:ext cx="2148840" cy="4160520"/>
          </a:xfrm>
          <a:prstGeom prst="rect">
            <a:avLst/>
          </a:prstGeom>
          <a:ln w="15875">
            <a:solidFill>
              <a:srgbClr val="BECBE8"/>
            </a:solidFill>
          </a:ln>
        </p:spPr>
      </p:pic>
      <p:sp>
        <p:nvSpPr>
          <p:cNvPr id="170" name="TextBox 169"/>
          <p:cNvSpPr txBox="1"/>
          <p:nvPr/>
        </p:nvSpPr>
        <p:spPr>
          <a:xfrm>
            <a:off x="5989320" y="4727448"/>
            <a:ext cx="2606040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 free-use stock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Contents / Agenda</a:t>
            </a:r>
          </a:p>
        </p:txBody>
      </p:sp>
      <p:sp>
        <p:nvSpPr>
          <p:cNvPr id="174" name="Google Shape;174;p37"/>
          <p:cNvSpPr/>
          <p:nvPr/>
        </p:nvSpPr>
        <p:spPr>
          <a:xfrm>
            <a:off x="356221" y="113738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5" name="Google Shape;175;p37"/>
          <p:cNvSpPr txBox="1"/>
          <p:nvPr/>
        </p:nvSpPr>
        <p:spPr>
          <a:xfrm>
            <a:off x="644599" y="10133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Executive Summary</a:t>
            </a:r>
          </a:p>
        </p:txBody>
      </p:sp>
      <p:sp>
        <p:nvSpPr>
          <p:cNvPr id="176" name="Google Shape;176;p37"/>
          <p:cNvSpPr/>
          <p:nvPr/>
        </p:nvSpPr>
        <p:spPr>
          <a:xfrm>
            <a:off x="356221" y="160868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7" name="Google Shape;177;p37"/>
          <p:cNvSpPr txBox="1"/>
          <p:nvPr/>
        </p:nvSpPr>
        <p:spPr>
          <a:xfrm>
            <a:off x="644599" y="148775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Business Problem and Solution Approach</a:t>
            </a:r>
          </a:p>
        </p:txBody>
      </p:sp>
      <p:sp>
        <p:nvSpPr>
          <p:cNvPr id="178" name="Google Shape;178;p37"/>
          <p:cNvSpPr/>
          <p:nvPr/>
        </p:nvSpPr>
        <p:spPr>
          <a:xfrm>
            <a:off x="356221" y="207999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9" name="Google Shape;179;p37"/>
          <p:cNvSpPr txBox="1"/>
          <p:nvPr/>
        </p:nvSpPr>
        <p:spPr>
          <a:xfrm>
            <a:off x="644599" y="196213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Data Understanding</a:t>
            </a:r>
          </a:p>
        </p:txBody>
      </p:sp>
      <p:sp>
        <p:nvSpPr>
          <p:cNvPr id="180" name="Google Shape;180;p37"/>
          <p:cNvSpPr/>
          <p:nvPr/>
        </p:nvSpPr>
        <p:spPr>
          <a:xfrm>
            <a:off x="356221" y="255129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1" name="Google Shape;181;p37"/>
          <p:cNvSpPr txBox="1"/>
          <p:nvPr/>
        </p:nvSpPr>
        <p:spPr>
          <a:xfrm>
            <a:off x="644599" y="243651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Retrieval-Augmented Generation System</a:t>
            </a:r>
          </a:p>
        </p:txBody>
      </p:sp>
      <p:sp>
        <p:nvSpPr>
          <p:cNvPr id="182" name="Google Shape;182;p37"/>
          <p:cNvSpPr/>
          <p:nvPr/>
        </p:nvSpPr>
        <p:spPr>
          <a:xfrm>
            <a:off x="356227" y="302260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3" name="Google Shape;183;p37"/>
          <p:cNvSpPr txBox="1"/>
          <p:nvPr/>
        </p:nvSpPr>
        <p:spPr>
          <a:xfrm>
            <a:off x="644605" y="291089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84" name="Google Shape;184;p37"/>
          <p:cNvSpPr/>
          <p:nvPr/>
        </p:nvSpPr>
        <p:spPr>
          <a:xfrm>
            <a:off x="356227" y="349390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5" name="Google Shape;185;p37"/>
          <p:cNvSpPr txBox="1"/>
          <p:nvPr/>
        </p:nvSpPr>
        <p:spPr>
          <a:xfrm>
            <a:off x="644605" y="33852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Deployment, Inference and Handoff</a:t>
            </a:r>
          </a:p>
        </p:txBody>
      </p:sp>
      <p:sp>
        <p:nvSpPr>
          <p:cNvPr id="186" name="Oval 185"/>
          <p:cNvSpPr/>
          <p:nvPr/>
        </p:nvSpPr>
        <p:spPr>
          <a:xfrm>
            <a:off x="365760" y="4114800"/>
            <a:ext cx="182880" cy="182880"/>
          </a:xfrm>
          <a:prstGeom prst="ellipse">
            <a:avLst/>
          </a:prstGeom>
          <a:noFill/>
          <a:ln w="2794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731520" y="4005072"/>
            <a:ext cx="50749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/>
                </a:solidFill>
                <a:latin typeface="Montserrat"/>
              </a:rPr>
              <a:t>Appendix — evaluation, workflows and operating measures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502920" y="932688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6272784" y="1463040"/>
            <a:ext cx="2359152" cy="3456432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473952" y="1627632"/>
            <a:ext cx="195681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E39A9"/>
                </a:solidFill>
                <a:latin typeface="Montserrat"/>
              </a:rPr>
              <a:t>STORY ARC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6510528" y="1975104"/>
            <a:ext cx="1883664" cy="49377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01  Discover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Problem + data</a:t>
            </a:r>
          </a:p>
        </p:txBody>
      </p:sp>
      <p:sp>
        <p:nvSpPr>
          <p:cNvPr id="192" name="Chevron 191"/>
          <p:cNvSpPr/>
          <p:nvPr/>
        </p:nvSpPr>
        <p:spPr>
          <a:xfrm>
            <a:off x="7333488" y="2505456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6510528" y="2688336"/>
            <a:ext cx="1883664" cy="493776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02  Build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RAG + LLM</a:t>
            </a:r>
          </a:p>
        </p:txBody>
      </p:sp>
      <p:sp>
        <p:nvSpPr>
          <p:cNvPr id="194" name="Chevron 193"/>
          <p:cNvSpPr/>
          <p:nvPr/>
        </p:nvSpPr>
        <p:spPr>
          <a:xfrm>
            <a:off x="7333488" y="3218688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ounded Rectangle 194"/>
          <p:cNvSpPr/>
          <p:nvPr/>
        </p:nvSpPr>
        <p:spPr>
          <a:xfrm>
            <a:off x="6510528" y="3401568"/>
            <a:ext cx="1883664" cy="493776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03  Prove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96" name="Chevron 195"/>
          <p:cNvSpPr/>
          <p:nvPr/>
        </p:nvSpPr>
        <p:spPr>
          <a:xfrm>
            <a:off x="7333488" y="3931920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6510528" y="4114800"/>
            <a:ext cx="1883664" cy="493776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04  Operate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Deploy + inference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473952" y="4800600"/>
            <a:ext cx="195681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i="1">
                <a:solidFill>
                  <a:srgbClr val="5A5A5A"/>
                </a:solidFill>
                <a:latin typeface="Montserrat"/>
              </a:rPr>
              <a:t>from question to production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Executive Summary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548640" y="1188720"/>
            <a:ext cx="8046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Design stages translated into a production-ready hotel policy assistant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50292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594360" y="1883664"/>
            <a:ext cx="329184" cy="329184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1264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Source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policies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PDFs → Markdown</a:t>
            </a:r>
          </a:p>
        </p:txBody>
      </p:sp>
      <p:sp>
        <p:nvSpPr>
          <p:cNvPr id="196" name="Chevron 195"/>
          <p:cNvSpPr/>
          <p:nvPr/>
        </p:nvSpPr>
        <p:spPr>
          <a:xfrm>
            <a:off x="196596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214884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296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2240280" y="1883664"/>
            <a:ext cx="329184" cy="329184"/>
          </a:xfrm>
          <a:prstGeom prst="ellipse">
            <a:avLst/>
          </a:prstGeom>
          <a:solidFill>
            <a:srgbClr val="296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225856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latin typeface="Montserrat"/>
              </a:rPr>
              <a:t>Structure</a:t>
            </a:r>
          </a:p>
          <a:p>
            <a:pPr algn="l"/>
            <a:r>
              <a:rPr sz="750" b="0">
                <a:latin typeface="Montserrat"/>
              </a:rPr>
              <a:t>&amp; chunk</a:t>
            </a:r>
          </a:p>
          <a:p>
            <a:pPr algn="l"/>
            <a:r>
              <a:rPr sz="750" b="0">
                <a:latin typeface="Montserrat"/>
              </a:rPr>
              <a:t>120 / 16 + metadata</a:t>
            </a:r>
          </a:p>
        </p:txBody>
      </p:sp>
      <p:sp>
        <p:nvSpPr>
          <p:cNvPr id="200" name="Chevron 199"/>
          <p:cNvSpPr/>
          <p:nvPr/>
        </p:nvSpPr>
        <p:spPr>
          <a:xfrm>
            <a:off x="361188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ounded Rectangle 200"/>
          <p:cNvSpPr/>
          <p:nvPr/>
        </p:nvSpPr>
        <p:spPr>
          <a:xfrm>
            <a:off x="379476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08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3886200" y="1883664"/>
            <a:ext cx="329184" cy="329184"/>
          </a:xfrm>
          <a:prstGeom prst="ellipse">
            <a:avLst/>
          </a:prstGeom>
          <a:solidFill>
            <a:srgbClr val="008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90448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Retrieve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rerank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FAISS + MMR + CrossEncoder</a:t>
            </a:r>
          </a:p>
        </p:txBody>
      </p:sp>
      <p:sp>
        <p:nvSpPr>
          <p:cNvPr id="204" name="Chevron 203"/>
          <p:cNvSpPr/>
          <p:nvPr/>
        </p:nvSpPr>
        <p:spPr>
          <a:xfrm>
            <a:off x="525780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4068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C7D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5532120" y="1883664"/>
            <a:ext cx="329184" cy="329184"/>
          </a:xfrm>
          <a:prstGeom prst="ellipse">
            <a:avLst/>
          </a:prstGeom>
          <a:solidFill>
            <a:srgbClr val="0C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5040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Generate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evaluate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GPT-4o-mini + DeepEval</a:t>
            </a:r>
          </a:p>
        </p:txBody>
      </p:sp>
      <p:sp>
        <p:nvSpPr>
          <p:cNvPr id="208" name="Chevron 207"/>
          <p:cNvSpPr/>
          <p:nvPr/>
        </p:nvSpPr>
        <p:spPr>
          <a:xfrm>
            <a:off x="690372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708660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236B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7178040" y="1883664"/>
            <a:ext cx="329184" cy="329184"/>
          </a:xfrm>
          <a:prstGeom prst="ellipse">
            <a:avLst/>
          </a:prstGeom>
          <a:solidFill>
            <a:srgbClr val="236B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719632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monitor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Flask + Streamlit + Codespaces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68580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77724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178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36245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indexed chunks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269748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278892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39A9"/>
                </a:solidFill>
                <a:latin typeface="Montserrat"/>
              </a:rPr>
              <a:t>k=5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337413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selected baseline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70916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480060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538581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pass rate / 10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672084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81228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.867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739749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weighted composite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960120" y="4599432"/>
            <a:ext cx="1353312" cy="283464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Guest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question</a:t>
            </a:r>
          </a:p>
        </p:txBody>
      </p:sp>
      <p:sp>
        <p:nvSpPr>
          <p:cNvPr id="225" name="Chevron 224"/>
          <p:cNvSpPr/>
          <p:nvPr/>
        </p:nvSpPr>
        <p:spPr>
          <a:xfrm>
            <a:off x="239572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ounded Rectangle 225"/>
          <p:cNvSpPr/>
          <p:nvPr/>
        </p:nvSpPr>
        <p:spPr>
          <a:xfrm>
            <a:off x="2834639" y="4599432"/>
            <a:ext cx="1353312" cy="283464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Relevant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evidence</a:t>
            </a:r>
          </a:p>
        </p:txBody>
      </p:sp>
      <p:sp>
        <p:nvSpPr>
          <p:cNvPr id="227" name="Chevron 226"/>
          <p:cNvSpPr/>
          <p:nvPr/>
        </p:nvSpPr>
        <p:spPr>
          <a:xfrm>
            <a:off x="427024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ounded Rectangle 227"/>
          <p:cNvSpPr/>
          <p:nvPr/>
        </p:nvSpPr>
        <p:spPr>
          <a:xfrm>
            <a:off x="4709159" y="4599432"/>
            <a:ext cx="1353312" cy="283464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29" name="Chevron 228"/>
          <p:cNvSpPr/>
          <p:nvPr/>
        </p:nvSpPr>
        <p:spPr>
          <a:xfrm>
            <a:off x="614476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ounded Rectangle 229"/>
          <p:cNvSpPr/>
          <p:nvPr/>
        </p:nvSpPr>
        <p:spPr>
          <a:xfrm>
            <a:off x="6583679" y="4599432"/>
            <a:ext cx="1353312" cy="283464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Assisted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review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Business Problem Overview and Solution Approach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Problem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Staff handle about 1,200 guest queries per week; roughly 40% require multiple policy documents.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Manual lookup takes 8–12 minutes and creates a 15–20% risk of incomplete or incorrect answers.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694944" y="257403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Property-specific fees, room features, cancellation rules, and accessibility guidance are easy to mix up.</a:t>
            </a:r>
          </a:p>
        </p:txBody>
      </p:sp>
      <p:sp>
        <p:nvSpPr>
          <p:cNvPr id="205" name="Oval 20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94944" y="3054096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Solution approach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94944" y="3342132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Extract policy PDFs with Docling; preserve headings and tables as Markdown.</a:t>
            </a:r>
          </a:p>
        </p:txBody>
      </p:sp>
      <p:sp>
        <p:nvSpPr>
          <p:cNvPr id="208" name="Oval 20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94944" y="3822191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token-aware chunking, domain embeddings, FAISS retrieval, MMR, and CrossEncoder reranking.</a:t>
            </a:r>
          </a:p>
        </p:txBody>
      </p:sp>
      <p:sp>
        <p:nvSpPr>
          <p:cNvPr id="210" name="Oval 209"/>
          <p:cNvSpPr/>
          <p:nvPr/>
        </p:nvSpPr>
        <p:spPr>
          <a:xfrm>
            <a:off x="402336" y="39227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94944" y="4302252"/>
            <a:ext cx="6080760" cy="37947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Generate concise answers with GPT-4o-mini using a strict retrieved-context-only prompt.</a:t>
            </a:r>
          </a:p>
        </p:txBody>
      </p:sp>
      <p:sp>
        <p:nvSpPr>
          <p:cNvPr id="212" name="Oval 211"/>
          <p:cNvSpPr/>
          <p:nvPr/>
        </p:nvSpPr>
        <p:spPr>
          <a:xfrm>
            <a:off x="402336" y="44028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3" name="Picture 212" descr="professional_support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291840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214" name="TextBox 213"/>
          <p:cNvSpPr txBox="1"/>
          <p:nvPr/>
        </p:nvSpPr>
        <p:spPr>
          <a:xfrm>
            <a:off x="6830568" y="4398264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Data Understanding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08" name="Table 207"/>
          <p:cNvGraphicFramePr>
            <a:graphicFrameLocks noGrp="1"/>
          </p:cNvGraphicFramePr>
          <p:nvPr/>
        </p:nvGraphicFramePr>
        <p:xfrm>
          <a:off x="694944" y="1307592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2928"/>
                <a:gridCol w="530352"/>
                <a:gridCol w="2697480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Source PDF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Pages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Structure / coverage observed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aurorastay_room_and_property_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information.pdf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Policy prose + six-property matrix; property-specific rows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aurorastay_booking_terms_and_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cancellation_policy.pdf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Rates, cancellation, check-in/out, reservation conditions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aurorastay_refunds_and_additional_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charges_guide.pdf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4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Refund rules, fees, exceptions, and conditional charges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aurorastay_guest_conduct_accessibility_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and_resolution_guidelines.pdf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Conduct, accessibility, eligibility, and resolution guidance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</a:tr>
            </a:tbl>
          </a:graphicData>
        </a:graphic>
      </p:graphicFrame>
      <p:sp>
        <p:nvSpPr>
          <p:cNvPr id="209" name="TextBox 208"/>
          <p:cNvSpPr txBox="1"/>
          <p:nvPr/>
        </p:nvSpPr>
        <p:spPr>
          <a:xfrm>
            <a:off x="694944" y="3493008"/>
            <a:ext cx="608076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E39A9"/>
                </a:solidFill>
                <a:latin typeface="Montserrat"/>
              </a:rPr>
              <a:t>Verification: all four PDFs loaded successfully; selectable text made OCR unnecessary. Docling preserved headings, lists, tables, and property rows.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694944" y="4078224"/>
            <a:ext cx="6080760" cy="475488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73152" rIns="54864">
            <a:normAutofit/>
          </a:bodyPr>
          <a:lstStyle/>
          <a:p>
            <a:r>
              <a:t>DESIGN IMPLICATION: preserve headings/tables, isolate property rows, and retain source/section/property/topic metadata. Supports domain embeddings and 120/16 token chunking.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DATA PIPELINE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7114032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7598664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8083296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6" name="Chevron 215"/>
          <p:cNvSpPr/>
          <p:nvPr/>
        </p:nvSpPr>
        <p:spPr>
          <a:xfrm>
            <a:off x="7690104" y="2670048"/>
            <a:ext cx="182880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ounded Rectangle 216"/>
          <p:cNvSpPr/>
          <p:nvPr/>
        </p:nvSpPr>
        <p:spPr>
          <a:xfrm>
            <a:off x="7351776" y="2862072"/>
            <a:ext cx="859536" cy="411480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Markdown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+ headings</a:t>
            </a:r>
          </a:p>
        </p:txBody>
      </p:sp>
      <p:sp>
        <p:nvSpPr>
          <p:cNvPr id="218" name="Chevron 217"/>
          <p:cNvSpPr/>
          <p:nvPr/>
        </p:nvSpPr>
        <p:spPr>
          <a:xfrm>
            <a:off x="7690104" y="3364991"/>
            <a:ext cx="182880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ounded Rectangle 218"/>
          <p:cNvSpPr/>
          <p:nvPr/>
        </p:nvSpPr>
        <p:spPr>
          <a:xfrm>
            <a:off x="7351776" y="3557015"/>
            <a:ext cx="859536" cy="411480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Chunks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metadata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7077456" y="4032504"/>
            <a:ext cx="1408176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i="1">
                <a:solidFill>
                  <a:srgbClr val="5A5A5A"/>
                </a:solidFill>
                <a:latin typeface="Montserrat"/>
              </a:rPr>
              <a:t>4 source guides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Data Understanding - Markdown / Table Output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261872"/>
            <a:ext cx="7936992" cy="1444752"/>
          </a:xfrm>
          <a:prstGeom prst="roundRect">
            <a:avLst/>
          </a:prstGeom>
          <a:solidFill>
            <a:srgbClr val="F5F8FD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53312"/>
            <a:ext cx="7543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E39A9"/>
                </a:solidFill>
                <a:latin typeface="Montserrat"/>
              </a:rPr>
              <a:t>Converted Markdown | source: aurorastay_room_and_property_information.pdf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1591055"/>
            <a:ext cx="7479792" cy="1033272"/>
          </a:xfrm>
          <a:prstGeom prst="rect">
            <a:avLst/>
          </a:prstGeom>
          <a:noFill/>
        </p:spPr>
        <p:txBody>
          <a:bodyPr wrap="square" lIns="27432" rIns="27432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## Room and Property Information Guide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Policy code | AS-02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|---|---|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Effective date | January 1, 2026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## 5. Property-specific matrix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2889504"/>
            <a:ext cx="7936992" cy="1481328"/>
          </a:xfrm>
          <a:prstGeom prst="roundRect">
            <a:avLst/>
          </a:prstGeom>
          <a:solidFill>
            <a:srgbClr val="F0FAF8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80944"/>
            <a:ext cx="7543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9CA6"/>
                </a:solidFill>
                <a:latin typeface="Montserrat"/>
              </a:rPr>
              <a:t>Extracted Markdown table | preserved rows and property-specific values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218688"/>
            <a:ext cx="7479792" cy="1069848"/>
          </a:xfrm>
          <a:prstGeom prst="rect">
            <a:avLst/>
          </a:prstGeom>
          <a:noFill/>
        </p:spPr>
        <p:txBody>
          <a:bodyPr wrap="square" lIns="27432" rIns="27432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Property | Check-in / out | Parking | Pets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|---|---|---|---|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ASH-ATL Midtown | 3:00 PM / 11:00 AM | Self parking, $28/night | $75/stay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ASH-CHI Loop | 3:00 PM / 12:00 PM | Self parking, $42/night | $50/night; $150 cap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ASH-MIA Brickell | 4:00 PM / 11:00 AM | Valet, $55/night | $100/stay |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4572000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7752"/>
                </a:solidFill>
                <a:latin typeface="Montserrat"/>
              </a:rPr>
              <a:t>Why it matters: headings retain semantic context; table rows preserve exact property values for focused retrieval.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Embedding Model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 model: HarishMaths/Hotel-Policy-Embedding.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Tokenizer maximum length: 128 tokens; token-safe chunk size: 120 tokens.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Embeddings run on CPU with normalized vectors and progress rendering disabled.</a:t>
            </a:r>
          </a:p>
        </p:txBody>
      </p:sp>
      <p:sp>
        <p:nvSpPr>
          <p:cNvPr id="221" name="Oval 22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94944" y="257403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same model is used when building and loading the FAISS index.</a:t>
            </a:r>
          </a:p>
        </p:txBody>
      </p:sp>
      <p:sp>
        <p:nvSpPr>
          <p:cNvPr id="223" name="Oval 222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3054096"/>
            <a:ext cx="6080760" cy="649224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F7752"/>
                </a:solidFill>
                <a:latin typeface="Montserrat"/>
              </a:rPr>
              <a:t>MODEL SELECTION RATIONALE: the corpus is hotel-policy text with repeated property codes, fees, exceptions, and room-feature terms.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373532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domain-trained encoder should preserve these policy distinctions more directly than a generic embedding model.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421538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document inspection therefore supports HarishMaths/Hotel-Policy-Embedding as the fit-for-purpose choice.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43159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ounded Rectangle 229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EMBEDDING FLOW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7333488" y="2221991"/>
            <a:ext cx="896112" cy="34747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Policy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text</a:t>
            </a:r>
          </a:p>
        </p:txBody>
      </p:sp>
      <p:sp>
        <p:nvSpPr>
          <p:cNvPr id="233" name="Chevron 232"/>
          <p:cNvSpPr/>
          <p:nvPr/>
        </p:nvSpPr>
        <p:spPr>
          <a:xfrm>
            <a:off x="7699248" y="262432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ounded Rectangle 233"/>
          <p:cNvSpPr/>
          <p:nvPr/>
        </p:nvSpPr>
        <p:spPr>
          <a:xfrm>
            <a:off x="7333488" y="2816352"/>
            <a:ext cx="896112" cy="34747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Token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chunks</a:t>
            </a:r>
          </a:p>
        </p:txBody>
      </p:sp>
      <p:sp>
        <p:nvSpPr>
          <p:cNvPr id="235" name="Chevron 234"/>
          <p:cNvSpPr/>
          <p:nvPr/>
        </p:nvSpPr>
        <p:spPr>
          <a:xfrm>
            <a:off x="7699248" y="321868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7333488" y="3447288"/>
            <a:ext cx="713232" cy="82296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7333488" y="3593592"/>
            <a:ext cx="530352" cy="82296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7333488" y="3739896"/>
            <a:ext cx="832104" cy="82296"/>
          </a:xfrm>
          <a:prstGeom prst="rect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ounded Rectangle 238"/>
          <p:cNvSpPr/>
          <p:nvPr/>
        </p:nvSpPr>
        <p:spPr>
          <a:xfrm>
            <a:off x="7333488" y="3922776"/>
            <a:ext cx="896112" cy="34747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index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Chunker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Chunker: RecursiveCharacterTextSplitter.from_huggingface_tokenizer.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180594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Chunk size: 120 tokens; overlap: 16 tokens.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Split priority: paragraph, line, heading, sentence, word, then character boundaries.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Atomic property rows are added for property-matrix entries so a single property and fee can be retrieved precisely.</a:t>
            </a:r>
          </a:p>
        </p:txBody>
      </p:sp>
      <p:sp>
        <p:nvSpPr>
          <p:cNvPr id="231" name="Oval 230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is added after splitting to preserve section, topic, and property identity.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82296" rIns="36576" tIns="18288" bIns="18288">
            <a:normAutofit/>
          </a:bodyPr>
          <a:lstStyle/>
          <a:p>
            <a:r>
              <a:t>CHUNKING RATIONALE: 120/16 stays within the 128-token tokenizer limit while retaining local policy context; overlap protects rules at boundaries.</a:t>
            </a:r>
          </a:p>
        </p:txBody>
      </p:sp>
      <p:sp>
        <p:nvSpPr>
          <p:cNvPr id="235" name="Oval 234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 Documents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Total chunks created: 178, including atomic property rows.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Example focused chunk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94944" y="19019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## Property-specific matrix | Property: ASH-MIA</a:t>
            </a:r>
          </a:p>
        </p:txBody>
      </p:sp>
      <p:sp>
        <p:nvSpPr>
          <p:cNvPr id="236" name="Oval 235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94944" y="21899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 | Parking: Valet, $55 per night | Pets: $100 per stay; 2 pets max</a:t>
            </a:r>
          </a:p>
        </p:txBody>
      </p:sp>
      <p:sp>
        <p:nvSpPr>
          <p:cNvPr id="238" name="Oval 237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94944" y="26700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One-property rows reduce contamination from unrelated properties and broad policy sections.</a:t>
            </a:r>
          </a:p>
        </p:txBody>
      </p:sp>
      <p:sp>
        <p:nvSpPr>
          <p:cNvPr id="240" name="Oval 239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94944" y="31501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Each chunk carries source, section, property_codes, and topics metadata.</a:t>
            </a:r>
          </a:p>
        </p:txBody>
      </p:sp>
      <p:sp>
        <p:nvSpPr>
          <p:cNvPr id="242" name="Oval 241"/>
          <p:cNvSpPr/>
          <p:nvPr/>
        </p:nvSpPr>
        <p:spPr>
          <a:xfrm>
            <a:off x="402336" y="32506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Vector database: FAISS with 178 normalized document vectors.</a:t>
            </a:r>
          </a:p>
        </p:txBody>
      </p:sp>
      <p:sp>
        <p:nvSpPr>
          <p:cNvPr id="241" name="Oval 24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Index is persisted for the backend under backend/faiss_index.</a:t>
            </a:r>
          </a:p>
        </p:txBody>
      </p:sp>
      <p:sp>
        <p:nvSpPr>
          <p:cNvPr id="243" name="Oval 242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694944" y="228600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Final retrieval setting: k=5 chunks.</a:t>
            </a:r>
          </a:p>
        </p:txBody>
      </p:sp>
      <p:sp>
        <p:nvSpPr>
          <p:cNvPr id="245" name="Oval 244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694944" y="257403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Top-k trade-off: larger k improves retrieval recall but increases context noise; k=5 was selected as the best balance on held-out evaluation.</a:t>
            </a:r>
          </a:p>
        </p:txBody>
      </p:sp>
      <p:sp>
        <p:nvSpPr>
          <p:cNvPr id="247" name="Oval 24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3255264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search uses MMR lambda=0.50 and fetch_k=20.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35433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CrossEncoder ms-marco-MiniLM-L-6-v2 reranks candidates; topic and property metadata provide additional boosts.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36438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RAG FLOW</a:t>
            </a:r>
          </a:p>
        </p:txBody>
      </p:sp>
      <p:sp>
        <p:nvSpPr>
          <p:cNvPr id="254" name="Rounded Rectangle 253"/>
          <p:cNvSpPr/>
          <p:nvPr/>
        </p:nvSpPr>
        <p:spPr>
          <a:xfrm>
            <a:off x="7114032" y="2011680"/>
            <a:ext cx="1335024" cy="201168"/>
          </a:xfrm>
          <a:prstGeom prst="roundRect">
            <a:avLst/>
          </a:prstGeom>
          <a:solidFill>
            <a:srgbClr val="F8FAFE"/>
          </a:solidFill>
          <a:ln w="10160">
            <a:solidFill>
              <a:srgbClr val="788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09" b="0">
                <a:solidFill>
                  <a:srgbClr val="000000"/>
                </a:solidFill>
                <a:latin typeface="Montserrat"/>
              </a:rPr>
              <a:t>property/topic metadata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7296912" y="2194560"/>
            <a:ext cx="969264" cy="329184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Question</a:t>
            </a:r>
          </a:p>
        </p:txBody>
      </p:sp>
      <p:sp>
        <p:nvSpPr>
          <p:cNvPr id="256" name="Chevron 255"/>
          <p:cNvSpPr/>
          <p:nvPr/>
        </p:nvSpPr>
        <p:spPr>
          <a:xfrm>
            <a:off x="7699248" y="2587752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ounded Rectangle 256"/>
          <p:cNvSpPr/>
          <p:nvPr/>
        </p:nvSpPr>
        <p:spPr>
          <a:xfrm>
            <a:off x="7296912" y="2770632"/>
            <a:ext cx="969264" cy="365760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retrieve</a:t>
            </a:r>
          </a:p>
        </p:txBody>
      </p:sp>
      <p:sp>
        <p:nvSpPr>
          <p:cNvPr id="258" name="Chevron 257"/>
          <p:cNvSpPr/>
          <p:nvPr/>
        </p:nvSpPr>
        <p:spPr>
          <a:xfrm>
            <a:off x="7699248" y="3209544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ounded Rectangle 258"/>
          <p:cNvSpPr/>
          <p:nvPr/>
        </p:nvSpPr>
        <p:spPr>
          <a:xfrm>
            <a:off x="7296912" y="3392424"/>
            <a:ext cx="969264" cy="365760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MMR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rerank</a:t>
            </a:r>
          </a:p>
        </p:txBody>
      </p:sp>
      <p:sp>
        <p:nvSpPr>
          <p:cNvPr id="260" name="Chevron 259"/>
          <p:cNvSpPr/>
          <p:nvPr/>
        </p:nvSpPr>
        <p:spPr>
          <a:xfrm>
            <a:off x="7699248" y="3831336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ounded Rectangle 260"/>
          <p:cNvSpPr/>
          <p:nvPr/>
        </p:nvSpPr>
        <p:spPr>
          <a:xfrm>
            <a:off x="7296912" y="4005072"/>
            <a:ext cx="969264" cy="365760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 - Retrieval Function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107899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Query: What are the parking fees at the Atlanta and Miami hotels?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11795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155905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 routing identifies ASH-ATL and ASH-MIA; topic routing identifies parking.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16596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694944" y="203911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Property/topic routing filters candidates before reranking when focused matches exist, with global fallback for ambiguous questions.</a:t>
            </a:r>
          </a:p>
        </p:txBody>
      </p:sp>
      <p:sp>
        <p:nvSpPr>
          <p:cNvPr id="253" name="Oval 252"/>
          <p:cNvSpPr/>
          <p:nvPr/>
        </p:nvSpPr>
        <p:spPr>
          <a:xfrm>
            <a:off x="402336" y="21396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94944" y="27203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is retained for source traceability and evidence display.</a:t>
            </a:r>
          </a:p>
        </p:txBody>
      </p:sp>
      <p:sp>
        <p:nvSpPr>
          <p:cNvPr id="255" name="Oval 254"/>
          <p:cNvSpPr/>
          <p:nvPr/>
        </p:nvSpPr>
        <p:spPr>
          <a:xfrm>
            <a:off x="402336" y="28209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32004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chunks are retrieved with MMR, then reranked for direct relevance.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33009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368046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Relevant evidence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694944" y="39684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ASH-ATL Midtown: self parking, $28 per night.</a:t>
            </a:r>
          </a:p>
        </p:txBody>
      </p:sp>
      <p:sp>
        <p:nvSpPr>
          <p:cNvPr id="260" name="Oval 259"/>
          <p:cNvSpPr/>
          <p:nvPr/>
        </p:nvSpPr>
        <p:spPr>
          <a:xfrm>
            <a:off x="402336" y="40690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694944" y="425653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Brickell: valet, $55 per night.</a:t>
            </a:r>
          </a:p>
        </p:txBody>
      </p:sp>
      <p:sp>
        <p:nvSpPr>
          <p:cNvPr id="262" name="Oval 261"/>
          <p:cNvSpPr/>
          <p:nvPr/>
        </p:nvSpPr>
        <p:spPr>
          <a:xfrm>
            <a:off x="402336" y="435711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694944" y="4544568"/>
            <a:ext cx="6729984" cy="182880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final context contains the two requested property rows instead of unrelated policy sections.</a:t>
            </a:r>
          </a:p>
        </p:txBody>
      </p:sp>
      <p:sp>
        <p:nvSpPr>
          <p:cNvPr id="264" name="Oval 263"/>
          <p:cNvSpPr/>
          <p:nvPr/>
        </p:nvSpPr>
        <p:spPr>
          <a:xfrm>
            <a:off x="402336" y="46451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Load the LLM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Generator: OpenAI-compatible ChatOpenAI wrapper.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1613916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Model: gpt-4o-mini.</a:t>
            </a:r>
          </a:p>
        </p:txBody>
      </p:sp>
      <p:sp>
        <p:nvSpPr>
          <p:cNvPr id="259" name="Oval 25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94944" y="1901952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temperature=0.0 | top_p=1.0 | max_tokens=512.</a:t>
            </a:r>
          </a:p>
        </p:txBody>
      </p:sp>
      <p:sp>
        <p:nvSpPr>
          <p:cNvPr id="261" name="Oval 260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694944" y="218998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 and base URL are loaded from environment/configuration rather than hard-coded.</a:t>
            </a:r>
          </a:p>
        </p:txBody>
      </p:sp>
      <p:sp>
        <p:nvSpPr>
          <p:cNvPr id="263" name="Oval 262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267004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Deterministic settings favor repeatable, concise policy answers for evaluation and operations.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ounded Rectangle 265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GENERATION / LLM</a:t>
            </a:r>
          </a:p>
        </p:txBody>
      </p:sp>
      <p:sp>
        <p:nvSpPr>
          <p:cNvPr id="268" name="Rounded Rectangle 267"/>
          <p:cNvSpPr/>
          <p:nvPr/>
        </p:nvSpPr>
        <p:spPr>
          <a:xfrm>
            <a:off x="7196328" y="2240280"/>
            <a:ext cx="1170432" cy="40233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Question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retrieved context</a:t>
            </a:r>
          </a:p>
        </p:txBody>
      </p:sp>
      <p:sp>
        <p:nvSpPr>
          <p:cNvPr id="269" name="Chevron 268"/>
          <p:cNvSpPr/>
          <p:nvPr/>
        </p:nvSpPr>
        <p:spPr>
          <a:xfrm>
            <a:off x="7699248" y="27157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7461504" y="2907791"/>
            <a:ext cx="658368" cy="658368"/>
          </a:xfrm>
          <a:prstGeom prst="ellipse">
            <a:avLst/>
          </a:prstGeom>
          <a:solidFill>
            <a:srgbClr val="E6F7F6"/>
          </a:solidFill>
          <a:ln w="1270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GPT-4o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-mini</a:t>
            </a:r>
          </a:p>
        </p:txBody>
      </p:sp>
      <p:sp>
        <p:nvSpPr>
          <p:cNvPr id="271" name="Chevron 270"/>
          <p:cNvSpPr/>
          <p:nvPr/>
        </p:nvSpPr>
        <p:spPr>
          <a:xfrm>
            <a:off x="7699248" y="36301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ounded Rectangle 271"/>
          <p:cNvSpPr/>
          <p:nvPr/>
        </p:nvSpPr>
        <p:spPr>
          <a:xfrm>
            <a:off x="7333488" y="3813048"/>
            <a:ext cx="896112" cy="384048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7077456" y="2066543"/>
            <a:ext cx="1408176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i="1">
                <a:solidFill>
                  <a:srgbClr val="5A5A5A"/>
                </a:solidFill>
                <a:latin typeface="Montserrat"/>
              </a:rPr>
              <a:t>context-only prompt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Generation Prompt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Prompt inputs: user query + retrieved policy information.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Prompt excerpt: "You are the Aurora Stays policy assistant. Use only the retrieved policy context to answer."</a:t>
            </a:r>
          </a:p>
        </p:txBody>
      </p:sp>
      <p:sp>
        <p:nvSpPr>
          <p:cNvPr id="267" name="Oval 26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only information explicitly supported by retrieved policy text.</a:t>
            </a:r>
          </a:p>
        </p:txBody>
      </p:sp>
      <p:sp>
        <p:nvSpPr>
          <p:cNvPr id="269" name="Oval 26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Include relevant conditions, exclusions, limits, exceptions, and coverage details.</a:t>
            </a:r>
          </a:p>
        </p:txBody>
      </p:sp>
      <p:sp>
        <p:nvSpPr>
          <p:cNvPr id="271" name="Oval 27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Focus on the question; omit unrelated content and do not invent facts.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3726180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If evidence is insufficient, return: The available policy documents do not contain enough information to answer this question.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4407408"/>
            <a:ext cx="6080760" cy="274319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Additional guards focus Advance Purchase, Accessible King, and late-checkout questions on their relevant evidence.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45079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ounded Rectangle 27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GENERATION / LLM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7196328" y="2240280"/>
            <a:ext cx="1170432" cy="40233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Question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retrieved context</a:t>
            </a:r>
          </a:p>
        </p:txBody>
      </p:sp>
      <p:sp>
        <p:nvSpPr>
          <p:cNvPr id="281" name="Chevron 280"/>
          <p:cNvSpPr/>
          <p:nvPr/>
        </p:nvSpPr>
        <p:spPr>
          <a:xfrm>
            <a:off x="7699248" y="27157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7461504" y="2907791"/>
            <a:ext cx="658368" cy="658368"/>
          </a:xfrm>
          <a:prstGeom prst="ellipse">
            <a:avLst/>
          </a:prstGeom>
          <a:solidFill>
            <a:srgbClr val="E6F7F6"/>
          </a:solidFill>
          <a:ln w="1270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GPT-4o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-mini</a:t>
            </a:r>
          </a:p>
        </p:txBody>
      </p:sp>
      <p:sp>
        <p:nvSpPr>
          <p:cNvPr id="283" name="Chevron 282"/>
          <p:cNvSpPr/>
          <p:nvPr/>
        </p:nvSpPr>
        <p:spPr>
          <a:xfrm>
            <a:off x="7699248" y="36301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ounded Rectangle 283"/>
          <p:cNvSpPr/>
          <p:nvPr/>
        </p:nvSpPr>
        <p:spPr>
          <a:xfrm>
            <a:off x="7333488" y="3813048"/>
            <a:ext cx="896112" cy="384048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7077456" y="2066543"/>
            <a:ext cx="1408176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i="1">
                <a:solidFill>
                  <a:srgbClr val="5A5A5A"/>
                </a:solidFill>
                <a:latin typeface="Montserrat"/>
              </a:rPr>
              <a:t>context-only prompt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RAG Function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Pipeline: query -&gt; retrieve top-k chunks -&gt; generate grounded answer -&gt; return answer and evidence.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query: What is the cancellation policy for a flexible reservation?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2286000"/>
            <a:ext cx="6729984" cy="8503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answer: Flexible rates can normally be canceled by 6:00 PM local property time one day before arrival without a room charge. Later cancellation or no-show may be charged one night plus tax; the confirmation controls if it differs.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694944" y="31683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response endpoint can return the answer alone or the answer plus relevant chunks for verification.</a:t>
            </a:r>
          </a:p>
        </p:txBody>
      </p:sp>
      <p:sp>
        <p:nvSpPr>
          <p:cNvPr id="279" name="Oval 278"/>
          <p:cNvSpPr/>
          <p:nvPr/>
        </p:nvSpPr>
        <p:spPr>
          <a:xfrm>
            <a:off x="402336" y="32689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Evaluation Data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Development evaluation file: data/evaluation.csv.</a:t>
            </a:r>
          </a:p>
        </p:txBody>
      </p:sp>
      <p:sp>
        <p:nvSpPr>
          <p:cNvPr id="281" name="Oval 28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records with question, expected answer, and ground-truth relevant context.</a:t>
            </a:r>
          </a:p>
        </p:txBody>
      </p:sp>
      <p:sp>
        <p:nvSpPr>
          <p:cNvPr id="283" name="Oval 282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What time can I check in at ASH-CHI Loop, and when do I need to be out?</a:t>
            </a:r>
          </a:p>
        </p:txBody>
      </p:sp>
      <p:sp>
        <p:nvSpPr>
          <p:cNvPr id="285" name="Oval 284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94944" y="257403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Standard check-in is 3:00 PM and standard check-out is 12:00 PM local property time; early arrival and late departure depend on availability and approval.</a:t>
            </a:r>
          </a:p>
        </p:txBody>
      </p:sp>
      <p:sp>
        <p:nvSpPr>
          <p:cNvPr id="287" name="Oval 28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325526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Multi-context records use &lt;&gt; separators so relevant policy sections can be evaluated together.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Model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Judge model: gpt-4o through the DeepEval OpenAIModel wrapper.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694944" y="17327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generator remains gpt-4o-mini with temperature=0.0, top_p=1.0, and max_tokens=512.</a:t>
            </a:r>
          </a:p>
        </p:txBody>
      </p:sp>
      <p:sp>
        <p:nvSpPr>
          <p:cNvPr id="291" name="Oval 290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694944" y="221284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separate, stronger judge model reduces self-evaluation bias and provides a more independent assessment of generated answers.</a:t>
            </a:r>
          </a:p>
        </p:txBody>
      </p:sp>
      <p:sp>
        <p:nvSpPr>
          <p:cNvPr id="293" name="Oval 292"/>
          <p:cNvSpPr/>
          <p:nvPr/>
        </p:nvSpPr>
        <p:spPr>
          <a:xfrm>
            <a:off x="402336" y="23134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694944" y="28940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judge scores factual support, retrieval coverage, retrieval focus, and answer relevance.</a:t>
            </a:r>
          </a:p>
        </p:txBody>
      </p:sp>
      <p:sp>
        <p:nvSpPr>
          <p:cNvPr id="295" name="Oval 294"/>
          <p:cNvSpPr/>
          <p:nvPr/>
        </p:nvSpPr>
        <p:spPr>
          <a:xfrm>
            <a:off x="402336" y="29946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33741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Evaluations run synchronously so each test case has a stable, auditable metric result.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34747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Metrics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Faithfulness &gt;= 0.85: actual answer + retrieved context; every important claim must be supported.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Recall &gt;= 0.80: expected answer + retrieved context; required evidence must be present.</a:t>
            </a:r>
          </a:p>
        </p:txBody>
      </p:sp>
      <p:sp>
        <p:nvSpPr>
          <p:cNvPr id="299" name="Oval 29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Precision &gt;= 0.75: question + retrieved context; relevant evidence must be prioritized over noise.</a:t>
            </a:r>
          </a:p>
        </p:txBody>
      </p:sp>
      <p:sp>
        <p:nvSpPr>
          <p:cNvPr id="301" name="Oval 300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Answer Relevancy &gt;= 0.75: question + generated answer; the answer must directly address the question.</a:t>
            </a:r>
          </a:p>
        </p:txBody>
      </p:sp>
      <p:sp>
        <p:nvSpPr>
          <p:cNvPr id="303" name="Oval 302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Composite = 0.35F + 0.25Recall + 0.20Precision + 0.20Relevancy.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37261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case passes only when all four metric thresholds are met.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ounded Rectangle 30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EVALUATION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7077456" y="2240280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0E39A9"/>
                </a:solidFill>
                <a:latin typeface="Montserrat"/>
              </a:rPr>
              <a:t>F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388352" y="2267712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7388352" y="2267712"/>
            <a:ext cx="980639" cy="109728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8412480" y="2231136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0.99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7077456" y="2633472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009CA6"/>
                </a:solidFill>
                <a:latin typeface="Montserrat"/>
              </a:rPr>
              <a:t>R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388352" y="2660904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388352" y="2660904"/>
            <a:ext cx="944099" cy="109728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8412480" y="2624328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0.96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7077456" y="3026664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CA9128"/>
                </a:solidFill>
                <a:latin typeface="Montserrat"/>
              </a:rPr>
              <a:t>P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388352" y="3054096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7388352" y="3054096"/>
            <a:ext cx="771278" cy="109728"/>
          </a:xfrm>
          <a:prstGeom prst="rect">
            <a:avLst/>
          </a:prstGeom>
          <a:solidFill>
            <a:srgbClr val="CA9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8412480" y="3017520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0.78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7077456" y="3419856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1F7752"/>
                </a:solidFill>
                <a:latin typeface="Montserrat"/>
              </a:rPr>
              <a:t>AR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88352" y="3447288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7388352" y="3447288"/>
            <a:ext cx="918423" cy="109728"/>
          </a:xfrm>
          <a:prstGeom prst="rect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8412480" y="3410712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0.93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7077456" y="3904487"/>
            <a:ext cx="14081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0E39A9"/>
                </a:solidFill>
                <a:latin typeface="Montserrat"/>
              </a:rPr>
              <a:t>Held-out averages | 4 gates → pass / review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04" name="Table 303"/>
          <p:cNvGraphicFramePr>
            <a:graphicFrameLocks noGrp="1"/>
          </p:cNvGraphicFramePr>
          <p:nvPr/>
        </p:nvGraphicFramePr>
        <p:xfrm>
          <a:off x="530352" y="1261872"/>
          <a:ext cx="8083295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6208776"/>
              </a:tblGrid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Montserrat"/>
                        </a:rPr>
                        <a:t>Evidence</a:t>
                      </a:r>
                    </a:p>
                  </a:txBody>
                  <a:tcPr marL="54864" marR="54864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Evaluation progression and final 120/16 run</a:t>
                      </a:r>
                    </a:p>
                  </a:txBody>
                  <a:tcPr marL="54864" marR="54864" marT="18288" marB="18288">
                    <a:solidFill>
                      <a:srgbClr val="0E39A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Initial baseline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7/10 passed | 120/16 token-safe chunking run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Improvement path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120/16 chunks | MMR 0.50 | CrossEncoder | property/topic routing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Notebook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Aurora_Stays_RAG_POC_Local_120_16_token_safe_executed.ipynb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Cases loaded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10 held-out cases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Pass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7/10 (70%)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Weighted composite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0.867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Configuration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k=5 | chunk 120/16 | MMR 0.50 | fetch_k=20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Evaluation loop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Each case runs retrieve → generate; all four metrics are computed per case, then aggregated.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Recorded artifact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reports/notebook_120_16_token_safe_test_cases.csv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5" name="TextBox 304"/>
          <p:cNvSpPr txBox="1"/>
          <p:nvPr/>
        </p:nvSpPr>
        <p:spPr>
          <a:xfrm>
            <a:off x="566928" y="4443984"/>
            <a:ext cx="7955279" cy="420624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r>
              <a:t>The executed 120/16 token-safe run is the final held-out result shown in the case-level table: 7/10 passed.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Test Data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Held-out file: data/test.xlsx.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173278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unseen questions covering cancellation, discounts, room occupancy, accessibility, parking, breakfast, rate changes, checkout, pets, and incidental holds.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94944" y="24140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How many people can stay in a Double Queen room?</a:t>
            </a:r>
          </a:p>
        </p:txBody>
      </p:sp>
      <p:sp>
        <p:nvSpPr>
          <p:cNvPr id="317" name="Oval 316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94944" y="289407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Up to 4 guests, subject to fire-code and property occupancy limits; recheck the room and rate if the group size changes.</a:t>
            </a:r>
          </a:p>
        </p:txBody>
      </p:sp>
      <p:sp>
        <p:nvSpPr>
          <p:cNvPr id="319" name="Oval 318"/>
          <p:cNvSpPr/>
          <p:nvPr/>
        </p:nvSpPr>
        <p:spPr>
          <a:xfrm>
            <a:off x="402336" y="29946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694944" y="357530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held-out set is used only for final comparison and selection of the baseline.</a:t>
            </a:r>
          </a:p>
        </p:txBody>
      </p:sp>
      <p:sp>
        <p:nvSpPr>
          <p:cNvPr id="321" name="Oval 320"/>
          <p:cNvSpPr/>
          <p:nvPr/>
        </p:nvSpPr>
        <p:spPr>
          <a:xfrm>
            <a:off x="402336" y="36758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20" name="Table 319"/>
          <p:cNvGraphicFramePr>
            <a:graphicFrameLocks noGrp="1"/>
          </p:cNvGraphicFramePr>
          <p:nvPr/>
        </p:nvGraphicFramePr>
        <p:xfrm>
          <a:off x="438912" y="1207008"/>
          <a:ext cx="682142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"/>
                <a:gridCol w="2743200"/>
                <a:gridCol w="530352"/>
                <a:gridCol w="530352"/>
                <a:gridCol w="530352"/>
                <a:gridCol w="530352"/>
                <a:gridCol w="777240"/>
                <a:gridCol w="749808"/>
              </a:tblGrid>
              <a:tr h="290945">
                <a:tc>
                  <a:txBody>
                    <a:bodyPr/>
                    <a:lstStyle/>
                    <a:p>
                      <a:r>
                        <a:t>Case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Test case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Composite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Result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OTA cancellation/refund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0.977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0.901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0.771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0.978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0.917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Member discount/cancellation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0.797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0.995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0.949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Double Queen occupancy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0.950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0.998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Accessible King inclusions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0.985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0.887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0.384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0.601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0.764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Atlanta/Miami parking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0.673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0.871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0.899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Miami breakfast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0.003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0.000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0.259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0.399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Advance Purchase change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0.984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0.965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Denver late checkout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0.820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0.885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0.941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ASH-CHI pet fee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0.995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0.861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0.766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0.917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50">
                <a:tc>
                  <a:txBody>
                    <a:bodyPr tIns="22860" bIns="22860"/>
                    <a:lstStyle/>
                    <a:p>
                      <a:r>
                        <a:rPr sz="700"/>
                        <a:t>10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Card-hold difference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0.992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0.946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0.814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0.930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0.933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</a:tbl>
          </a:graphicData>
        </a:graphic>
      </p:graphicFrame>
      <p:sp>
        <p:nvSpPr>
          <p:cNvPr id="321" name="TextBox 320"/>
          <p:cNvSpPr txBox="1"/>
          <p:nvPr/>
        </p:nvSpPr>
        <p:spPr>
          <a:xfrm>
            <a:off x="502920" y="4480560"/>
            <a:ext cx="8138160" cy="21945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r>
              <a:t>Transparent 120/16 result: 7/10 passed; weighted composite .867. Failed cases are Accessible King, Atlanta/Miami parking, and Miami breakfast.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02920" y="4727448"/>
            <a:ext cx="8138160" cy="21945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 i="1">
                <a:solidFill>
                  <a:srgbClr val="505050"/>
                </a:solidFill>
                <a:latin typeface="Montserrat"/>
              </a:rPr>
              <a:t>F = Faithfulness | R = Contextual Recall | P = Contextual Precision | AR = Answer Relevancy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Serialize the Vector Database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Backend artifact: backend/faiss_index/index.faiss.</a:t>
            </a:r>
          </a:p>
        </p:txBody>
      </p:sp>
      <p:sp>
        <p:nvSpPr>
          <p:cNvPr id="329" name="Oval 32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and document store: backend/faiss_index/index.pkl.</a:t>
            </a:r>
          </a:p>
        </p:txBody>
      </p:sp>
      <p:sp>
        <p:nvSpPr>
          <p:cNvPr id="331" name="Oval 33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The persisted FAISS index contains 178 normalized vectors from the policy knowledge base.</a:t>
            </a:r>
          </a:p>
        </p:txBody>
      </p:sp>
      <p:sp>
        <p:nvSpPr>
          <p:cNvPr id="333" name="Oval 33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694944" y="257403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backend loads the trusted local artifact at startup; the Docker image copies the index into /app/faiss_index.</a:t>
            </a:r>
          </a:p>
        </p:txBody>
      </p:sp>
      <p:sp>
        <p:nvSpPr>
          <p:cNvPr id="335" name="Oval 33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325526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artifact must be rebuilt whenever source documents, chunking, or embeddings change.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ounded Rectangle 33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IMPLEMENTATION</a:t>
            </a:r>
          </a:p>
        </p:txBody>
      </p:sp>
      <p:sp>
        <p:nvSpPr>
          <p:cNvPr id="340" name="Rounded Rectangle 339"/>
          <p:cNvSpPr/>
          <p:nvPr/>
        </p:nvSpPr>
        <p:spPr>
          <a:xfrm>
            <a:off x="7114032" y="2295144"/>
            <a:ext cx="530352" cy="43891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index</a:t>
            </a:r>
          </a:p>
        </p:txBody>
      </p:sp>
      <p:sp>
        <p:nvSpPr>
          <p:cNvPr id="341" name="Chevron 340"/>
          <p:cNvSpPr/>
          <p:nvPr/>
        </p:nvSpPr>
        <p:spPr>
          <a:xfrm>
            <a:off x="7680960" y="2432304"/>
            <a:ext cx="164592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ounded Rectangle 341"/>
          <p:cNvSpPr/>
          <p:nvPr/>
        </p:nvSpPr>
        <p:spPr>
          <a:xfrm>
            <a:off x="7882128" y="2295144"/>
            <a:ext cx="530352" cy="43891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Flask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API</a:t>
            </a:r>
          </a:p>
        </p:txBody>
      </p:sp>
      <p:sp>
        <p:nvSpPr>
          <p:cNvPr id="343" name="Chevron 342"/>
          <p:cNvSpPr/>
          <p:nvPr/>
        </p:nvSpPr>
        <p:spPr>
          <a:xfrm>
            <a:off x="7680960" y="2944368"/>
            <a:ext cx="164592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ounded Rectangle 343"/>
          <p:cNvSpPr/>
          <p:nvPr/>
        </p:nvSpPr>
        <p:spPr>
          <a:xfrm>
            <a:off x="7516368" y="3218688"/>
            <a:ext cx="713232" cy="43891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Streamlit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UI</a:t>
            </a:r>
          </a:p>
        </p:txBody>
      </p:sp>
      <p:sp>
        <p:nvSpPr>
          <p:cNvPr id="345" name="Rounded Rectangle 344"/>
          <p:cNvSpPr/>
          <p:nvPr/>
        </p:nvSpPr>
        <p:spPr>
          <a:xfrm>
            <a:off x="7333488" y="3886200"/>
            <a:ext cx="896112" cy="347472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Docker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Codespaces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Flask Application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Service entry point: backend/app.py; production command uses Gunicorn and app:rag_api.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694944" y="180594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POST /v1/relevant_chunks returns the top-k retrieved policy chunks; answer endpoints return generated output with optional evidence.</a:t>
            </a:r>
          </a:p>
        </p:txBody>
      </p:sp>
      <p:sp>
        <p:nvSpPr>
          <p:cNvPr id="339" name="Oval 33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94944" y="248716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Request validation rejects missing/non-JSON bodies, blank queries, invalid k, and out-of-range generation parameters with JSON HTTP 400 responses.</a:t>
            </a:r>
          </a:p>
        </p:txBody>
      </p:sp>
      <p:sp>
        <p:nvSpPr>
          <p:cNvPr id="341" name="Oval 340"/>
          <p:cNvSpPr/>
          <p:nvPr/>
        </p:nvSpPr>
        <p:spPr>
          <a:xfrm>
            <a:off x="402336" y="2587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694944" y="316839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Unexpected inference failures are logged server-side and returned as a generic JSON HTTP 500 response; 404/405 errors also use JSON responses.</a:t>
            </a:r>
          </a:p>
        </p:txBody>
      </p:sp>
      <p:sp>
        <p:nvSpPr>
          <p:cNvPr id="343" name="Oval 342"/>
          <p:cNvSpPr/>
          <p:nvPr/>
        </p:nvSpPr>
        <p:spPr>
          <a:xfrm>
            <a:off x="402336" y="32689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38496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GET / returns a readiness message; container binding is 0.0.0.0:7860 and local smoke tests use port 5000.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39502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4329684"/>
            <a:ext cx="6729984" cy="352043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Defaults: k=5, gpt-4o-mini, temperature=0.0, top_p=1.0, max_tokens=512.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44302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Dependencies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All runtime dependencies are version-pinned in backend/requirements.txt.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Flask 3.1.3, Werkzeug 3.1.8, requests 2.34.2, Gunicorn 26.2.0, and uvicorn 0.52.3.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94944" y="228600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LangChain HuggingFace 1.2.2, Community 0.4.2, OpenAI 1.6.1, sentence-transformers 6.1.0, faiss-cpu 1.15.0, truststore 0.10.4.</a:t>
            </a:r>
          </a:p>
        </p:txBody>
      </p:sp>
      <p:sp>
        <p:nvSpPr>
          <p:cNvPr id="349" name="Oval 34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694944" y="296722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Docker pins torch 2.14.0 from the CPU-only PyTorch index before installing the requirements file.</a:t>
            </a:r>
          </a:p>
        </p:txBody>
      </p:sp>
      <p:sp>
        <p:nvSpPr>
          <p:cNvPr id="351" name="Oval 350"/>
          <p:cNvSpPr/>
          <p:nvPr/>
        </p:nvSpPr>
        <p:spPr>
          <a:xfrm>
            <a:off x="402336" y="30678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The embedding model is cached during image build so runtime can use offline mode.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Dockerfile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Base image: python:3.13.15-slim; copies the backend application, FAISS artifact, and pinned requirements into /app.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Installs pinned CPU-only torch 2.14.0 and all pinned backend dependencies without pip cache.</a:t>
            </a:r>
          </a:p>
        </p:txBody>
      </p:sp>
      <p:sp>
        <p:nvSpPr>
          <p:cNvPr id="355" name="Oval 35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Downloads the Hugging Face embedding model at build time and stores it under HF_HOME=/app/huggingface for reuse.</a:t>
            </a:r>
          </a:p>
        </p:txBody>
      </p:sp>
      <p:sp>
        <p:nvSpPr>
          <p:cNvPr id="357" name="Oval 35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The Transformers runtime, used through sentence-transformers, loads the cached embedding model; offline flags prevent runtime downloads, and EXPOSE 7860 receives Codespaces traffic.</a:t>
            </a:r>
          </a:p>
        </p:txBody>
      </p:sp>
      <p:sp>
        <p:nvSpPr>
          <p:cNvPr id="359" name="Oval 358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The backend API is exposed on port 7860 for Codespaces traffic.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Streamlit App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Frontend entry point: frontend/app.py; it provides the Aurora Stays question-and-answer interface.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Sidebar controls: k from 1 to 10, temperature from 0.0 to 1.0, and max_tokens from 64 to 2048.</a:t>
            </a:r>
          </a:p>
        </p:txBody>
      </p:sp>
      <p:sp>
        <p:nvSpPr>
          <p:cNvPr id="363" name="Oval 362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Users can select Answer only or Answer + Relevant Chunks.</a:t>
            </a:r>
          </a:p>
        </p:txBody>
      </p:sp>
      <p:sp>
        <p:nvSpPr>
          <p:cNvPr id="365" name="Oval 364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Frontend requests use BACKEND_URL; API keys stay in the backend. Codespaces uses the backend URL on port 7860; local tests may use port 5000.</a:t>
            </a:r>
          </a:p>
        </p:txBody>
      </p:sp>
      <p:sp>
        <p:nvSpPr>
          <p:cNvPr id="367" name="Oval 366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3246120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interface displays the answer, retrieved evidence, and a clear API connectivity error when the backend is unavailable.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392734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in Codespaces with Streamlit on port 8501 and the Dockerized Flask API on port 7860.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2" name="Picture 371" descr="team_collaboration_faces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346704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373" name="TextBox 372"/>
          <p:cNvSpPr txBox="1"/>
          <p:nvPr/>
        </p:nvSpPr>
        <p:spPr>
          <a:xfrm>
            <a:off x="6830568" y="4453128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6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Dockerfile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Base image: python:3.13.15-slim.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Copies the Streamlit application and installs requests 2.34.2 and streamlit 1.64.0.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Binds Streamlit to 0.0.0.0:8501 for Codespaces or container access; EXPOSE 8501 makes the service discoverable.</a:t>
            </a:r>
          </a:p>
        </p:txBody>
      </p:sp>
      <p:sp>
        <p:nvSpPr>
          <p:cNvPr id="373" name="Oval 37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Docker command: streamlit run app.py --server.port=8501 --server.address=0.0.0.0.</a:t>
            </a:r>
          </a:p>
        </p:txBody>
      </p:sp>
      <p:sp>
        <p:nvSpPr>
          <p:cNvPr id="375" name="Oval 37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305409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Clarification: 0.0.0.0:8501 is the container bind address; users open the browser-facing Codespaces/public forwarded URL, not 0.0.0.0 directly.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37353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XSRF protection is disabled in the supplied deployment command to simplify external access.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421538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image defaults BACKEND_URL to http://host.docker.internal:7860; override it with the backend Codespace URL when needed.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43159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6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Push the Files to GitHub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Repository: github.com/raovutukoor1/aurora-stay-qna-120-token-option.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Current deployment commit: d7a7e3f — fixed the 120-token Docker runtime configuration.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209397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Reproducible tree: backend/app.py, rag_utils.py, Dockerfile, backend/requirements.txt, and FAISS artifacts; frontend/app.py, Dockerfile, and its dependency manifest.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694944" y="2775204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Evaluation artifacts: executed 120/16 notebook and reports/notebook_120_16_token_safe_test_cases.csv; presentation source and generated PPTX/PDF are retained.</a:t>
            </a:r>
          </a:p>
        </p:txBody>
      </p:sp>
      <p:sp>
        <p:nvSpPr>
          <p:cNvPr id="383" name="Oval 382"/>
          <p:cNvSpPr/>
          <p:nvPr/>
        </p:nvSpPr>
        <p:spPr>
          <a:xfrm>
            <a:off x="402336" y="28757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3456432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Runtime configuration: OPENAI_API_KEY and OPENAI_BASE_URL come from Codespaces Secrets or a private local config; credentials are not tracked.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355701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4137660"/>
            <a:ext cx="6080760" cy="544067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A fresh deployment can therefore rebuild the index-backed backend and Streamlit frontend without missing code, artifacts, or configuration guidance.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42382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ounded Rectangle 387"/>
          <p:cNvSpPr/>
          <p:nvPr/>
        </p:nvSpPr>
        <p:spPr>
          <a:xfrm>
            <a:off x="6903720" y="1783080"/>
            <a:ext cx="1700784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6976872" y="1856231"/>
            <a:ext cx="1554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DEPLOYMENT FLOW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7242048" y="2203704"/>
            <a:ext cx="1024128" cy="39319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repository</a:t>
            </a:r>
          </a:p>
        </p:txBody>
      </p:sp>
      <p:sp>
        <p:nvSpPr>
          <p:cNvPr id="391" name="Chevron 390"/>
          <p:cNvSpPr/>
          <p:nvPr/>
        </p:nvSpPr>
        <p:spPr>
          <a:xfrm>
            <a:off x="7671816" y="2660904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ounded Rectangle 391"/>
          <p:cNvSpPr/>
          <p:nvPr/>
        </p:nvSpPr>
        <p:spPr>
          <a:xfrm>
            <a:off x="7242048" y="2834639"/>
            <a:ext cx="1024128" cy="39319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Codespace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container</a:t>
            </a:r>
          </a:p>
        </p:txBody>
      </p:sp>
      <p:sp>
        <p:nvSpPr>
          <p:cNvPr id="393" name="Chevron 392"/>
          <p:cNvSpPr/>
          <p:nvPr/>
        </p:nvSpPr>
        <p:spPr>
          <a:xfrm>
            <a:off x="7671816" y="3291839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ounded Rectangle 393"/>
          <p:cNvSpPr/>
          <p:nvPr/>
        </p:nvSpPr>
        <p:spPr>
          <a:xfrm>
            <a:off x="7242048" y="3465576"/>
            <a:ext cx="1024128" cy="39319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Streamlit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UI</a:t>
            </a:r>
          </a:p>
        </p:txBody>
      </p:sp>
      <p:sp>
        <p:nvSpPr>
          <p:cNvPr id="395" name="Chevron 394"/>
          <p:cNvSpPr/>
          <p:nvPr/>
        </p:nvSpPr>
        <p:spPr>
          <a:xfrm>
            <a:off x="7671816" y="3922776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ounded Rectangle 395"/>
          <p:cNvSpPr/>
          <p:nvPr/>
        </p:nvSpPr>
        <p:spPr>
          <a:xfrm>
            <a:off x="7242048" y="4059936"/>
            <a:ext cx="1024128" cy="292608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b="1">
                <a:solidFill>
                  <a:srgbClr val="000000"/>
                </a:solidFill>
                <a:latin typeface="Montserrat"/>
              </a:rPr>
              <a:t>Forwarded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b="1">
                <a:solidFill>
                  <a:srgbClr val="000000"/>
                </a:solidFill>
                <a:latin typeface="Montserrat"/>
              </a:rPr>
              <a:t>port 8501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Define the Forwarded URL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 GitHub Codespaces, open the Ports panel and forward the Streamlit port 8501.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public URL is generated per Codespace session; it is not hard-coded in the repository.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Set BACKEND_URL to the backend service URL or its forwarded port before starting Streamlit.</a:t>
            </a:r>
          </a:p>
        </p:txBody>
      </p:sp>
      <p:sp>
        <p:nvSpPr>
          <p:cNvPr id="389" name="Oval 38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public endpoints: frontend port 8501 and backend port 7860; both returned HTTP 200.</a:t>
            </a:r>
          </a:p>
        </p:txBody>
      </p:sp>
      <p:sp>
        <p:nvSpPr>
          <p:cNvPr id="391" name="Oval 39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Production smoke tests used the parking-fee query and the ASH-CHI Loop pet-charge query.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37261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keys belong in Codespaces Secrets or a private local config file, never in the forwarded URL or source code.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6" name="Picture 395" descr="deployment_professional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291840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397" name="TextBox 396"/>
          <p:cNvSpPr txBox="1"/>
          <p:nvPr/>
        </p:nvSpPr>
        <p:spPr>
          <a:xfrm>
            <a:off x="6830568" y="4398264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Relevant Chunks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Endpoint: POST {BACKEND_URL}/v1/relevant_chunks.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Payload: {"query": "What are the parking fees at the Atlanta and Miami hotels?", "k": 5}.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694944" y="209397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fields: query, k, and relevant_chunks.</a:t>
            </a:r>
          </a:p>
        </p:txBody>
      </p:sp>
      <p:sp>
        <p:nvSpPr>
          <p:cNvPr id="397" name="Oval 396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694944" y="238201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excerpt: relevant_chunks include ASH-ATL Midtown self parking at $28 per night and ASH-MIA Brickell valet at $55 per night.</a:t>
            </a:r>
          </a:p>
        </p:txBody>
      </p:sp>
      <p:sp>
        <p:nvSpPr>
          <p:cNvPr id="399" name="Oval 398"/>
          <p:cNvSpPr/>
          <p:nvPr/>
        </p:nvSpPr>
        <p:spPr>
          <a:xfrm>
            <a:off x="402336" y="2482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30632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This endpoint is useful for checking retrieval quality before evaluating the generated answer.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31638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Answer with Relevant Chunks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132588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Endpoint: POST {BACKEND_URL}/v1/answer_with_relevant_chunks; payload includes query, k=5, temperature=0.0, and max_tokens=512.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694944" y="20071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Response includes the answer, model name, parameters, and supporting evidence chunks.</a:t>
            </a:r>
          </a:p>
        </p:txBody>
      </p:sp>
      <p:sp>
        <p:nvSpPr>
          <p:cNvPr id="403" name="Oval 402"/>
          <p:cNvSpPr/>
          <p:nvPr/>
        </p:nvSpPr>
        <p:spPr>
          <a:xfrm>
            <a:off x="402336" y="21076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694944" y="248716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Live Codespaces smoke tests: frontend HTTP 200, backend readiness HTTP 200, answer HTTP 200, and answer-with-evidence HTTP 200 with 3 evidence chunks.</a:t>
            </a:r>
          </a:p>
        </p:txBody>
      </p:sp>
      <p:sp>
        <p:nvSpPr>
          <p:cNvPr id="405" name="Oval 404"/>
          <p:cNvSpPr/>
          <p:nvPr/>
        </p:nvSpPr>
        <p:spPr>
          <a:xfrm>
            <a:off x="402336" y="2587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694944" y="296722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Parking: Atlanta self-parking $28/night and Miami valet $55/night; evidence returned.</a:t>
            </a:r>
          </a:p>
        </p:txBody>
      </p:sp>
      <p:sp>
        <p:nvSpPr>
          <p:cNvPr id="407" name="Oval 406"/>
          <p:cNvSpPr/>
          <p:nvPr/>
        </p:nvSpPr>
        <p:spPr>
          <a:xfrm>
            <a:off x="402336" y="30678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ASH-CHI pet charge: $50/night with a $150 stay cap; flexible cancellation: 6:00 PM local-property-time deadline.</a:t>
            </a:r>
          </a:p>
        </p:txBody>
      </p:sp>
      <p:sp>
        <p:nvSpPr>
          <p:cNvPr id="409" name="Oval 408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694944" y="392734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Online/offline consistency check: these policy values and evidence selections matched the corresponding offline evaluation checks; no endpoint-specific answer drift was observed.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Deployment - Live Streamlit Webpage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urora_streamlit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448"/>
            <a:ext cx="5074920" cy="3877056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02920" y="5230368"/>
            <a:ext cx="5074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Full-page capture from the public Codespaces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389888"/>
            <a:ext cx="2788920" cy="3611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E39A9"/>
                </a:solidFill>
                <a:latin typeface="Montserrat"/>
              </a:rPr>
              <a:t>Public frontend URL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https://turbo-zebra-4qqj6wr7pv573xpr-8501.app.github.dev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Backend API URL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E39A9"/>
                </a:solidFill>
                <a:latin typeface="Montserrat"/>
              </a:rPr>
              <a:t>https://turbo-zebra-4qqj6wr7pv573xpr-7860.app.github.dev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Status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Frontend loaded with HTTP 200.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000000"/>
                </a:solidFill>
                <a:latin typeface="Montserrat"/>
              </a:rPr>
              <a:t>Backend readiness returned HTTP 200.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Captured: 20 October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Deployment - Live Smoke-Test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25880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Validated public Codespaces deployment — 20 October 2026.</a:t>
            </a:r>
          </a:p>
        </p:txBody>
      </p:sp>
      <p:sp>
        <p:nvSpPr>
          <p:cNvPr id="7" name="Oval 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73352"/>
            <a:ext cx="4160520" cy="43891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Frontend + backend: HTTP 200; Streamlit UI and readiness response returned.</a:t>
            </a:r>
          </a:p>
        </p:txBody>
      </p:sp>
      <p:sp>
        <p:nvSpPr>
          <p:cNvPr id="9" name="Oval 8"/>
          <p:cNvSpPr/>
          <p:nvPr/>
        </p:nvSpPr>
        <p:spPr>
          <a:xfrm>
            <a:off x="402336" y="17739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148840"/>
            <a:ext cx="4160520" cy="43891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Answer only: HTTP 200; grounded parking answer; chunks omitted by design.</a:t>
            </a:r>
          </a:p>
        </p:txBody>
      </p:sp>
      <p:sp>
        <p:nvSpPr>
          <p:cNvPr id="11" name="Oval 10"/>
          <p:cNvSpPr/>
          <p:nvPr/>
        </p:nvSpPr>
        <p:spPr>
          <a:xfrm>
            <a:off x="402336" y="22494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624328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Answer + chunks: HTTP 200; same answer plus 3 evidence chunks.</a:t>
            </a:r>
          </a:p>
        </p:txBody>
      </p:sp>
      <p:sp>
        <p:nvSpPr>
          <p:cNvPr id="13" name="Oval 12"/>
          <p:cNvSpPr/>
          <p:nvPr/>
        </p:nvSpPr>
        <p:spPr>
          <a:xfrm>
            <a:off x="402336" y="27249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971800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Parking: Atlanta $28/night self-parking; Miami $55/night valet.</a:t>
            </a:r>
          </a:p>
        </p:txBody>
      </p:sp>
      <p:sp>
        <p:nvSpPr>
          <p:cNvPr id="15" name="Oval 14"/>
          <p:cNvSpPr/>
          <p:nvPr/>
        </p:nvSpPr>
        <p:spPr>
          <a:xfrm>
            <a:off x="402336" y="30723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319272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ASH-CHI pet: $50/night; $150/stay cap; 3 evidence chunks.</a:t>
            </a:r>
          </a:p>
        </p:txBody>
      </p:sp>
      <p:sp>
        <p:nvSpPr>
          <p:cNvPr id="17" name="Oval 16"/>
          <p:cNvSpPr/>
          <p:nvPr/>
        </p:nvSpPr>
        <p:spPr>
          <a:xfrm>
            <a:off x="402336" y="341985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666744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Flexible cancellation: 6:00 PM deadline; 5 evidence chunks.</a:t>
            </a:r>
          </a:p>
        </p:txBody>
      </p:sp>
      <p:sp>
        <p:nvSpPr>
          <p:cNvPr id="19" name="Oval 18"/>
          <p:cNvSpPr/>
          <p:nvPr/>
        </p:nvSpPr>
        <p:spPr>
          <a:xfrm>
            <a:off x="402336" y="37673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1088136"/>
            <a:ext cx="35204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E39A9"/>
                </a:solidFill>
                <a:latin typeface="Montserrat"/>
              </a:rPr>
              <a:t>Answer only — supplied smoke-test capture</a:t>
            </a:r>
          </a:p>
        </p:txBody>
      </p:sp>
      <p:pic>
        <p:nvPicPr>
          <p:cNvPr id="21" name="Picture 20" descr="smoke_test_answer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261872"/>
            <a:ext cx="3520440" cy="1901952"/>
          </a:xfrm>
          <a:prstGeom prst="rect">
            <a:avLst/>
          </a:prstGeom>
          <a:ln w="10160">
            <a:solidFill>
              <a:srgbClr val="BECBE8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5074920" y="3081528"/>
            <a:ext cx="35204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E39A9"/>
                </a:solidFill>
                <a:latin typeface="Montserrat"/>
              </a:rPr>
              <a:t>Answer + Relevant Chunks — supplied smoke-test capture</a:t>
            </a:r>
          </a:p>
        </p:txBody>
      </p:sp>
      <p:pic>
        <p:nvPicPr>
          <p:cNvPr id="23" name="Picture 22" descr="smoke_test_answer_plus_chun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255264"/>
            <a:ext cx="3520440" cy="1901952"/>
          </a:xfrm>
          <a:prstGeom prst="rect">
            <a:avLst/>
          </a:prstGeom>
          <a:ln w="10160">
            <a:solidFill>
              <a:srgbClr val="BECBE8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Insights from Analysis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594360" y="1170432"/>
            <a:ext cx="79552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What the analysis means for the business</a:t>
            </a:r>
          </a:p>
        </p:txBody>
      </p:sp>
      <p:sp>
        <p:nvSpPr>
          <p:cNvPr id="415" name="Rounded Rectangle 414"/>
          <p:cNvSpPr/>
          <p:nvPr/>
        </p:nvSpPr>
        <p:spPr>
          <a:xfrm>
            <a:off x="594360" y="1627632"/>
            <a:ext cx="7360920" cy="932688"/>
          </a:xfrm>
          <a:prstGeom prst="roundRect">
            <a:avLst/>
          </a:prstGeom>
          <a:solidFill>
            <a:srgbClr val="E8EFFF"/>
          </a:solidFill>
          <a:ln w="1397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r>
              <a:rPr sz="1120" b="1">
                <a:solidFill>
                  <a:srgbClr val="0E39A9"/>
                </a:solidFill>
                <a:latin typeface="Montserrat"/>
              </a:rPr>
              <a:t>PERFORMANCE SIGNAL</a:t>
            </a:r>
          </a:p>
          <a:p>
            <a:r>
              <a:rPr sz="1050" b="0">
                <a:solidFill>
                  <a:srgbClr val="1F2937"/>
                </a:solidFill>
                <a:latin typeface="Montserrat"/>
              </a:rPr>
              <a:t>7/10 held-out cases passed with a weighted composite of .867 using 120/16 token-safe chunking. This is a quality signal for fewer manual policy lookups; HTTP 200 smoke tests support service readiness.</a:t>
            </a:r>
          </a:p>
        </p:txBody>
      </p:sp>
      <p:sp>
        <p:nvSpPr>
          <p:cNvPr id="416" name="Rounded Rectangle 415"/>
          <p:cNvSpPr/>
          <p:nvPr/>
        </p:nvSpPr>
        <p:spPr>
          <a:xfrm>
            <a:off x="594360" y="2770632"/>
            <a:ext cx="7360920" cy="932688"/>
          </a:xfrm>
          <a:prstGeom prst="roundRect">
            <a:avLst/>
          </a:prstGeom>
          <a:solidFill>
            <a:srgbClr val="FFF5E0"/>
          </a:solidFill>
          <a:ln w="13970">
            <a:solidFill>
              <a:srgbClr val="B97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r>
              <a:rPr sz="1120" b="1">
                <a:solidFill>
                  <a:srgbClr val="B97D18"/>
                </a:solidFill>
                <a:latin typeface="Montserrat"/>
              </a:rPr>
              <a:t>RISK TO MANAGE</a:t>
            </a:r>
          </a:p>
          <a:p>
            <a:r>
              <a:rPr sz="1050" b="0">
                <a:solidFill>
                  <a:srgbClr val="1F2937"/>
                </a:solidFill>
                <a:latin typeface="Montserrat"/>
              </a:rPr>
              <a:t>Three cases failed: Accessible King (precision=.384), Atlanta/Miami parking (precision=.673), and Miami breakfast (recall=.003; precision=0.000).</a:t>
            </a:r>
          </a:p>
        </p:txBody>
      </p:sp>
      <p:sp>
        <p:nvSpPr>
          <p:cNvPr id="417" name="Rounded Rectangle 416"/>
          <p:cNvSpPr/>
          <p:nvPr/>
        </p:nvSpPr>
        <p:spPr>
          <a:xfrm>
            <a:off x="594360" y="3913632"/>
            <a:ext cx="7360920" cy="932688"/>
          </a:xfrm>
          <a:prstGeom prst="roundRect">
            <a:avLst/>
          </a:prstGeom>
          <a:solidFill>
            <a:srgbClr val="ECF8F0"/>
          </a:solidFill>
          <a:ln w="1397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20" b="1">
                <a:solidFill>
                  <a:srgbClr val="1F7752"/>
                </a:solidFill>
                <a:latin typeface="Montserrat"/>
              </a:rPr>
              <a:t>BUSINESS IMPLICATION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Montserrat"/>
              </a:rPr>
              <a:t>Pilot success should be measured through handling time, first-contact resolution, escalation rate, evidence clicks, latency, and availability. Evidence display plus assisted review protects quality while adoption grows.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Actionable 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79552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Logical next steps for a controlled business 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27632"/>
            <a:ext cx="3429000" cy="987552"/>
          </a:xfrm>
          <a:prstGeom prst="roundRect">
            <a:avLst/>
          </a:prstGeom>
          <a:solidFill>
            <a:srgbClr val="E8EFFF"/>
          </a:solidFill>
          <a:ln w="1397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0664" y="1792224"/>
            <a:ext cx="393192" cy="393192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177393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PILOT THE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066543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Use k=5 with evidence display enabled for support staff.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627632"/>
            <a:ext cx="3429000" cy="987552"/>
          </a:xfrm>
          <a:prstGeom prst="roundRect">
            <a:avLst/>
          </a:prstGeom>
          <a:solidFill>
            <a:srgbClr val="E6F7F6"/>
          </a:solidFill>
          <a:ln w="1397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72584" y="1792224"/>
            <a:ext cx="393192" cy="393192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4648" y="177393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09CA6"/>
                </a:solidFill>
                <a:latin typeface="Montserrat"/>
              </a:rPr>
              <a:t>MONITOR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4648" y="2066543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Track pass rate, precision, latency, escalation rate, and evidence clicks.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907792"/>
            <a:ext cx="3429000" cy="987552"/>
          </a:xfrm>
          <a:prstGeom prst="roundRect">
            <a:avLst/>
          </a:prstGeom>
          <a:solidFill>
            <a:srgbClr val="FFF5E0"/>
          </a:solidFill>
          <a:ln w="13970">
            <a:solidFill>
              <a:srgbClr val="B97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40664" y="3072384"/>
            <a:ext cx="393192" cy="393192"/>
          </a:xfrm>
          <a:prstGeom prst="ellipse">
            <a:avLst/>
          </a:prstGeom>
          <a:solidFill>
            <a:srgbClr val="B97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305409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B97D18"/>
                </a:solidFill>
                <a:latin typeface="Montserrat"/>
              </a:rPr>
              <a:t>ESCALATE AMBIGUITY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3346704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Route low-confidence or underspecified questions to assisted review.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2907792"/>
            <a:ext cx="3429000" cy="987552"/>
          </a:xfrm>
          <a:prstGeom prst="roundRect">
            <a:avLst/>
          </a:prstGeom>
          <a:solidFill>
            <a:srgbClr val="ECF8F0"/>
          </a:solidFill>
          <a:ln w="1397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672584" y="3072384"/>
            <a:ext cx="393192" cy="393192"/>
          </a:xfrm>
          <a:prstGeom prst="ellipse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305409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F7752"/>
                </a:solidFill>
                <a:latin typeface="Montserrat"/>
              </a:rPr>
              <a:t>REVIEW BEFORE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3346704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Investigate the Accessible King failure during the pilot before wider release.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315968"/>
            <a:ext cx="7360920" cy="566928"/>
          </a:xfrm>
          <a:prstGeom prst="roundRect">
            <a:avLst/>
          </a:prstGeom>
          <a:solidFill>
            <a:srgbClr val="F2F6FF"/>
          </a:solidFill>
          <a:ln w="1524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39A9"/>
                </a:solidFill>
                <a:latin typeface="Montserrat"/>
              </a:rPr>
              <a:t>DECISION: proceed with a controlled pilot; review the known Accessible King failure before wider release.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1664208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E39A9"/>
                </a:solidFill>
                <a:latin typeface="Montserrat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578608"/>
            <a:ext cx="7498079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Montserrat"/>
              </a:rPr>
              <a:t>Evaluation transparency, development workflow,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Montserrat"/>
              </a:rPr>
              <a:t>deployment workflow, and operating measures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3632"/>
            <a:ext cx="7040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D2DCEB"/>
                </a:solidFill>
                <a:latin typeface="Montserrat"/>
              </a:rPr>
              <a:t>Reference section for implementation, auditability, and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3456432"/>
            <a:ext cx="1417320" cy="64008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65"/>
          <p:cNvSpPr txBox="1"/>
          <p:nvPr/>
        </p:nvSpPr>
        <p:spPr>
          <a:xfrm>
            <a:off x="32525" y="292608"/>
            <a:ext cx="4418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Evidence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Production checklist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Create config/config.json locally or set Codespaces Secrets for OPENAI_API_KEY and OPENAI_BASE_URL.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Start the backend first, confirm the readiness response, then start Streamlit on port 8501.</a:t>
            </a:r>
          </a:p>
        </p:txBody>
      </p:sp>
      <p:sp>
        <p:nvSpPr>
          <p:cNvPr id="413" name="Oval 41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Run a property-specific query and an evidence-display query before wider use.</a:t>
            </a:r>
          </a:p>
        </p:txBody>
      </p:sp>
      <p:sp>
        <p:nvSpPr>
          <p:cNvPr id="415" name="Oval 41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Known limitation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694944" y="334213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The Accessible King case has Contextual Precision=.384 because the benchmark question is underspecified for the auto-answer strategy.</a:t>
            </a:r>
          </a:p>
        </p:txBody>
      </p:sp>
      <p:sp>
        <p:nvSpPr>
          <p:cNvPr id="418" name="Oval 41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694944" y="402336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000000"/>
                </a:solidFill>
                <a:latin typeface="Montserrat"/>
              </a:rPr>
              <a:t>The focused clarification experiment reached Precision=.961; the benchmark question and retrieval baseline remain unchanged.</a:t>
            </a:r>
          </a:p>
          <a:p>
            <a:r>
              <a:rPr sz="1050" b="1">
                <a:solidFill>
                  <a:srgbClr val="0E39A9"/>
                </a:solidFill>
                <a:latin typeface="Montserrat"/>
              </a:rPr>
              <a:t>See Appendix slide 40: Failed Case Analysis.</a:t>
            </a:r>
          </a:p>
        </p:txBody>
      </p:sp>
      <p:sp>
        <p:nvSpPr>
          <p:cNvPr id="420" name="Oval 419"/>
          <p:cNvSpPr/>
          <p:nvPr/>
        </p:nvSpPr>
        <p:spPr>
          <a:xfrm>
            <a:off x="402336" y="41239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ounded Rectangle 420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Development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7909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Reproducible path from source policy documents to evaluated RAG artifacts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6" name="Chevron 5"/>
          <p:cNvSpPr/>
          <p:nvPr/>
        </p:nvSpPr>
        <p:spPr>
          <a:xfrm>
            <a:off x="1161288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44752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8" name="Chevron 7"/>
          <p:cNvSpPr/>
          <p:nvPr/>
        </p:nvSpPr>
        <p:spPr>
          <a:xfrm>
            <a:off x="194767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31136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10" name="Chevron 9"/>
          <p:cNvSpPr/>
          <p:nvPr/>
        </p:nvSpPr>
        <p:spPr>
          <a:xfrm>
            <a:off x="2734056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12" name="Chevron 11"/>
          <p:cNvSpPr/>
          <p:nvPr/>
        </p:nvSpPr>
        <p:spPr>
          <a:xfrm>
            <a:off x="3520439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03904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14" name="Chevron 13"/>
          <p:cNvSpPr/>
          <p:nvPr/>
        </p:nvSpPr>
        <p:spPr>
          <a:xfrm>
            <a:off x="4306824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0288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16" name="Chevron 15"/>
          <p:cNvSpPr/>
          <p:nvPr/>
        </p:nvSpPr>
        <p:spPr>
          <a:xfrm>
            <a:off x="5093207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76672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07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959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63055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08</a:t>
            </a:r>
          </a:p>
        </p:txBody>
      </p:sp>
      <p:sp>
        <p:nvSpPr>
          <p:cNvPr id="20" name="Chevron 19"/>
          <p:cNvSpPr/>
          <p:nvPr/>
        </p:nvSpPr>
        <p:spPr>
          <a:xfrm>
            <a:off x="6665975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0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09</a:t>
            </a:r>
          </a:p>
        </p:txBody>
      </p:sp>
      <p:sp>
        <p:nvSpPr>
          <p:cNvPr id="22" name="Chevron 21"/>
          <p:cNvSpPr/>
          <p:nvPr/>
        </p:nvSpPr>
        <p:spPr>
          <a:xfrm>
            <a:off x="7452360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35824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144475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154533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Source ingestion — load four policy PDFs with Docling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08483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218541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Structure — normalize Markdown; preserve headings and tables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72491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8368" y="282549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t>Chunk + enrich — 120/16 token chunks, atomic rows, metadata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364991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465575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Embed + index — domain embeddings stored in FAISS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00507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8368" y="410565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Retrieve — MMR, topic/property routing, CrossEncoder reranking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144475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09159" y="154533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Generate — GPT-4o-mini answers from retrieved evidence only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208483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709159" y="218541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84648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Evaluate — DeepEval scores faithfulness, recall, precision, relevancy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272491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09159" y="282549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84648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Tune + repair — diagnostics drive focused retrieval improvements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3364991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709159" y="3465575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84648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Package — persist index, notebook outputs, CSV reports, prompts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17720" y="400507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09159" y="410565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84648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Version — commit code, artifacts, configuration guidance, and deck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754880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Aurora Stays RAG | Appendix workflow | source → evidence → grounded answer → monitored service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Deployment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7909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Runtime path from container startup to monitored, evidence-backed responses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6" name="Chevron 5"/>
          <p:cNvSpPr/>
          <p:nvPr/>
        </p:nvSpPr>
        <p:spPr>
          <a:xfrm>
            <a:off x="1161288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44752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8" name="Chevron 7"/>
          <p:cNvSpPr/>
          <p:nvPr/>
        </p:nvSpPr>
        <p:spPr>
          <a:xfrm>
            <a:off x="194767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31136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10" name="Chevron 9"/>
          <p:cNvSpPr/>
          <p:nvPr/>
        </p:nvSpPr>
        <p:spPr>
          <a:xfrm>
            <a:off x="2734056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12" name="Chevron 11"/>
          <p:cNvSpPr/>
          <p:nvPr/>
        </p:nvSpPr>
        <p:spPr>
          <a:xfrm>
            <a:off x="3520439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03904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14" name="Chevron 13"/>
          <p:cNvSpPr/>
          <p:nvPr/>
        </p:nvSpPr>
        <p:spPr>
          <a:xfrm>
            <a:off x="4306824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0288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16" name="Chevron 15"/>
          <p:cNvSpPr/>
          <p:nvPr/>
        </p:nvSpPr>
        <p:spPr>
          <a:xfrm>
            <a:off x="5093207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76672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07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959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63055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08</a:t>
            </a:r>
          </a:p>
        </p:txBody>
      </p:sp>
      <p:sp>
        <p:nvSpPr>
          <p:cNvPr id="20" name="Chevron 19"/>
          <p:cNvSpPr/>
          <p:nvPr/>
        </p:nvSpPr>
        <p:spPr>
          <a:xfrm>
            <a:off x="6665975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0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09</a:t>
            </a:r>
          </a:p>
        </p:txBody>
      </p:sp>
      <p:sp>
        <p:nvSpPr>
          <p:cNvPr id="22" name="Chevron 21"/>
          <p:cNvSpPr/>
          <p:nvPr/>
        </p:nvSpPr>
        <p:spPr>
          <a:xfrm>
            <a:off x="7452360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35824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144475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154533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Backend load — Flask loads FAISS, metadata, and cached embedding model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08483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218541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API surface — answer, answer-with-chunks, and relevant-chunks endpoints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72491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8368" y="282549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Backend container — Gunicorn on 0.0.0.0:7860; readiness endpoint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364991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465575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Frontend app — Streamlit sends query, k, temperature, and token limits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00507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8368" y="410565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Frontend container — Streamlit binds to 0.0.0.0:8501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144475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09159" y="154533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Configuration — secrets provide API key, base URL, and BACKEND_URL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208483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709159" y="218541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84648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Network — ports are forwarded; users open the public/browser URL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272491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09159" y="282549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84648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Smoke test — validate HTTP 200, answers, evidence, and policy values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3364991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709159" y="3465575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84648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Monitor — track pass rate, precision, latency, escalation, evidence clicks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17720" y="400507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09159" y="410565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84648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Handoff — retain logs/artifacts and the operational runbook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754880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Aurora Stays RAG | Appendix workflow | source → evidence → grounded answer → monitored service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Rubric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7818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Project Evaluation Rubric areas → implementation evidence → verified artifact or outcome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75488" y="1417320"/>
          <a:ext cx="8193024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448"/>
                <a:gridCol w="621792"/>
                <a:gridCol w="3035808"/>
                <a:gridCol w="3236976"/>
              </a:tblGrid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Rubric area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Slide(s)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Implementation evidence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Artifact / outcome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Data understanding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5–6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Four policy PDFs converted to structured Markdown; headings and tables preserved.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Markdown/table evidence slide; source files retained.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Retrieval Augmented Generation System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7–14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latin typeface="Montserrat"/>
                        </a:rPr>
                        <a:t>Token-safe 120/16 chunks, metadata, FAISS, MMR, routing, reranking, and grounded generation.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Backend retrieval module, indexed artifacts, and evidence-backed responses.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Evaluation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15–20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Four DeepEval gates with explicit thresholds; initial 7/10 baseline retained for comparison.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latin typeface="Montserrat"/>
                        </a:rPr>
                        <a:t>Final selected run: 7/10 passed; composite .867.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Backend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21–24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Flask API, FAISS/model loading, pinned dependencies, Docker, and Gunicorn readiness service.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HTTP 200 readiness and answer/evidence endpoints.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Frontend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25–26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Streamlit UI, parameter controls, answer/evidence display, and frontend container binding.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Browser-facing application on the forwarded Streamlit port.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Inference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28–32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Forwarded URL configuration, relevant-chunks and answer-with-chunks requests, and smoke tests.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HTTP 200 inference checks with policy values and evidence returned.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Actionable Insights and Recommendations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33–34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Business implications, pilot controls, monitoring measures, and next-step recommendations.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Controlled-pilot recommendation with quality and operating measures.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901184"/>
            <a:ext cx="795527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182880"/>
            <a:ext cx="62179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100" b="1">
                <a:solidFill>
                  <a:srgbClr val="0E39A9"/>
                </a:solidFill>
                <a:latin typeface="Aptos"/>
              </a:rPr>
              <a:t>Failed Case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40080"/>
            <a:ext cx="822960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566275"/>
                </a:solidFill>
                <a:latin typeface="Aptos"/>
              </a:rPr>
              <a:t>120/16 token-safe held-out run | 7/10 passed | failures are retrieval-focused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4 · Accessible 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P .384 | AR .601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Ambiguous property/feature leads to broad room and accessibility context.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Clarify the property/feature and route to the exact room row.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36976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46704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5 · Parking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6704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P .673 | R .961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Two-property request mixes parking rows with unrelated chunks.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Map both entities and retrieve only the Atlanta/Miami parking rows.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6 · Breakfast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R .003 | P 0.000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“Miami Brickell” is not normalized to ASH-MIA; the row is split.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Add alias mapping and preserve complete property rows.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4608576"/>
            <a:ext cx="8503920" cy="274320"/>
          </a:xfrm>
          <a:prstGeom prst="roundRect">
            <a:avLst/>
          </a:prstGeom>
          <a:solidFill>
            <a:srgbClr val="EEF3FF"/>
          </a:solidFill>
          <a:ln>
            <a:solidFill>
              <a:srgbClr val="BEC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4654296"/>
            <a:ext cx="82753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50" b="1">
                <a:solidFill>
                  <a:srgbClr val="0E39A9"/>
                </a:solidFill>
                <a:latin typeface="Aptos"/>
              </a:rPr>
              <a:t>Generation tuning: keep temperature=0.0 and top_p=1.0; tuning cannot repair missing retrieval evidence.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4892040"/>
            <a:ext cx="2743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50" b="0">
                <a:solidFill>
                  <a:srgbClr val="566275"/>
                </a:solidFill>
                <a:latin typeface="Aptos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222222"/>
      </a:dk1>
      <a:lt1>
        <a:srgbClr val="FFFFFF"/>
      </a:lt1>
      <a:dk2>
        <a:srgbClr val="222222"/>
      </a:dk2>
      <a:lt2>
        <a:srgbClr val="0E39A9"/>
      </a:lt2>
      <a:accent1>
        <a:srgbClr val="FFAB40"/>
      </a:accent1>
      <a:accent2>
        <a:srgbClr val="6F4294"/>
      </a:accent2>
      <a:accent3>
        <a:srgbClr val="FFA000"/>
      </a:accent3>
      <a:accent4>
        <a:srgbClr val="FFAB40"/>
      </a:accent4>
      <a:accent5>
        <a:srgbClr val="FFDF00"/>
      </a:accent5>
      <a:accent6>
        <a:srgbClr val="1974D5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